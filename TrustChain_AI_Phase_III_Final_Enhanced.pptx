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29"/>
  </p:notesMasterIdLst>
  <p:sldIdLst>
    <p:sldId id="256" r:id="rId2"/>
    <p:sldId id="257" r:id="rId3"/>
    <p:sldId id="291" r:id="rId4"/>
    <p:sldId id="258" r:id="rId5"/>
    <p:sldId id="272" r:id="rId6"/>
    <p:sldId id="263" r:id="rId7"/>
    <p:sldId id="264" r:id="rId8"/>
    <p:sldId id="274" r:id="rId9"/>
    <p:sldId id="290" r:id="rId10"/>
    <p:sldId id="273" r:id="rId11"/>
    <p:sldId id="292" r:id="rId12"/>
    <p:sldId id="281" r:id="rId13"/>
    <p:sldId id="279" r:id="rId14"/>
    <p:sldId id="282" r:id="rId15"/>
    <p:sldId id="284" r:id="rId16"/>
    <p:sldId id="288" r:id="rId17"/>
    <p:sldId id="294" r:id="rId18"/>
    <p:sldId id="295" r:id="rId19"/>
    <p:sldId id="296" r:id="rId20"/>
    <p:sldId id="297" r:id="rId21"/>
    <p:sldId id="300" r:id="rId34"/>
    <p:sldId id="301" r:id="rId35"/>
    <p:sldId id="298" r:id="rId22"/>
    <p:sldId id="275" r:id="rId23"/>
    <p:sldId id="266" r:id="rId24"/>
    <p:sldId id="267" r:id="rId25"/>
    <p:sldId id="302" r:id="rId36"/>
    <p:sldId id="303" r:id="rId37"/>
    <p:sldId id="304" r:id="rId38"/>
    <p:sldId id="268" r:id="rId27"/>
    <p:sldId id="299" r:id="rId28"/>
  </p:sldIdLst>
  <p:sldSz cx="9144000" cy="6858000" type="screen4x3"/>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72" autoAdjust="0"/>
    <p:restoredTop sz="94660"/>
  </p:normalViewPr>
  <p:slideViewPr>
    <p:cSldViewPr>
      <p:cViewPr varScale="1">
        <p:scale>
          <a:sx n="78" d="100"/>
          <a:sy n="78" d="100"/>
        </p:scale>
        <p:origin x="576"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2B7CD8C2-ED11-4C5D-BFB1-2B23E3BBFC8B}" type="datetimeFigureOut">
              <a:rPr lang="en-IN" smtClean="0"/>
              <a:pPr/>
              <a:t>30-10-2026</a:t>
            </a:fld>
            <a:endParaRPr lang="en-IN"/>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7237F36-709B-4BED-A067-C7DB16BA189A}" type="slidenum">
              <a:rPr lang="en-IN" smtClean="0"/>
              <a:pPr/>
              <a:t>‹#›</a:t>
            </a:fld>
            <a:endParaRPr lang="en-IN"/>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7237F36-709B-4BED-A067-C7DB16BA189A}" type="slidenum">
              <a:rPr lang="en-IN" smtClean="0"/>
              <a:pPr/>
              <a:t>5</a:t>
            </a:fld>
            <a:endParaRPr lang="en-IN"/>
          </a:p>
        </p:txBody>
      </p:sp>
    </p:spTree>
    <p:extLst>
      <p:ext uri="{BB962C8B-B14F-4D97-AF65-F5344CB8AC3E}">
        <p14:creationId xmlns:p14="http://schemas.microsoft.com/office/powerpoint/2010/main" val="8898314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7237F36-709B-4BED-A067-C7DB16BA189A}" type="slidenum">
              <a:rPr lang="en-IN" smtClean="0"/>
              <a:pPr/>
              <a:t>10</a:t>
            </a:fld>
            <a:endParaRPr lang="en-IN"/>
          </a:p>
        </p:txBody>
      </p:sp>
    </p:spTree>
    <p:extLst>
      <p:ext uri="{BB962C8B-B14F-4D97-AF65-F5344CB8AC3E}">
        <p14:creationId xmlns:p14="http://schemas.microsoft.com/office/powerpoint/2010/main" val="29721615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7237F36-709B-4BED-A067-C7DB16BA189A}" type="slidenum">
              <a:rPr lang="en-IN" smtClean="0"/>
              <a:pPr/>
              <a:t>24</a:t>
            </a:fld>
            <a:endParaRPr lang="en-IN"/>
          </a:p>
        </p:txBody>
      </p:sp>
    </p:spTree>
    <p:extLst>
      <p:ext uri="{BB962C8B-B14F-4D97-AF65-F5344CB8AC3E}">
        <p14:creationId xmlns:p14="http://schemas.microsoft.com/office/powerpoint/2010/main" val="88688575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15"/>
        <p:cNvGrpSpPr/>
        <p:nvPr/>
      </p:nvGrpSpPr>
      <p:grpSpPr>
        <a:xfrm>
          <a:off x="0" y="0"/>
          <a:ext cx="0" cy="0"/>
          <a:chOff x="0" y="0"/>
          <a:chExt cx="0" cy="0"/>
        </a:xfrm>
      </p:grpSpPr>
      <p:sp>
        <p:nvSpPr>
          <p:cNvPr id="16" name="Google Shape;16;p13"/>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13"/>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lnSpc>
                <a:spcPct val="100000"/>
              </a:lnSpc>
              <a:spcBef>
                <a:spcPts val="480"/>
              </a:spcBef>
              <a:spcAft>
                <a:spcPts val="0"/>
              </a:spcAft>
              <a:buClr>
                <a:srgbClr val="888888"/>
              </a:buClr>
              <a:buSzPts val="2400"/>
              <a:buNone/>
              <a:defRPr>
                <a:solidFill>
                  <a:srgbClr val="888888"/>
                </a:solidFill>
              </a:defRPr>
            </a:lvl1pPr>
            <a:lvl2pPr lvl="1" algn="ctr">
              <a:lnSpc>
                <a:spcPct val="100000"/>
              </a:lnSpc>
              <a:spcBef>
                <a:spcPts val="400"/>
              </a:spcBef>
              <a:spcAft>
                <a:spcPts val="0"/>
              </a:spcAft>
              <a:buClr>
                <a:srgbClr val="888888"/>
              </a:buClr>
              <a:buSzPts val="2000"/>
              <a:buNone/>
              <a:defRPr>
                <a:solidFill>
                  <a:srgbClr val="888888"/>
                </a:solidFill>
              </a:defRPr>
            </a:lvl2pPr>
            <a:lvl3pPr lvl="2" algn="ctr">
              <a:lnSpc>
                <a:spcPct val="100000"/>
              </a:lnSpc>
              <a:spcBef>
                <a:spcPts val="360"/>
              </a:spcBef>
              <a:spcAft>
                <a:spcPts val="0"/>
              </a:spcAft>
              <a:buClr>
                <a:srgbClr val="888888"/>
              </a:buClr>
              <a:buSzPts val="1800"/>
              <a:buNone/>
              <a:defRPr>
                <a:solidFill>
                  <a:srgbClr val="888888"/>
                </a:solidFill>
              </a:defRPr>
            </a:lvl3pPr>
            <a:lvl4pPr lvl="3" algn="ctr">
              <a:lnSpc>
                <a:spcPct val="100000"/>
              </a:lnSpc>
              <a:spcBef>
                <a:spcPts val="320"/>
              </a:spcBef>
              <a:spcAft>
                <a:spcPts val="0"/>
              </a:spcAft>
              <a:buClr>
                <a:srgbClr val="888888"/>
              </a:buClr>
              <a:buSzPts val="1600"/>
              <a:buNone/>
              <a:defRPr>
                <a:solidFill>
                  <a:srgbClr val="888888"/>
                </a:solidFill>
              </a:defRPr>
            </a:lvl4pPr>
            <a:lvl5pPr lvl="4" algn="ctr">
              <a:lnSpc>
                <a:spcPct val="100000"/>
              </a:lnSpc>
              <a:spcBef>
                <a:spcPts val="320"/>
              </a:spcBef>
              <a:spcAft>
                <a:spcPts val="0"/>
              </a:spcAft>
              <a:buClr>
                <a:srgbClr val="888888"/>
              </a:buClr>
              <a:buSzPts val="16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a:endParaRPr/>
          </a:p>
        </p:txBody>
      </p:sp>
      <p:sp>
        <p:nvSpPr>
          <p:cNvPr id="18" name="Google Shape;18;p13"/>
          <p:cNvSpPr txBox="1">
            <a:spLocks noGrp="1"/>
          </p:cNvSpPr>
          <p:nvPr>
            <p:ph type="dt" idx="10"/>
          </p:nvPr>
        </p:nvSpPr>
        <p:spPr>
          <a:xfrm>
            <a:off x="457200" y="6381396"/>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fld id="{8BEA20EA-0349-4705-BCA1-FD6E25D488B5}" type="datetime1">
              <a:rPr lang="en-US" smtClean="0"/>
              <a:pPr/>
              <a:t>10/30/2026</a:t>
            </a:fld>
            <a:endParaRPr lang="en-US"/>
          </a:p>
        </p:txBody>
      </p:sp>
      <p:sp>
        <p:nvSpPr>
          <p:cNvPr id="19" name="Google Shape;19;p13"/>
          <p:cNvSpPr txBox="1">
            <a:spLocks noGrp="1"/>
          </p:cNvSpPr>
          <p:nvPr>
            <p:ph type="ftr" idx="11"/>
          </p:nvPr>
        </p:nvSpPr>
        <p:spPr>
          <a:xfrm>
            <a:off x="3122488" y="6373546"/>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lang="en-US"/>
          </a:p>
        </p:txBody>
      </p:sp>
      <p:sp>
        <p:nvSpPr>
          <p:cNvPr id="20" name="Google Shape;20;p13"/>
          <p:cNvSpPr txBox="1">
            <a:spLocks noGrp="1"/>
          </p:cNvSpPr>
          <p:nvPr>
            <p:ph type="sldNum" idx="12"/>
          </p:nvPr>
        </p:nvSpPr>
        <p:spPr>
          <a:xfrm>
            <a:off x="6553200" y="6373546"/>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9pPr>
          </a:lstStyle>
          <a:p>
            <a:fld id="{B6F15528-21DE-4FAA-801E-634DDDAF4B2B}" type="slidenum">
              <a:rPr lang="en-US" smtClean="0"/>
              <a:pPr/>
              <a:t>‹#›</a:t>
            </a:fld>
            <a:endParaRPr lang="en-US"/>
          </a:p>
        </p:txBody>
      </p:sp>
    </p:spTree>
    <p:extLst>
      <p:ext uri="{BB962C8B-B14F-4D97-AF65-F5344CB8AC3E}">
        <p14:creationId xmlns:p14="http://schemas.microsoft.com/office/powerpoint/2010/main" val="37831827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Title and Content">
    <p:spTree>
      <p:nvGrpSpPr>
        <p:cNvPr id="1" name="Shape 21"/>
        <p:cNvGrpSpPr/>
        <p:nvPr/>
      </p:nvGrpSpPr>
      <p:grpSpPr>
        <a:xfrm>
          <a:off x="0" y="0"/>
          <a:ext cx="0" cy="0"/>
          <a:chOff x="0" y="0"/>
          <a:chExt cx="0" cy="0"/>
        </a:xfrm>
      </p:grpSpPr>
      <p:sp>
        <p:nvSpPr>
          <p:cNvPr id="22" name="Google Shape;22;p14"/>
          <p:cNvSpPr txBox="1">
            <a:spLocks noGrp="1"/>
          </p:cNvSpPr>
          <p:nvPr>
            <p:ph type="title"/>
          </p:nvPr>
        </p:nvSpPr>
        <p:spPr>
          <a:xfrm>
            <a:off x="457200" y="1295400"/>
            <a:ext cx="8229600" cy="9144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4"/>
          <p:cNvSpPr txBox="1">
            <a:spLocks noGrp="1"/>
          </p:cNvSpPr>
          <p:nvPr>
            <p:ph type="body" idx="1"/>
          </p:nvPr>
        </p:nvSpPr>
        <p:spPr>
          <a:xfrm>
            <a:off x="457200" y="2286000"/>
            <a:ext cx="8229600" cy="4070351"/>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360"/>
              </a:spcBef>
              <a:spcAft>
                <a:spcPts val="0"/>
              </a:spcAft>
              <a:buClr>
                <a:schemeClr val="dk1"/>
              </a:buClr>
              <a:buSzPts val="1800"/>
              <a:buChar char="❑"/>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24" name="Google Shape;24;p14"/>
          <p:cNvSpPr txBox="1">
            <a:spLocks noGrp="1"/>
          </p:cNvSpPr>
          <p:nvPr>
            <p:ph type="dt" idx="10"/>
          </p:nvPr>
        </p:nvSpPr>
        <p:spPr>
          <a:xfrm>
            <a:off x="457200" y="6381396"/>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fld id="{C7C1D501-53D3-41AA-AB0F-EC7FAC1EB820}" type="datetime1">
              <a:rPr lang="en-US" smtClean="0"/>
              <a:pPr/>
              <a:t>10/30/2026</a:t>
            </a:fld>
            <a:endParaRPr lang="en-US"/>
          </a:p>
        </p:txBody>
      </p:sp>
      <p:sp>
        <p:nvSpPr>
          <p:cNvPr id="25" name="Google Shape;25;p14"/>
          <p:cNvSpPr txBox="1">
            <a:spLocks noGrp="1"/>
          </p:cNvSpPr>
          <p:nvPr>
            <p:ph type="ftr" idx="11"/>
          </p:nvPr>
        </p:nvSpPr>
        <p:spPr>
          <a:xfrm>
            <a:off x="3122488" y="6373546"/>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lang="en-US"/>
          </a:p>
        </p:txBody>
      </p:sp>
      <p:sp>
        <p:nvSpPr>
          <p:cNvPr id="26" name="Google Shape;26;p14"/>
          <p:cNvSpPr txBox="1">
            <a:spLocks noGrp="1"/>
          </p:cNvSpPr>
          <p:nvPr>
            <p:ph type="sldNum" idx="12"/>
          </p:nvPr>
        </p:nvSpPr>
        <p:spPr>
          <a:xfrm>
            <a:off x="6553200" y="6373546"/>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9pPr>
          </a:lstStyle>
          <a:p>
            <a:fld id="{B6F15528-21DE-4FAA-801E-634DDDAF4B2B}" type="slidenum">
              <a:rPr lang="en-US" smtClean="0"/>
              <a:pPr/>
              <a:t>‹#›</a:t>
            </a:fld>
            <a:endParaRPr lang="en-US"/>
          </a:p>
        </p:txBody>
      </p:sp>
    </p:spTree>
    <p:extLst>
      <p:ext uri="{BB962C8B-B14F-4D97-AF65-F5344CB8AC3E}">
        <p14:creationId xmlns:p14="http://schemas.microsoft.com/office/powerpoint/2010/main" val="40912215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27"/>
        <p:cNvGrpSpPr/>
        <p:nvPr/>
      </p:nvGrpSpPr>
      <p:grpSpPr>
        <a:xfrm>
          <a:off x="0" y="0"/>
          <a:ext cx="0" cy="0"/>
          <a:chOff x="0" y="0"/>
          <a:chExt cx="0" cy="0"/>
        </a:xfrm>
      </p:grpSpPr>
      <p:sp>
        <p:nvSpPr>
          <p:cNvPr id="28" name="Google Shape;28;p15"/>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1"/>
              </a:buClr>
              <a:buSzPts val="4000"/>
              <a:buFont typeface="Calibri"/>
              <a:buNone/>
              <a:defRPr sz="4000" b="1"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5"/>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400"/>
              </a:spcBef>
              <a:spcAft>
                <a:spcPts val="0"/>
              </a:spcAft>
              <a:buClr>
                <a:srgbClr val="888888"/>
              </a:buClr>
              <a:buSzPts val="2000"/>
              <a:buNone/>
              <a:defRPr sz="2000">
                <a:solidFill>
                  <a:srgbClr val="888888"/>
                </a:solidFill>
              </a:defRPr>
            </a:lvl1pPr>
            <a:lvl2pPr marL="914400" lvl="1" indent="-228600" algn="l">
              <a:lnSpc>
                <a:spcPct val="100000"/>
              </a:lnSpc>
              <a:spcBef>
                <a:spcPts val="360"/>
              </a:spcBef>
              <a:spcAft>
                <a:spcPts val="0"/>
              </a:spcAft>
              <a:buClr>
                <a:srgbClr val="888888"/>
              </a:buClr>
              <a:buSzPts val="1800"/>
              <a:buNone/>
              <a:defRPr sz="1800">
                <a:solidFill>
                  <a:srgbClr val="888888"/>
                </a:solidFill>
              </a:defRPr>
            </a:lvl2pPr>
            <a:lvl3pPr marL="1371600" lvl="2" indent="-228600" algn="l">
              <a:lnSpc>
                <a:spcPct val="100000"/>
              </a:lnSpc>
              <a:spcBef>
                <a:spcPts val="320"/>
              </a:spcBef>
              <a:spcAft>
                <a:spcPts val="0"/>
              </a:spcAft>
              <a:buClr>
                <a:srgbClr val="888888"/>
              </a:buClr>
              <a:buSzPts val="1600"/>
              <a:buNone/>
              <a:defRPr sz="1600">
                <a:solidFill>
                  <a:srgbClr val="888888"/>
                </a:solidFill>
              </a:defRPr>
            </a:lvl3pPr>
            <a:lvl4pPr marL="1828800" lvl="3" indent="-228600" algn="l">
              <a:lnSpc>
                <a:spcPct val="100000"/>
              </a:lnSpc>
              <a:spcBef>
                <a:spcPts val="280"/>
              </a:spcBef>
              <a:spcAft>
                <a:spcPts val="0"/>
              </a:spcAft>
              <a:buClr>
                <a:srgbClr val="888888"/>
              </a:buClr>
              <a:buSzPts val="1400"/>
              <a:buNone/>
              <a:defRPr sz="1400">
                <a:solidFill>
                  <a:srgbClr val="888888"/>
                </a:solidFill>
              </a:defRPr>
            </a:lvl4pPr>
            <a:lvl5pPr marL="2286000" lvl="4" indent="-228600" algn="l">
              <a:lnSpc>
                <a:spcPct val="100000"/>
              </a:lnSpc>
              <a:spcBef>
                <a:spcPts val="280"/>
              </a:spcBef>
              <a:spcAft>
                <a:spcPts val="0"/>
              </a:spcAft>
              <a:buClr>
                <a:srgbClr val="888888"/>
              </a:buClr>
              <a:buSzPts val="1400"/>
              <a:buNone/>
              <a:defRPr sz="1400">
                <a:solidFill>
                  <a:srgbClr val="888888"/>
                </a:solidFill>
              </a:defRPr>
            </a:lvl5pPr>
            <a:lvl6pPr marL="2743200" lvl="5" indent="-228600" algn="l">
              <a:lnSpc>
                <a:spcPct val="100000"/>
              </a:lnSpc>
              <a:spcBef>
                <a:spcPts val="280"/>
              </a:spcBef>
              <a:spcAft>
                <a:spcPts val="0"/>
              </a:spcAft>
              <a:buClr>
                <a:srgbClr val="888888"/>
              </a:buClr>
              <a:buSzPts val="1400"/>
              <a:buNone/>
              <a:defRPr sz="1400">
                <a:solidFill>
                  <a:srgbClr val="888888"/>
                </a:solidFill>
              </a:defRPr>
            </a:lvl6pPr>
            <a:lvl7pPr marL="3200400" lvl="6" indent="-228600" algn="l">
              <a:lnSpc>
                <a:spcPct val="100000"/>
              </a:lnSpc>
              <a:spcBef>
                <a:spcPts val="280"/>
              </a:spcBef>
              <a:spcAft>
                <a:spcPts val="0"/>
              </a:spcAft>
              <a:buClr>
                <a:srgbClr val="888888"/>
              </a:buClr>
              <a:buSzPts val="1400"/>
              <a:buNone/>
              <a:defRPr sz="1400">
                <a:solidFill>
                  <a:srgbClr val="888888"/>
                </a:solidFill>
              </a:defRPr>
            </a:lvl7pPr>
            <a:lvl8pPr marL="3657600" lvl="7" indent="-228600" algn="l">
              <a:lnSpc>
                <a:spcPct val="100000"/>
              </a:lnSpc>
              <a:spcBef>
                <a:spcPts val="280"/>
              </a:spcBef>
              <a:spcAft>
                <a:spcPts val="0"/>
              </a:spcAft>
              <a:buClr>
                <a:srgbClr val="888888"/>
              </a:buClr>
              <a:buSzPts val="1400"/>
              <a:buNone/>
              <a:defRPr sz="1400">
                <a:solidFill>
                  <a:srgbClr val="888888"/>
                </a:solidFill>
              </a:defRPr>
            </a:lvl8pPr>
            <a:lvl9pPr marL="4114800" lvl="8" indent="-228600" algn="l">
              <a:lnSpc>
                <a:spcPct val="100000"/>
              </a:lnSpc>
              <a:spcBef>
                <a:spcPts val="280"/>
              </a:spcBef>
              <a:spcAft>
                <a:spcPts val="0"/>
              </a:spcAft>
              <a:buClr>
                <a:srgbClr val="888888"/>
              </a:buClr>
              <a:buSzPts val="1400"/>
              <a:buNone/>
              <a:defRPr sz="1400">
                <a:solidFill>
                  <a:srgbClr val="888888"/>
                </a:solidFill>
              </a:defRPr>
            </a:lvl9pPr>
          </a:lstStyle>
          <a:p>
            <a:endParaRPr/>
          </a:p>
        </p:txBody>
      </p:sp>
      <p:sp>
        <p:nvSpPr>
          <p:cNvPr id="30" name="Google Shape;30;p15"/>
          <p:cNvSpPr txBox="1">
            <a:spLocks noGrp="1"/>
          </p:cNvSpPr>
          <p:nvPr>
            <p:ph type="dt" idx="10"/>
          </p:nvPr>
        </p:nvSpPr>
        <p:spPr>
          <a:xfrm>
            <a:off x="457200" y="6381396"/>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fld id="{47E71C75-95A0-4782-AD5B-2C635E75B37E}" type="datetime1">
              <a:rPr lang="en-US" smtClean="0"/>
              <a:pPr/>
              <a:t>10/30/2026</a:t>
            </a:fld>
            <a:endParaRPr lang="en-US"/>
          </a:p>
        </p:txBody>
      </p:sp>
      <p:sp>
        <p:nvSpPr>
          <p:cNvPr id="31" name="Google Shape;31;p15"/>
          <p:cNvSpPr txBox="1">
            <a:spLocks noGrp="1"/>
          </p:cNvSpPr>
          <p:nvPr>
            <p:ph type="ftr" idx="11"/>
          </p:nvPr>
        </p:nvSpPr>
        <p:spPr>
          <a:xfrm>
            <a:off x="3122488" y="6373546"/>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lang="en-US"/>
          </a:p>
        </p:txBody>
      </p:sp>
      <p:sp>
        <p:nvSpPr>
          <p:cNvPr id="32" name="Google Shape;32;p15"/>
          <p:cNvSpPr txBox="1">
            <a:spLocks noGrp="1"/>
          </p:cNvSpPr>
          <p:nvPr>
            <p:ph type="sldNum" idx="12"/>
          </p:nvPr>
        </p:nvSpPr>
        <p:spPr>
          <a:xfrm>
            <a:off x="6553200" y="6373546"/>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9pPr>
          </a:lstStyle>
          <a:p>
            <a:fld id="{B6F15528-21DE-4FAA-801E-634DDDAF4B2B}" type="slidenum">
              <a:rPr lang="en-US" smtClean="0"/>
              <a:pPr/>
              <a:t>‹#›</a:t>
            </a:fld>
            <a:endParaRPr lang="en-US"/>
          </a:p>
        </p:txBody>
      </p:sp>
    </p:spTree>
    <p:extLst>
      <p:ext uri="{BB962C8B-B14F-4D97-AF65-F5344CB8AC3E}">
        <p14:creationId xmlns:p14="http://schemas.microsoft.com/office/powerpoint/2010/main" val="14975766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 Content">
    <p:spTree>
      <p:nvGrpSpPr>
        <p:cNvPr id="1" name="Shape 33"/>
        <p:cNvGrpSpPr/>
        <p:nvPr/>
      </p:nvGrpSpPr>
      <p:grpSpPr>
        <a:xfrm>
          <a:off x="0" y="0"/>
          <a:ext cx="0" cy="0"/>
          <a:chOff x="0" y="0"/>
          <a:chExt cx="0" cy="0"/>
        </a:xfrm>
      </p:grpSpPr>
      <p:sp>
        <p:nvSpPr>
          <p:cNvPr id="34" name="Google Shape;34;p16"/>
          <p:cNvSpPr txBox="1">
            <a:spLocks noGrp="1"/>
          </p:cNvSpPr>
          <p:nvPr>
            <p:ph type="title"/>
          </p:nvPr>
        </p:nvSpPr>
        <p:spPr>
          <a:xfrm>
            <a:off x="457200" y="1295400"/>
            <a:ext cx="8229600" cy="9144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16"/>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lnSpc>
                <a:spcPct val="100000"/>
              </a:lnSpc>
              <a:spcBef>
                <a:spcPts val="560"/>
              </a:spcBef>
              <a:spcAft>
                <a:spcPts val="0"/>
              </a:spcAft>
              <a:buClr>
                <a:schemeClr val="dk1"/>
              </a:buClr>
              <a:buSzPts val="2800"/>
              <a:buChar char="❑"/>
              <a:defRPr sz="2800"/>
            </a:lvl1pPr>
            <a:lvl2pPr marL="914400" lvl="1" indent="-381000" algn="l">
              <a:lnSpc>
                <a:spcPct val="100000"/>
              </a:lnSpc>
              <a:spcBef>
                <a:spcPts val="480"/>
              </a:spcBef>
              <a:spcAft>
                <a:spcPts val="0"/>
              </a:spcAft>
              <a:buClr>
                <a:schemeClr val="dk1"/>
              </a:buClr>
              <a:buSzPts val="2400"/>
              <a:buChar char="▪"/>
              <a:defRPr sz="2400"/>
            </a:lvl2pPr>
            <a:lvl3pPr marL="1371600" lvl="2" indent="-355600" algn="l">
              <a:lnSpc>
                <a:spcPct val="100000"/>
              </a:lnSpc>
              <a:spcBef>
                <a:spcPts val="400"/>
              </a:spcBef>
              <a:spcAft>
                <a:spcPts val="0"/>
              </a:spcAft>
              <a:buClr>
                <a:schemeClr val="dk1"/>
              </a:buClr>
              <a:buSzPts val="2000"/>
              <a:buChar char="▪"/>
              <a:defRPr sz="2000"/>
            </a:lvl3pPr>
            <a:lvl4pPr marL="1828800" lvl="3" indent="-342900" algn="l">
              <a:lnSpc>
                <a:spcPct val="100000"/>
              </a:lnSpc>
              <a:spcBef>
                <a:spcPts val="360"/>
              </a:spcBef>
              <a:spcAft>
                <a:spcPts val="0"/>
              </a:spcAft>
              <a:buClr>
                <a:schemeClr val="dk1"/>
              </a:buClr>
              <a:buSzPts val="1800"/>
              <a:buChar char="▪"/>
              <a:defRPr sz="1800"/>
            </a:lvl4pPr>
            <a:lvl5pPr marL="2286000" lvl="4" indent="-342900" algn="l">
              <a:lnSpc>
                <a:spcPct val="100000"/>
              </a:lnSpc>
              <a:spcBef>
                <a:spcPts val="360"/>
              </a:spcBef>
              <a:spcAft>
                <a:spcPts val="0"/>
              </a:spcAft>
              <a:buClr>
                <a:schemeClr val="dk1"/>
              </a:buClr>
              <a:buSzPts val="1800"/>
              <a:buChar char="▪"/>
              <a:defRPr sz="1800"/>
            </a:lvl5pPr>
            <a:lvl6pPr marL="2743200" lvl="5" indent="-342900" algn="l">
              <a:lnSpc>
                <a:spcPct val="100000"/>
              </a:lnSpc>
              <a:spcBef>
                <a:spcPts val="360"/>
              </a:spcBef>
              <a:spcAft>
                <a:spcPts val="0"/>
              </a:spcAft>
              <a:buClr>
                <a:schemeClr val="dk1"/>
              </a:buClr>
              <a:buSzPts val="1800"/>
              <a:buChar char="•"/>
              <a:defRPr sz="1800"/>
            </a:lvl6pPr>
            <a:lvl7pPr marL="3200400" lvl="6" indent="-342900" algn="l">
              <a:lnSpc>
                <a:spcPct val="100000"/>
              </a:lnSpc>
              <a:spcBef>
                <a:spcPts val="360"/>
              </a:spcBef>
              <a:spcAft>
                <a:spcPts val="0"/>
              </a:spcAft>
              <a:buClr>
                <a:schemeClr val="dk1"/>
              </a:buClr>
              <a:buSzPts val="1800"/>
              <a:buChar char="•"/>
              <a:defRPr sz="1800"/>
            </a:lvl7pPr>
            <a:lvl8pPr marL="3657600" lvl="7" indent="-342900" algn="l">
              <a:lnSpc>
                <a:spcPct val="100000"/>
              </a:lnSpc>
              <a:spcBef>
                <a:spcPts val="360"/>
              </a:spcBef>
              <a:spcAft>
                <a:spcPts val="0"/>
              </a:spcAft>
              <a:buClr>
                <a:schemeClr val="dk1"/>
              </a:buClr>
              <a:buSzPts val="1800"/>
              <a:buChar char="•"/>
              <a:defRPr sz="1800"/>
            </a:lvl8pPr>
            <a:lvl9pPr marL="4114800" lvl="8" indent="-342900" algn="l">
              <a:lnSpc>
                <a:spcPct val="100000"/>
              </a:lnSpc>
              <a:spcBef>
                <a:spcPts val="360"/>
              </a:spcBef>
              <a:spcAft>
                <a:spcPts val="0"/>
              </a:spcAft>
              <a:buClr>
                <a:schemeClr val="dk1"/>
              </a:buClr>
              <a:buSzPts val="1800"/>
              <a:buChar char="•"/>
              <a:defRPr sz="1800"/>
            </a:lvl9pPr>
          </a:lstStyle>
          <a:p>
            <a:endParaRPr/>
          </a:p>
        </p:txBody>
      </p:sp>
      <p:sp>
        <p:nvSpPr>
          <p:cNvPr id="36" name="Google Shape;36;p16"/>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lnSpc>
                <a:spcPct val="100000"/>
              </a:lnSpc>
              <a:spcBef>
                <a:spcPts val="560"/>
              </a:spcBef>
              <a:spcAft>
                <a:spcPts val="0"/>
              </a:spcAft>
              <a:buClr>
                <a:schemeClr val="dk1"/>
              </a:buClr>
              <a:buSzPts val="2800"/>
              <a:buChar char="❑"/>
              <a:defRPr sz="2800"/>
            </a:lvl1pPr>
            <a:lvl2pPr marL="914400" lvl="1" indent="-381000" algn="l">
              <a:lnSpc>
                <a:spcPct val="100000"/>
              </a:lnSpc>
              <a:spcBef>
                <a:spcPts val="480"/>
              </a:spcBef>
              <a:spcAft>
                <a:spcPts val="0"/>
              </a:spcAft>
              <a:buClr>
                <a:schemeClr val="dk1"/>
              </a:buClr>
              <a:buSzPts val="2400"/>
              <a:buChar char="▪"/>
              <a:defRPr sz="2400"/>
            </a:lvl2pPr>
            <a:lvl3pPr marL="1371600" lvl="2" indent="-355600" algn="l">
              <a:lnSpc>
                <a:spcPct val="100000"/>
              </a:lnSpc>
              <a:spcBef>
                <a:spcPts val="400"/>
              </a:spcBef>
              <a:spcAft>
                <a:spcPts val="0"/>
              </a:spcAft>
              <a:buClr>
                <a:schemeClr val="dk1"/>
              </a:buClr>
              <a:buSzPts val="2000"/>
              <a:buChar char="▪"/>
              <a:defRPr sz="2000"/>
            </a:lvl3pPr>
            <a:lvl4pPr marL="1828800" lvl="3" indent="-342900" algn="l">
              <a:lnSpc>
                <a:spcPct val="100000"/>
              </a:lnSpc>
              <a:spcBef>
                <a:spcPts val="360"/>
              </a:spcBef>
              <a:spcAft>
                <a:spcPts val="0"/>
              </a:spcAft>
              <a:buClr>
                <a:schemeClr val="dk1"/>
              </a:buClr>
              <a:buSzPts val="1800"/>
              <a:buChar char="▪"/>
              <a:defRPr sz="1800"/>
            </a:lvl4pPr>
            <a:lvl5pPr marL="2286000" lvl="4" indent="-342900" algn="l">
              <a:lnSpc>
                <a:spcPct val="100000"/>
              </a:lnSpc>
              <a:spcBef>
                <a:spcPts val="360"/>
              </a:spcBef>
              <a:spcAft>
                <a:spcPts val="0"/>
              </a:spcAft>
              <a:buClr>
                <a:schemeClr val="dk1"/>
              </a:buClr>
              <a:buSzPts val="1800"/>
              <a:buChar char="▪"/>
              <a:defRPr sz="1800"/>
            </a:lvl5pPr>
            <a:lvl6pPr marL="2743200" lvl="5" indent="-342900" algn="l">
              <a:lnSpc>
                <a:spcPct val="100000"/>
              </a:lnSpc>
              <a:spcBef>
                <a:spcPts val="360"/>
              </a:spcBef>
              <a:spcAft>
                <a:spcPts val="0"/>
              </a:spcAft>
              <a:buClr>
                <a:schemeClr val="dk1"/>
              </a:buClr>
              <a:buSzPts val="1800"/>
              <a:buChar char="•"/>
              <a:defRPr sz="1800"/>
            </a:lvl6pPr>
            <a:lvl7pPr marL="3200400" lvl="6" indent="-342900" algn="l">
              <a:lnSpc>
                <a:spcPct val="100000"/>
              </a:lnSpc>
              <a:spcBef>
                <a:spcPts val="360"/>
              </a:spcBef>
              <a:spcAft>
                <a:spcPts val="0"/>
              </a:spcAft>
              <a:buClr>
                <a:schemeClr val="dk1"/>
              </a:buClr>
              <a:buSzPts val="1800"/>
              <a:buChar char="•"/>
              <a:defRPr sz="1800"/>
            </a:lvl7pPr>
            <a:lvl8pPr marL="3657600" lvl="7" indent="-342900" algn="l">
              <a:lnSpc>
                <a:spcPct val="100000"/>
              </a:lnSpc>
              <a:spcBef>
                <a:spcPts val="360"/>
              </a:spcBef>
              <a:spcAft>
                <a:spcPts val="0"/>
              </a:spcAft>
              <a:buClr>
                <a:schemeClr val="dk1"/>
              </a:buClr>
              <a:buSzPts val="1800"/>
              <a:buChar char="•"/>
              <a:defRPr sz="1800"/>
            </a:lvl8pPr>
            <a:lvl9pPr marL="4114800" lvl="8" indent="-342900" algn="l">
              <a:lnSpc>
                <a:spcPct val="100000"/>
              </a:lnSpc>
              <a:spcBef>
                <a:spcPts val="360"/>
              </a:spcBef>
              <a:spcAft>
                <a:spcPts val="0"/>
              </a:spcAft>
              <a:buClr>
                <a:schemeClr val="dk1"/>
              </a:buClr>
              <a:buSzPts val="1800"/>
              <a:buChar char="•"/>
              <a:defRPr sz="1800"/>
            </a:lvl9pPr>
          </a:lstStyle>
          <a:p>
            <a:endParaRPr/>
          </a:p>
        </p:txBody>
      </p:sp>
      <p:sp>
        <p:nvSpPr>
          <p:cNvPr id="37" name="Google Shape;37;p16"/>
          <p:cNvSpPr txBox="1">
            <a:spLocks noGrp="1"/>
          </p:cNvSpPr>
          <p:nvPr>
            <p:ph type="dt" idx="10"/>
          </p:nvPr>
        </p:nvSpPr>
        <p:spPr>
          <a:xfrm>
            <a:off x="457200" y="6381396"/>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fld id="{D83F4B71-1D04-45C1-8B01-49A10CA9C075}" type="datetime1">
              <a:rPr lang="en-US" smtClean="0"/>
              <a:pPr/>
              <a:t>10/30/2026</a:t>
            </a:fld>
            <a:endParaRPr lang="en-US"/>
          </a:p>
        </p:txBody>
      </p:sp>
      <p:sp>
        <p:nvSpPr>
          <p:cNvPr id="38" name="Google Shape;38;p16"/>
          <p:cNvSpPr txBox="1">
            <a:spLocks noGrp="1"/>
          </p:cNvSpPr>
          <p:nvPr>
            <p:ph type="ftr" idx="11"/>
          </p:nvPr>
        </p:nvSpPr>
        <p:spPr>
          <a:xfrm>
            <a:off x="3122488" y="6373546"/>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lang="en-US"/>
          </a:p>
        </p:txBody>
      </p:sp>
      <p:sp>
        <p:nvSpPr>
          <p:cNvPr id="39" name="Google Shape;39;p16"/>
          <p:cNvSpPr txBox="1">
            <a:spLocks noGrp="1"/>
          </p:cNvSpPr>
          <p:nvPr>
            <p:ph type="sldNum" idx="12"/>
          </p:nvPr>
        </p:nvSpPr>
        <p:spPr>
          <a:xfrm>
            <a:off x="6553200" y="6373546"/>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9pPr>
          </a:lstStyle>
          <a:p>
            <a:fld id="{B6F15528-21DE-4FAA-801E-634DDDAF4B2B}" type="slidenum">
              <a:rPr lang="en-US" smtClean="0"/>
              <a:pPr/>
              <a:t>‹#›</a:t>
            </a:fld>
            <a:endParaRPr lang="en-US"/>
          </a:p>
        </p:txBody>
      </p:sp>
    </p:spTree>
    <p:extLst>
      <p:ext uri="{BB962C8B-B14F-4D97-AF65-F5344CB8AC3E}">
        <p14:creationId xmlns:p14="http://schemas.microsoft.com/office/powerpoint/2010/main" val="40830831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Comparison">
    <p:spTree>
      <p:nvGrpSpPr>
        <p:cNvPr id="1" name="Shape 40"/>
        <p:cNvGrpSpPr/>
        <p:nvPr/>
      </p:nvGrpSpPr>
      <p:grpSpPr>
        <a:xfrm>
          <a:off x="0" y="0"/>
          <a:ext cx="0" cy="0"/>
          <a:chOff x="0" y="0"/>
          <a:chExt cx="0" cy="0"/>
        </a:xfrm>
      </p:grpSpPr>
      <p:sp>
        <p:nvSpPr>
          <p:cNvPr id="41" name="Google Shape;41;p17"/>
          <p:cNvSpPr txBox="1">
            <a:spLocks noGrp="1"/>
          </p:cNvSpPr>
          <p:nvPr>
            <p:ph type="title"/>
          </p:nvPr>
        </p:nvSpPr>
        <p:spPr>
          <a:xfrm>
            <a:off x="457200" y="1295400"/>
            <a:ext cx="8229600" cy="9144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3600"/>
              <a:buFont typeface="Calibri"/>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17"/>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480"/>
              </a:spcBef>
              <a:spcAft>
                <a:spcPts val="0"/>
              </a:spcAft>
              <a:buClr>
                <a:schemeClr val="dk1"/>
              </a:buClr>
              <a:buSzPts val="2400"/>
              <a:buNone/>
              <a:defRPr sz="2400" b="1"/>
            </a:lvl1pPr>
            <a:lvl2pPr marL="914400" lvl="1" indent="-228600" algn="l">
              <a:lnSpc>
                <a:spcPct val="100000"/>
              </a:lnSpc>
              <a:spcBef>
                <a:spcPts val="400"/>
              </a:spcBef>
              <a:spcAft>
                <a:spcPts val="0"/>
              </a:spcAft>
              <a:buClr>
                <a:schemeClr val="dk1"/>
              </a:buClr>
              <a:buSzPts val="2000"/>
              <a:buNone/>
              <a:defRPr sz="2000" b="1"/>
            </a:lvl2pPr>
            <a:lvl3pPr marL="1371600" lvl="2" indent="-228600" algn="l">
              <a:lnSpc>
                <a:spcPct val="100000"/>
              </a:lnSpc>
              <a:spcBef>
                <a:spcPts val="360"/>
              </a:spcBef>
              <a:spcAft>
                <a:spcPts val="0"/>
              </a:spcAft>
              <a:buClr>
                <a:schemeClr val="dk1"/>
              </a:buClr>
              <a:buSzPts val="1800"/>
              <a:buNone/>
              <a:defRPr sz="1800" b="1"/>
            </a:lvl3pPr>
            <a:lvl4pPr marL="1828800" lvl="3" indent="-228600" algn="l">
              <a:lnSpc>
                <a:spcPct val="100000"/>
              </a:lnSpc>
              <a:spcBef>
                <a:spcPts val="320"/>
              </a:spcBef>
              <a:spcAft>
                <a:spcPts val="0"/>
              </a:spcAft>
              <a:buClr>
                <a:schemeClr val="dk1"/>
              </a:buClr>
              <a:buSzPts val="1600"/>
              <a:buNone/>
              <a:defRPr sz="1600" b="1"/>
            </a:lvl4pPr>
            <a:lvl5pPr marL="2286000" lvl="4" indent="-228600" algn="l">
              <a:lnSpc>
                <a:spcPct val="100000"/>
              </a:lnSpc>
              <a:spcBef>
                <a:spcPts val="320"/>
              </a:spcBef>
              <a:spcAft>
                <a:spcPts val="0"/>
              </a:spcAft>
              <a:buClr>
                <a:schemeClr val="dk1"/>
              </a:buClr>
              <a:buSzPts val="1600"/>
              <a:buNone/>
              <a:defRPr sz="1600" b="1"/>
            </a:lvl5pPr>
            <a:lvl6pPr marL="2743200" lvl="5" indent="-228600" algn="l">
              <a:lnSpc>
                <a:spcPct val="100000"/>
              </a:lnSpc>
              <a:spcBef>
                <a:spcPts val="320"/>
              </a:spcBef>
              <a:spcAft>
                <a:spcPts val="0"/>
              </a:spcAft>
              <a:buClr>
                <a:schemeClr val="dk1"/>
              </a:buClr>
              <a:buSzPts val="1600"/>
              <a:buNone/>
              <a:defRPr sz="1600" b="1"/>
            </a:lvl6pPr>
            <a:lvl7pPr marL="3200400" lvl="6" indent="-228600" algn="l">
              <a:lnSpc>
                <a:spcPct val="100000"/>
              </a:lnSpc>
              <a:spcBef>
                <a:spcPts val="320"/>
              </a:spcBef>
              <a:spcAft>
                <a:spcPts val="0"/>
              </a:spcAft>
              <a:buClr>
                <a:schemeClr val="dk1"/>
              </a:buClr>
              <a:buSzPts val="1600"/>
              <a:buNone/>
              <a:defRPr sz="1600" b="1"/>
            </a:lvl7pPr>
            <a:lvl8pPr marL="3657600" lvl="7" indent="-228600" algn="l">
              <a:lnSpc>
                <a:spcPct val="100000"/>
              </a:lnSpc>
              <a:spcBef>
                <a:spcPts val="320"/>
              </a:spcBef>
              <a:spcAft>
                <a:spcPts val="0"/>
              </a:spcAft>
              <a:buClr>
                <a:schemeClr val="dk1"/>
              </a:buClr>
              <a:buSzPts val="1600"/>
              <a:buNone/>
              <a:defRPr sz="1600" b="1"/>
            </a:lvl8pPr>
            <a:lvl9pPr marL="4114800" lvl="8" indent="-228600" algn="l">
              <a:lnSpc>
                <a:spcPct val="100000"/>
              </a:lnSpc>
              <a:spcBef>
                <a:spcPts val="320"/>
              </a:spcBef>
              <a:spcAft>
                <a:spcPts val="0"/>
              </a:spcAft>
              <a:buClr>
                <a:schemeClr val="dk1"/>
              </a:buClr>
              <a:buSzPts val="1600"/>
              <a:buNone/>
              <a:defRPr sz="1600" b="1"/>
            </a:lvl9pPr>
          </a:lstStyle>
          <a:p>
            <a:endParaRPr/>
          </a:p>
        </p:txBody>
      </p:sp>
      <p:sp>
        <p:nvSpPr>
          <p:cNvPr id="43" name="Google Shape;43;p17"/>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lnSpc>
                <a:spcPct val="100000"/>
              </a:lnSpc>
              <a:spcBef>
                <a:spcPts val="480"/>
              </a:spcBef>
              <a:spcAft>
                <a:spcPts val="0"/>
              </a:spcAft>
              <a:buClr>
                <a:schemeClr val="dk1"/>
              </a:buClr>
              <a:buSzPts val="2400"/>
              <a:buChar char="❑"/>
              <a:defRPr sz="2400"/>
            </a:lvl1pPr>
            <a:lvl2pPr marL="914400" lvl="1" indent="-355600" algn="l">
              <a:lnSpc>
                <a:spcPct val="100000"/>
              </a:lnSpc>
              <a:spcBef>
                <a:spcPts val="400"/>
              </a:spcBef>
              <a:spcAft>
                <a:spcPts val="0"/>
              </a:spcAft>
              <a:buClr>
                <a:schemeClr val="dk1"/>
              </a:buClr>
              <a:buSzPts val="2000"/>
              <a:buChar char="▪"/>
              <a:defRPr sz="2000"/>
            </a:lvl2pPr>
            <a:lvl3pPr marL="1371600" lvl="2" indent="-342900" algn="l">
              <a:lnSpc>
                <a:spcPct val="100000"/>
              </a:lnSpc>
              <a:spcBef>
                <a:spcPts val="360"/>
              </a:spcBef>
              <a:spcAft>
                <a:spcPts val="0"/>
              </a:spcAft>
              <a:buClr>
                <a:schemeClr val="dk1"/>
              </a:buClr>
              <a:buSzPts val="1800"/>
              <a:buChar char="▪"/>
              <a:defRPr sz="1800"/>
            </a:lvl3pPr>
            <a:lvl4pPr marL="1828800" lvl="3" indent="-330200" algn="l">
              <a:lnSpc>
                <a:spcPct val="100000"/>
              </a:lnSpc>
              <a:spcBef>
                <a:spcPts val="320"/>
              </a:spcBef>
              <a:spcAft>
                <a:spcPts val="0"/>
              </a:spcAft>
              <a:buClr>
                <a:schemeClr val="dk1"/>
              </a:buClr>
              <a:buSzPts val="1600"/>
              <a:buChar char="▪"/>
              <a:defRPr sz="1600"/>
            </a:lvl4pPr>
            <a:lvl5pPr marL="2286000" lvl="4" indent="-330200" algn="l">
              <a:lnSpc>
                <a:spcPct val="100000"/>
              </a:lnSpc>
              <a:spcBef>
                <a:spcPts val="320"/>
              </a:spcBef>
              <a:spcAft>
                <a:spcPts val="0"/>
              </a:spcAft>
              <a:buClr>
                <a:schemeClr val="dk1"/>
              </a:buClr>
              <a:buSzPts val="1600"/>
              <a:buChar char="▪"/>
              <a:defRPr sz="1600"/>
            </a:lvl5pPr>
            <a:lvl6pPr marL="2743200" lvl="5" indent="-330200" algn="l">
              <a:lnSpc>
                <a:spcPct val="100000"/>
              </a:lnSpc>
              <a:spcBef>
                <a:spcPts val="320"/>
              </a:spcBef>
              <a:spcAft>
                <a:spcPts val="0"/>
              </a:spcAft>
              <a:buClr>
                <a:schemeClr val="dk1"/>
              </a:buClr>
              <a:buSzPts val="1600"/>
              <a:buChar char="•"/>
              <a:defRPr sz="1600"/>
            </a:lvl6pPr>
            <a:lvl7pPr marL="3200400" lvl="6" indent="-330200" algn="l">
              <a:lnSpc>
                <a:spcPct val="100000"/>
              </a:lnSpc>
              <a:spcBef>
                <a:spcPts val="320"/>
              </a:spcBef>
              <a:spcAft>
                <a:spcPts val="0"/>
              </a:spcAft>
              <a:buClr>
                <a:schemeClr val="dk1"/>
              </a:buClr>
              <a:buSzPts val="1600"/>
              <a:buChar char="•"/>
              <a:defRPr sz="1600"/>
            </a:lvl7pPr>
            <a:lvl8pPr marL="3657600" lvl="7" indent="-330200" algn="l">
              <a:lnSpc>
                <a:spcPct val="100000"/>
              </a:lnSpc>
              <a:spcBef>
                <a:spcPts val="320"/>
              </a:spcBef>
              <a:spcAft>
                <a:spcPts val="0"/>
              </a:spcAft>
              <a:buClr>
                <a:schemeClr val="dk1"/>
              </a:buClr>
              <a:buSzPts val="1600"/>
              <a:buChar char="•"/>
              <a:defRPr sz="1600"/>
            </a:lvl8pPr>
            <a:lvl9pPr marL="4114800" lvl="8" indent="-330200" algn="l">
              <a:lnSpc>
                <a:spcPct val="100000"/>
              </a:lnSpc>
              <a:spcBef>
                <a:spcPts val="320"/>
              </a:spcBef>
              <a:spcAft>
                <a:spcPts val="0"/>
              </a:spcAft>
              <a:buClr>
                <a:schemeClr val="dk1"/>
              </a:buClr>
              <a:buSzPts val="1600"/>
              <a:buChar char="•"/>
              <a:defRPr sz="1600"/>
            </a:lvl9pPr>
          </a:lstStyle>
          <a:p>
            <a:endParaRPr/>
          </a:p>
        </p:txBody>
      </p:sp>
      <p:sp>
        <p:nvSpPr>
          <p:cNvPr id="44" name="Google Shape;44;p17"/>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480"/>
              </a:spcBef>
              <a:spcAft>
                <a:spcPts val="0"/>
              </a:spcAft>
              <a:buClr>
                <a:schemeClr val="dk1"/>
              </a:buClr>
              <a:buSzPts val="2400"/>
              <a:buNone/>
              <a:defRPr sz="2400" b="1"/>
            </a:lvl1pPr>
            <a:lvl2pPr marL="914400" lvl="1" indent="-228600" algn="l">
              <a:lnSpc>
                <a:spcPct val="100000"/>
              </a:lnSpc>
              <a:spcBef>
                <a:spcPts val="400"/>
              </a:spcBef>
              <a:spcAft>
                <a:spcPts val="0"/>
              </a:spcAft>
              <a:buClr>
                <a:schemeClr val="dk1"/>
              </a:buClr>
              <a:buSzPts val="2000"/>
              <a:buNone/>
              <a:defRPr sz="2000" b="1"/>
            </a:lvl2pPr>
            <a:lvl3pPr marL="1371600" lvl="2" indent="-228600" algn="l">
              <a:lnSpc>
                <a:spcPct val="100000"/>
              </a:lnSpc>
              <a:spcBef>
                <a:spcPts val="360"/>
              </a:spcBef>
              <a:spcAft>
                <a:spcPts val="0"/>
              </a:spcAft>
              <a:buClr>
                <a:schemeClr val="dk1"/>
              </a:buClr>
              <a:buSzPts val="1800"/>
              <a:buNone/>
              <a:defRPr sz="1800" b="1"/>
            </a:lvl3pPr>
            <a:lvl4pPr marL="1828800" lvl="3" indent="-228600" algn="l">
              <a:lnSpc>
                <a:spcPct val="100000"/>
              </a:lnSpc>
              <a:spcBef>
                <a:spcPts val="320"/>
              </a:spcBef>
              <a:spcAft>
                <a:spcPts val="0"/>
              </a:spcAft>
              <a:buClr>
                <a:schemeClr val="dk1"/>
              </a:buClr>
              <a:buSzPts val="1600"/>
              <a:buNone/>
              <a:defRPr sz="1600" b="1"/>
            </a:lvl4pPr>
            <a:lvl5pPr marL="2286000" lvl="4" indent="-228600" algn="l">
              <a:lnSpc>
                <a:spcPct val="100000"/>
              </a:lnSpc>
              <a:spcBef>
                <a:spcPts val="320"/>
              </a:spcBef>
              <a:spcAft>
                <a:spcPts val="0"/>
              </a:spcAft>
              <a:buClr>
                <a:schemeClr val="dk1"/>
              </a:buClr>
              <a:buSzPts val="1600"/>
              <a:buNone/>
              <a:defRPr sz="1600" b="1"/>
            </a:lvl5pPr>
            <a:lvl6pPr marL="2743200" lvl="5" indent="-228600" algn="l">
              <a:lnSpc>
                <a:spcPct val="100000"/>
              </a:lnSpc>
              <a:spcBef>
                <a:spcPts val="320"/>
              </a:spcBef>
              <a:spcAft>
                <a:spcPts val="0"/>
              </a:spcAft>
              <a:buClr>
                <a:schemeClr val="dk1"/>
              </a:buClr>
              <a:buSzPts val="1600"/>
              <a:buNone/>
              <a:defRPr sz="1600" b="1"/>
            </a:lvl6pPr>
            <a:lvl7pPr marL="3200400" lvl="6" indent="-228600" algn="l">
              <a:lnSpc>
                <a:spcPct val="100000"/>
              </a:lnSpc>
              <a:spcBef>
                <a:spcPts val="320"/>
              </a:spcBef>
              <a:spcAft>
                <a:spcPts val="0"/>
              </a:spcAft>
              <a:buClr>
                <a:schemeClr val="dk1"/>
              </a:buClr>
              <a:buSzPts val="1600"/>
              <a:buNone/>
              <a:defRPr sz="1600" b="1"/>
            </a:lvl7pPr>
            <a:lvl8pPr marL="3657600" lvl="7" indent="-228600" algn="l">
              <a:lnSpc>
                <a:spcPct val="100000"/>
              </a:lnSpc>
              <a:spcBef>
                <a:spcPts val="320"/>
              </a:spcBef>
              <a:spcAft>
                <a:spcPts val="0"/>
              </a:spcAft>
              <a:buClr>
                <a:schemeClr val="dk1"/>
              </a:buClr>
              <a:buSzPts val="1600"/>
              <a:buNone/>
              <a:defRPr sz="1600" b="1"/>
            </a:lvl8pPr>
            <a:lvl9pPr marL="4114800" lvl="8" indent="-228600" algn="l">
              <a:lnSpc>
                <a:spcPct val="100000"/>
              </a:lnSpc>
              <a:spcBef>
                <a:spcPts val="320"/>
              </a:spcBef>
              <a:spcAft>
                <a:spcPts val="0"/>
              </a:spcAft>
              <a:buClr>
                <a:schemeClr val="dk1"/>
              </a:buClr>
              <a:buSzPts val="1600"/>
              <a:buNone/>
              <a:defRPr sz="1600" b="1"/>
            </a:lvl9pPr>
          </a:lstStyle>
          <a:p>
            <a:endParaRPr/>
          </a:p>
        </p:txBody>
      </p:sp>
      <p:sp>
        <p:nvSpPr>
          <p:cNvPr id="45" name="Google Shape;45;p17"/>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lnSpc>
                <a:spcPct val="100000"/>
              </a:lnSpc>
              <a:spcBef>
                <a:spcPts val="480"/>
              </a:spcBef>
              <a:spcAft>
                <a:spcPts val="0"/>
              </a:spcAft>
              <a:buClr>
                <a:schemeClr val="dk1"/>
              </a:buClr>
              <a:buSzPts val="2400"/>
              <a:buChar char="❑"/>
              <a:defRPr sz="2400"/>
            </a:lvl1pPr>
            <a:lvl2pPr marL="914400" lvl="1" indent="-355600" algn="l">
              <a:lnSpc>
                <a:spcPct val="100000"/>
              </a:lnSpc>
              <a:spcBef>
                <a:spcPts val="400"/>
              </a:spcBef>
              <a:spcAft>
                <a:spcPts val="0"/>
              </a:spcAft>
              <a:buClr>
                <a:schemeClr val="dk1"/>
              </a:buClr>
              <a:buSzPts val="2000"/>
              <a:buChar char="▪"/>
              <a:defRPr sz="2000"/>
            </a:lvl2pPr>
            <a:lvl3pPr marL="1371600" lvl="2" indent="-342900" algn="l">
              <a:lnSpc>
                <a:spcPct val="100000"/>
              </a:lnSpc>
              <a:spcBef>
                <a:spcPts val="360"/>
              </a:spcBef>
              <a:spcAft>
                <a:spcPts val="0"/>
              </a:spcAft>
              <a:buClr>
                <a:schemeClr val="dk1"/>
              </a:buClr>
              <a:buSzPts val="1800"/>
              <a:buChar char="▪"/>
              <a:defRPr sz="1800"/>
            </a:lvl3pPr>
            <a:lvl4pPr marL="1828800" lvl="3" indent="-330200" algn="l">
              <a:lnSpc>
                <a:spcPct val="100000"/>
              </a:lnSpc>
              <a:spcBef>
                <a:spcPts val="320"/>
              </a:spcBef>
              <a:spcAft>
                <a:spcPts val="0"/>
              </a:spcAft>
              <a:buClr>
                <a:schemeClr val="dk1"/>
              </a:buClr>
              <a:buSzPts val="1600"/>
              <a:buChar char="▪"/>
              <a:defRPr sz="1600"/>
            </a:lvl4pPr>
            <a:lvl5pPr marL="2286000" lvl="4" indent="-330200" algn="l">
              <a:lnSpc>
                <a:spcPct val="100000"/>
              </a:lnSpc>
              <a:spcBef>
                <a:spcPts val="320"/>
              </a:spcBef>
              <a:spcAft>
                <a:spcPts val="0"/>
              </a:spcAft>
              <a:buClr>
                <a:schemeClr val="dk1"/>
              </a:buClr>
              <a:buSzPts val="1600"/>
              <a:buChar char="▪"/>
              <a:defRPr sz="1600"/>
            </a:lvl5pPr>
            <a:lvl6pPr marL="2743200" lvl="5" indent="-330200" algn="l">
              <a:lnSpc>
                <a:spcPct val="100000"/>
              </a:lnSpc>
              <a:spcBef>
                <a:spcPts val="320"/>
              </a:spcBef>
              <a:spcAft>
                <a:spcPts val="0"/>
              </a:spcAft>
              <a:buClr>
                <a:schemeClr val="dk1"/>
              </a:buClr>
              <a:buSzPts val="1600"/>
              <a:buChar char="•"/>
              <a:defRPr sz="1600"/>
            </a:lvl6pPr>
            <a:lvl7pPr marL="3200400" lvl="6" indent="-330200" algn="l">
              <a:lnSpc>
                <a:spcPct val="100000"/>
              </a:lnSpc>
              <a:spcBef>
                <a:spcPts val="320"/>
              </a:spcBef>
              <a:spcAft>
                <a:spcPts val="0"/>
              </a:spcAft>
              <a:buClr>
                <a:schemeClr val="dk1"/>
              </a:buClr>
              <a:buSzPts val="1600"/>
              <a:buChar char="•"/>
              <a:defRPr sz="1600"/>
            </a:lvl7pPr>
            <a:lvl8pPr marL="3657600" lvl="7" indent="-330200" algn="l">
              <a:lnSpc>
                <a:spcPct val="100000"/>
              </a:lnSpc>
              <a:spcBef>
                <a:spcPts val="320"/>
              </a:spcBef>
              <a:spcAft>
                <a:spcPts val="0"/>
              </a:spcAft>
              <a:buClr>
                <a:schemeClr val="dk1"/>
              </a:buClr>
              <a:buSzPts val="1600"/>
              <a:buChar char="•"/>
              <a:defRPr sz="1600"/>
            </a:lvl8pPr>
            <a:lvl9pPr marL="4114800" lvl="8" indent="-330200" algn="l">
              <a:lnSpc>
                <a:spcPct val="100000"/>
              </a:lnSpc>
              <a:spcBef>
                <a:spcPts val="320"/>
              </a:spcBef>
              <a:spcAft>
                <a:spcPts val="0"/>
              </a:spcAft>
              <a:buClr>
                <a:schemeClr val="dk1"/>
              </a:buClr>
              <a:buSzPts val="1600"/>
              <a:buChar char="•"/>
              <a:defRPr sz="1600"/>
            </a:lvl9pPr>
          </a:lstStyle>
          <a:p>
            <a:endParaRPr/>
          </a:p>
        </p:txBody>
      </p:sp>
      <p:sp>
        <p:nvSpPr>
          <p:cNvPr id="46" name="Google Shape;46;p17"/>
          <p:cNvSpPr txBox="1">
            <a:spLocks noGrp="1"/>
          </p:cNvSpPr>
          <p:nvPr>
            <p:ph type="dt" idx="10"/>
          </p:nvPr>
        </p:nvSpPr>
        <p:spPr>
          <a:xfrm>
            <a:off x="457200" y="6381396"/>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fld id="{232A0925-4DFA-4031-AC1C-EE687C8A35B9}" type="datetime1">
              <a:rPr lang="en-US" smtClean="0"/>
              <a:pPr/>
              <a:t>10/30/2026</a:t>
            </a:fld>
            <a:endParaRPr lang="en-US"/>
          </a:p>
        </p:txBody>
      </p:sp>
      <p:sp>
        <p:nvSpPr>
          <p:cNvPr id="47" name="Google Shape;47;p17"/>
          <p:cNvSpPr txBox="1">
            <a:spLocks noGrp="1"/>
          </p:cNvSpPr>
          <p:nvPr>
            <p:ph type="ftr" idx="11"/>
          </p:nvPr>
        </p:nvSpPr>
        <p:spPr>
          <a:xfrm>
            <a:off x="3122488" y="6373546"/>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lang="en-US"/>
          </a:p>
        </p:txBody>
      </p:sp>
      <p:sp>
        <p:nvSpPr>
          <p:cNvPr id="48" name="Google Shape;48;p17"/>
          <p:cNvSpPr txBox="1">
            <a:spLocks noGrp="1"/>
          </p:cNvSpPr>
          <p:nvPr>
            <p:ph type="sldNum" idx="12"/>
          </p:nvPr>
        </p:nvSpPr>
        <p:spPr>
          <a:xfrm>
            <a:off x="6553200" y="6373546"/>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9pPr>
          </a:lstStyle>
          <a:p>
            <a:fld id="{B6F15528-21DE-4FAA-801E-634DDDAF4B2B}" type="slidenum">
              <a:rPr lang="en-US" smtClean="0"/>
              <a:pPr/>
              <a:t>‹#›</a:t>
            </a:fld>
            <a:endParaRPr lang="en-US"/>
          </a:p>
        </p:txBody>
      </p:sp>
    </p:spTree>
    <p:extLst>
      <p:ext uri="{BB962C8B-B14F-4D97-AF65-F5344CB8AC3E}">
        <p14:creationId xmlns:p14="http://schemas.microsoft.com/office/powerpoint/2010/main" val="2932497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ntent with Caption" type="objTx">
  <p:cSld name="Content with Caption">
    <p:spTree>
      <p:nvGrpSpPr>
        <p:cNvPr id="1" name="Shape 58"/>
        <p:cNvGrpSpPr/>
        <p:nvPr/>
      </p:nvGrpSpPr>
      <p:grpSpPr>
        <a:xfrm>
          <a:off x="0" y="0"/>
          <a:ext cx="0" cy="0"/>
          <a:chOff x="0" y="0"/>
          <a:chExt cx="0" cy="0"/>
        </a:xfrm>
      </p:grpSpPr>
      <p:sp>
        <p:nvSpPr>
          <p:cNvPr id="59" name="Google Shape;59;p20"/>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1"/>
              </a:buClr>
              <a:buSzPts val="2000"/>
              <a:buFont typeface="Calibri"/>
              <a:buNone/>
              <a:defRPr sz="2000" b="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20"/>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640"/>
              </a:spcBef>
              <a:spcAft>
                <a:spcPts val="0"/>
              </a:spcAft>
              <a:buClr>
                <a:schemeClr val="dk1"/>
              </a:buClr>
              <a:buSzPts val="3200"/>
              <a:buChar char="❑"/>
              <a:defRPr sz="3200"/>
            </a:lvl1pPr>
            <a:lvl2pPr marL="914400" lvl="1" indent="-406400" algn="l">
              <a:lnSpc>
                <a:spcPct val="100000"/>
              </a:lnSpc>
              <a:spcBef>
                <a:spcPts val="560"/>
              </a:spcBef>
              <a:spcAft>
                <a:spcPts val="0"/>
              </a:spcAft>
              <a:buClr>
                <a:schemeClr val="dk1"/>
              </a:buClr>
              <a:buSzPts val="2800"/>
              <a:buChar char="▪"/>
              <a:defRPr sz="2800"/>
            </a:lvl2pPr>
            <a:lvl3pPr marL="1371600" lvl="2" indent="-381000" algn="l">
              <a:lnSpc>
                <a:spcPct val="100000"/>
              </a:lnSpc>
              <a:spcBef>
                <a:spcPts val="480"/>
              </a:spcBef>
              <a:spcAft>
                <a:spcPts val="0"/>
              </a:spcAft>
              <a:buClr>
                <a:schemeClr val="dk1"/>
              </a:buClr>
              <a:buSzPts val="2400"/>
              <a:buChar char="▪"/>
              <a:defRPr sz="2400"/>
            </a:lvl3pPr>
            <a:lvl4pPr marL="1828800" lvl="3" indent="-355600" algn="l">
              <a:lnSpc>
                <a:spcPct val="100000"/>
              </a:lnSpc>
              <a:spcBef>
                <a:spcPts val="400"/>
              </a:spcBef>
              <a:spcAft>
                <a:spcPts val="0"/>
              </a:spcAft>
              <a:buClr>
                <a:schemeClr val="dk1"/>
              </a:buClr>
              <a:buSzPts val="2000"/>
              <a:buChar char="▪"/>
              <a:defRPr sz="2000"/>
            </a:lvl4pPr>
            <a:lvl5pPr marL="2286000" lvl="4" indent="-355600" algn="l">
              <a:lnSpc>
                <a:spcPct val="100000"/>
              </a:lnSpc>
              <a:spcBef>
                <a:spcPts val="400"/>
              </a:spcBef>
              <a:spcAft>
                <a:spcPts val="0"/>
              </a:spcAft>
              <a:buClr>
                <a:schemeClr val="dk1"/>
              </a:buClr>
              <a:buSzPts val="2000"/>
              <a:buChar char="▪"/>
              <a:defRPr sz="2000"/>
            </a:lvl5pPr>
            <a:lvl6pPr marL="2743200" lvl="5" indent="-355600" algn="l">
              <a:lnSpc>
                <a:spcPct val="100000"/>
              </a:lnSpc>
              <a:spcBef>
                <a:spcPts val="400"/>
              </a:spcBef>
              <a:spcAft>
                <a:spcPts val="0"/>
              </a:spcAft>
              <a:buClr>
                <a:schemeClr val="dk1"/>
              </a:buClr>
              <a:buSzPts val="2000"/>
              <a:buChar char="•"/>
              <a:defRPr sz="2000"/>
            </a:lvl6pPr>
            <a:lvl7pPr marL="3200400" lvl="6" indent="-355600" algn="l">
              <a:lnSpc>
                <a:spcPct val="100000"/>
              </a:lnSpc>
              <a:spcBef>
                <a:spcPts val="400"/>
              </a:spcBef>
              <a:spcAft>
                <a:spcPts val="0"/>
              </a:spcAft>
              <a:buClr>
                <a:schemeClr val="dk1"/>
              </a:buClr>
              <a:buSzPts val="2000"/>
              <a:buChar char="•"/>
              <a:defRPr sz="2000"/>
            </a:lvl7pPr>
            <a:lvl8pPr marL="3657600" lvl="7" indent="-355600" algn="l">
              <a:lnSpc>
                <a:spcPct val="100000"/>
              </a:lnSpc>
              <a:spcBef>
                <a:spcPts val="400"/>
              </a:spcBef>
              <a:spcAft>
                <a:spcPts val="0"/>
              </a:spcAft>
              <a:buClr>
                <a:schemeClr val="dk1"/>
              </a:buClr>
              <a:buSzPts val="2000"/>
              <a:buChar char="•"/>
              <a:defRPr sz="2000"/>
            </a:lvl8pPr>
            <a:lvl9pPr marL="4114800" lvl="8" indent="-355600" algn="l">
              <a:lnSpc>
                <a:spcPct val="100000"/>
              </a:lnSpc>
              <a:spcBef>
                <a:spcPts val="400"/>
              </a:spcBef>
              <a:spcAft>
                <a:spcPts val="0"/>
              </a:spcAft>
              <a:buClr>
                <a:schemeClr val="dk1"/>
              </a:buClr>
              <a:buSzPts val="2000"/>
              <a:buChar char="•"/>
              <a:defRPr sz="2000"/>
            </a:lvl9pPr>
          </a:lstStyle>
          <a:p>
            <a:endParaRPr/>
          </a:p>
        </p:txBody>
      </p:sp>
      <p:sp>
        <p:nvSpPr>
          <p:cNvPr id="61" name="Google Shape;61;p20"/>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280"/>
              </a:spcBef>
              <a:spcAft>
                <a:spcPts val="0"/>
              </a:spcAft>
              <a:buClr>
                <a:schemeClr val="dk1"/>
              </a:buClr>
              <a:buSzPts val="1400"/>
              <a:buNone/>
              <a:defRPr sz="1400"/>
            </a:lvl1pPr>
            <a:lvl2pPr marL="914400" lvl="1" indent="-228600" algn="l">
              <a:lnSpc>
                <a:spcPct val="100000"/>
              </a:lnSpc>
              <a:spcBef>
                <a:spcPts val="240"/>
              </a:spcBef>
              <a:spcAft>
                <a:spcPts val="0"/>
              </a:spcAft>
              <a:buClr>
                <a:schemeClr val="dk1"/>
              </a:buClr>
              <a:buSzPts val="1200"/>
              <a:buNone/>
              <a:defRPr sz="1200"/>
            </a:lvl2pPr>
            <a:lvl3pPr marL="1371600" lvl="2" indent="-228600" algn="l">
              <a:lnSpc>
                <a:spcPct val="100000"/>
              </a:lnSpc>
              <a:spcBef>
                <a:spcPts val="200"/>
              </a:spcBef>
              <a:spcAft>
                <a:spcPts val="0"/>
              </a:spcAft>
              <a:buClr>
                <a:schemeClr val="dk1"/>
              </a:buClr>
              <a:buSzPts val="1000"/>
              <a:buNone/>
              <a:defRPr sz="1000"/>
            </a:lvl3pPr>
            <a:lvl4pPr marL="1828800" lvl="3" indent="-228600" algn="l">
              <a:lnSpc>
                <a:spcPct val="100000"/>
              </a:lnSpc>
              <a:spcBef>
                <a:spcPts val="180"/>
              </a:spcBef>
              <a:spcAft>
                <a:spcPts val="0"/>
              </a:spcAft>
              <a:buClr>
                <a:schemeClr val="dk1"/>
              </a:buClr>
              <a:buSzPts val="900"/>
              <a:buNone/>
              <a:defRPr sz="900"/>
            </a:lvl4pPr>
            <a:lvl5pPr marL="2286000" lvl="4" indent="-228600" algn="l">
              <a:lnSpc>
                <a:spcPct val="100000"/>
              </a:lnSpc>
              <a:spcBef>
                <a:spcPts val="180"/>
              </a:spcBef>
              <a:spcAft>
                <a:spcPts val="0"/>
              </a:spcAft>
              <a:buClr>
                <a:schemeClr val="dk1"/>
              </a:buClr>
              <a:buSzPts val="900"/>
              <a:buNone/>
              <a:defRPr sz="900"/>
            </a:lvl5pPr>
            <a:lvl6pPr marL="2743200" lvl="5" indent="-228600" algn="l">
              <a:lnSpc>
                <a:spcPct val="100000"/>
              </a:lnSpc>
              <a:spcBef>
                <a:spcPts val="180"/>
              </a:spcBef>
              <a:spcAft>
                <a:spcPts val="0"/>
              </a:spcAft>
              <a:buClr>
                <a:schemeClr val="dk1"/>
              </a:buClr>
              <a:buSzPts val="900"/>
              <a:buNone/>
              <a:defRPr sz="900"/>
            </a:lvl6pPr>
            <a:lvl7pPr marL="3200400" lvl="6" indent="-228600" algn="l">
              <a:lnSpc>
                <a:spcPct val="100000"/>
              </a:lnSpc>
              <a:spcBef>
                <a:spcPts val="180"/>
              </a:spcBef>
              <a:spcAft>
                <a:spcPts val="0"/>
              </a:spcAft>
              <a:buClr>
                <a:schemeClr val="dk1"/>
              </a:buClr>
              <a:buSzPts val="900"/>
              <a:buNone/>
              <a:defRPr sz="900"/>
            </a:lvl7pPr>
            <a:lvl8pPr marL="3657600" lvl="7" indent="-228600" algn="l">
              <a:lnSpc>
                <a:spcPct val="100000"/>
              </a:lnSpc>
              <a:spcBef>
                <a:spcPts val="180"/>
              </a:spcBef>
              <a:spcAft>
                <a:spcPts val="0"/>
              </a:spcAft>
              <a:buClr>
                <a:schemeClr val="dk1"/>
              </a:buClr>
              <a:buSzPts val="900"/>
              <a:buNone/>
              <a:defRPr sz="900"/>
            </a:lvl8pPr>
            <a:lvl9pPr marL="4114800" lvl="8" indent="-228600" algn="l">
              <a:lnSpc>
                <a:spcPct val="100000"/>
              </a:lnSpc>
              <a:spcBef>
                <a:spcPts val="180"/>
              </a:spcBef>
              <a:spcAft>
                <a:spcPts val="0"/>
              </a:spcAft>
              <a:buClr>
                <a:schemeClr val="dk1"/>
              </a:buClr>
              <a:buSzPts val="900"/>
              <a:buNone/>
              <a:defRPr sz="900"/>
            </a:lvl9pPr>
          </a:lstStyle>
          <a:p>
            <a:endParaRPr/>
          </a:p>
        </p:txBody>
      </p:sp>
      <p:sp>
        <p:nvSpPr>
          <p:cNvPr id="62" name="Google Shape;62;p20"/>
          <p:cNvSpPr txBox="1">
            <a:spLocks noGrp="1"/>
          </p:cNvSpPr>
          <p:nvPr>
            <p:ph type="dt" idx="10"/>
          </p:nvPr>
        </p:nvSpPr>
        <p:spPr>
          <a:xfrm>
            <a:off x="457200" y="6381396"/>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fld id="{81C7D5A3-45C0-4945-9331-D861858FAA3A}" type="datetime1">
              <a:rPr lang="en-US" smtClean="0"/>
              <a:pPr/>
              <a:t>10/30/2026</a:t>
            </a:fld>
            <a:endParaRPr lang="en-US"/>
          </a:p>
        </p:txBody>
      </p:sp>
      <p:sp>
        <p:nvSpPr>
          <p:cNvPr id="63" name="Google Shape;63;p20"/>
          <p:cNvSpPr txBox="1">
            <a:spLocks noGrp="1"/>
          </p:cNvSpPr>
          <p:nvPr>
            <p:ph type="ftr" idx="11"/>
          </p:nvPr>
        </p:nvSpPr>
        <p:spPr>
          <a:xfrm>
            <a:off x="3122488" y="6373546"/>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lang="en-US"/>
          </a:p>
        </p:txBody>
      </p:sp>
      <p:sp>
        <p:nvSpPr>
          <p:cNvPr id="64" name="Google Shape;64;p20"/>
          <p:cNvSpPr txBox="1">
            <a:spLocks noGrp="1"/>
          </p:cNvSpPr>
          <p:nvPr>
            <p:ph type="sldNum" idx="12"/>
          </p:nvPr>
        </p:nvSpPr>
        <p:spPr>
          <a:xfrm>
            <a:off x="6553200" y="6373546"/>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9pPr>
          </a:lstStyle>
          <a:p>
            <a:fld id="{B6F15528-21DE-4FAA-801E-634DDDAF4B2B}" type="slidenum">
              <a:rPr lang="en-US" smtClean="0"/>
              <a:pPr/>
              <a:t>‹#›</a:t>
            </a:fld>
            <a:endParaRPr lang="en-US"/>
          </a:p>
        </p:txBody>
      </p:sp>
    </p:spTree>
    <p:extLst>
      <p:ext uri="{BB962C8B-B14F-4D97-AF65-F5344CB8AC3E}">
        <p14:creationId xmlns:p14="http://schemas.microsoft.com/office/powerpoint/2010/main" val="4277677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Picture with Caption" type="picTx">
  <p:cSld name="Picture with Caption">
    <p:spTree>
      <p:nvGrpSpPr>
        <p:cNvPr id="1" name="Shape 65"/>
        <p:cNvGrpSpPr/>
        <p:nvPr/>
      </p:nvGrpSpPr>
      <p:grpSpPr>
        <a:xfrm>
          <a:off x="0" y="0"/>
          <a:ext cx="0" cy="0"/>
          <a:chOff x="0" y="0"/>
          <a:chExt cx="0" cy="0"/>
        </a:xfrm>
      </p:grpSpPr>
      <p:sp>
        <p:nvSpPr>
          <p:cNvPr id="66" name="Google Shape;66;p21"/>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1"/>
              </a:buClr>
              <a:buSzPts val="2000"/>
              <a:buFont typeface="Calibri"/>
              <a:buNone/>
              <a:defRPr sz="2000" b="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21"/>
          <p:cNvSpPr>
            <a:spLocks noGrp="1"/>
          </p:cNvSpPr>
          <p:nvPr>
            <p:ph type="pic" idx="2"/>
          </p:nvPr>
        </p:nvSpPr>
        <p:spPr>
          <a:xfrm>
            <a:off x="1792288" y="612775"/>
            <a:ext cx="5486400" cy="4114800"/>
          </a:xfrm>
          <a:prstGeom prst="rect">
            <a:avLst/>
          </a:prstGeom>
          <a:noFill/>
          <a:ln>
            <a:noFill/>
          </a:ln>
        </p:spPr>
      </p:sp>
      <p:sp>
        <p:nvSpPr>
          <p:cNvPr id="68" name="Google Shape;68;p21"/>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280"/>
              </a:spcBef>
              <a:spcAft>
                <a:spcPts val="0"/>
              </a:spcAft>
              <a:buClr>
                <a:schemeClr val="dk1"/>
              </a:buClr>
              <a:buSzPts val="1400"/>
              <a:buNone/>
              <a:defRPr sz="1400"/>
            </a:lvl1pPr>
            <a:lvl2pPr marL="914400" lvl="1" indent="-228600" algn="l">
              <a:lnSpc>
                <a:spcPct val="100000"/>
              </a:lnSpc>
              <a:spcBef>
                <a:spcPts val="240"/>
              </a:spcBef>
              <a:spcAft>
                <a:spcPts val="0"/>
              </a:spcAft>
              <a:buClr>
                <a:schemeClr val="dk1"/>
              </a:buClr>
              <a:buSzPts val="1200"/>
              <a:buNone/>
              <a:defRPr sz="1200"/>
            </a:lvl2pPr>
            <a:lvl3pPr marL="1371600" lvl="2" indent="-228600" algn="l">
              <a:lnSpc>
                <a:spcPct val="100000"/>
              </a:lnSpc>
              <a:spcBef>
                <a:spcPts val="200"/>
              </a:spcBef>
              <a:spcAft>
                <a:spcPts val="0"/>
              </a:spcAft>
              <a:buClr>
                <a:schemeClr val="dk1"/>
              </a:buClr>
              <a:buSzPts val="1000"/>
              <a:buNone/>
              <a:defRPr sz="1000"/>
            </a:lvl3pPr>
            <a:lvl4pPr marL="1828800" lvl="3" indent="-228600" algn="l">
              <a:lnSpc>
                <a:spcPct val="100000"/>
              </a:lnSpc>
              <a:spcBef>
                <a:spcPts val="180"/>
              </a:spcBef>
              <a:spcAft>
                <a:spcPts val="0"/>
              </a:spcAft>
              <a:buClr>
                <a:schemeClr val="dk1"/>
              </a:buClr>
              <a:buSzPts val="900"/>
              <a:buNone/>
              <a:defRPr sz="900"/>
            </a:lvl4pPr>
            <a:lvl5pPr marL="2286000" lvl="4" indent="-228600" algn="l">
              <a:lnSpc>
                <a:spcPct val="100000"/>
              </a:lnSpc>
              <a:spcBef>
                <a:spcPts val="180"/>
              </a:spcBef>
              <a:spcAft>
                <a:spcPts val="0"/>
              </a:spcAft>
              <a:buClr>
                <a:schemeClr val="dk1"/>
              </a:buClr>
              <a:buSzPts val="900"/>
              <a:buNone/>
              <a:defRPr sz="900"/>
            </a:lvl5pPr>
            <a:lvl6pPr marL="2743200" lvl="5" indent="-228600" algn="l">
              <a:lnSpc>
                <a:spcPct val="100000"/>
              </a:lnSpc>
              <a:spcBef>
                <a:spcPts val="180"/>
              </a:spcBef>
              <a:spcAft>
                <a:spcPts val="0"/>
              </a:spcAft>
              <a:buClr>
                <a:schemeClr val="dk1"/>
              </a:buClr>
              <a:buSzPts val="900"/>
              <a:buNone/>
              <a:defRPr sz="900"/>
            </a:lvl6pPr>
            <a:lvl7pPr marL="3200400" lvl="6" indent="-228600" algn="l">
              <a:lnSpc>
                <a:spcPct val="100000"/>
              </a:lnSpc>
              <a:spcBef>
                <a:spcPts val="180"/>
              </a:spcBef>
              <a:spcAft>
                <a:spcPts val="0"/>
              </a:spcAft>
              <a:buClr>
                <a:schemeClr val="dk1"/>
              </a:buClr>
              <a:buSzPts val="900"/>
              <a:buNone/>
              <a:defRPr sz="900"/>
            </a:lvl7pPr>
            <a:lvl8pPr marL="3657600" lvl="7" indent="-228600" algn="l">
              <a:lnSpc>
                <a:spcPct val="100000"/>
              </a:lnSpc>
              <a:spcBef>
                <a:spcPts val="180"/>
              </a:spcBef>
              <a:spcAft>
                <a:spcPts val="0"/>
              </a:spcAft>
              <a:buClr>
                <a:schemeClr val="dk1"/>
              </a:buClr>
              <a:buSzPts val="900"/>
              <a:buNone/>
              <a:defRPr sz="900"/>
            </a:lvl8pPr>
            <a:lvl9pPr marL="4114800" lvl="8" indent="-228600" algn="l">
              <a:lnSpc>
                <a:spcPct val="100000"/>
              </a:lnSpc>
              <a:spcBef>
                <a:spcPts val="180"/>
              </a:spcBef>
              <a:spcAft>
                <a:spcPts val="0"/>
              </a:spcAft>
              <a:buClr>
                <a:schemeClr val="dk1"/>
              </a:buClr>
              <a:buSzPts val="900"/>
              <a:buNone/>
              <a:defRPr sz="900"/>
            </a:lvl9pPr>
          </a:lstStyle>
          <a:p>
            <a:endParaRPr/>
          </a:p>
        </p:txBody>
      </p:sp>
      <p:sp>
        <p:nvSpPr>
          <p:cNvPr id="69" name="Google Shape;69;p21"/>
          <p:cNvSpPr txBox="1">
            <a:spLocks noGrp="1"/>
          </p:cNvSpPr>
          <p:nvPr>
            <p:ph type="dt" idx="10"/>
          </p:nvPr>
        </p:nvSpPr>
        <p:spPr>
          <a:xfrm>
            <a:off x="457200" y="6381396"/>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fld id="{17379806-2787-4536-BE2E-76D988C62929}" type="datetime1">
              <a:rPr lang="en-US" smtClean="0"/>
              <a:pPr/>
              <a:t>10/30/2026</a:t>
            </a:fld>
            <a:endParaRPr lang="en-US"/>
          </a:p>
        </p:txBody>
      </p:sp>
      <p:sp>
        <p:nvSpPr>
          <p:cNvPr id="70" name="Google Shape;70;p21"/>
          <p:cNvSpPr txBox="1">
            <a:spLocks noGrp="1"/>
          </p:cNvSpPr>
          <p:nvPr>
            <p:ph type="ftr" idx="11"/>
          </p:nvPr>
        </p:nvSpPr>
        <p:spPr>
          <a:xfrm>
            <a:off x="3122488" y="6373546"/>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lang="en-US"/>
          </a:p>
        </p:txBody>
      </p:sp>
      <p:sp>
        <p:nvSpPr>
          <p:cNvPr id="71" name="Google Shape;71;p21"/>
          <p:cNvSpPr txBox="1">
            <a:spLocks noGrp="1"/>
          </p:cNvSpPr>
          <p:nvPr>
            <p:ph type="sldNum" idx="12"/>
          </p:nvPr>
        </p:nvSpPr>
        <p:spPr>
          <a:xfrm>
            <a:off x="6553200" y="6373546"/>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9pPr>
          </a:lstStyle>
          <a:p>
            <a:fld id="{B6F15528-21DE-4FAA-801E-634DDDAF4B2B}" type="slidenum">
              <a:rPr lang="en-US" smtClean="0"/>
              <a:pPr/>
              <a:t>‹#›</a:t>
            </a:fld>
            <a:endParaRPr lang="en-US"/>
          </a:p>
        </p:txBody>
      </p:sp>
    </p:spTree>
    <p:extLst>
      <p:ext uri="{BB962C8B-B14F-4D97-AF65-F5344CB8AC3E}">
        <p14:creationId xmlns:p14="http://schemas.microsoft.com/office/powerpoint/2010/main" val="2889976883"/>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Vertical Text" type="vertTx">
  <p:cSld name="Title and Vertical Text">
    <p:spTree>
      <p:nvGrpSpPr>
        <p:cNvPr id="1" name="Shape 72"/>
        <p:cNvGrpSpPr/>
        <p:nvPr/>
      </p:nvGrpSpPr>
      <p:grpSpPr>
        <a:xfrm>
          <a:off x="0" y="0"/>
          <a:ext cx="0" cy="0"/>
          <a:chOff x="0" y="0"/>
          <a:chExt cx="0" cy="0"/>
        </a:xfrm>
      </p:grpSpPr>
      <p:sp>
        <p:nvSpPr>
          <p:cNvPr id="73" name="Google Shape;73;p22"/>
          <p:cNvSpPr txBox="1">
            <a:spLocks noGrp="1"/>
          </p:cNvSpPr>
          <p:nvPr>
            <p:ph type="title"/>
          </p:nvPr>
        </p:nvSpPr>
        <p:spPr>
          <a:xfrm>
            <a:off x="457200" y="1295400"/>
            <a:ext cx="8229600" cy="9144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2"/>
          <p:cNvSpPr txBox="1">
            <a:spLocks noGrp="1"/>
          </p:cNvSpPr>
          <p:nvPr>
            <p:ph type="body" idx="1"/>
          </p:nvPr>
        </p:nvSpPr>
        <p:spPr>
          <a:xfrm rot="5400000">
            <a:off x="2536824" y="206375"/>
            <a:ext cx="4070351" cy="8229600"/>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360"/>
              </a:spcBef>
              <a:spcAft>
                <a:spcPts val="0"/>
              </a:spcAft>
              <a:buClr>
                <a:schemeClr val="dk1"/>
              </a:buClr>
              <a:buSzPts val="1800"/>
              <a:buChar char="❑"/>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75" name="Google Shape;75;p22"/>
          <p:cNvSpPr txBox="1">
            <a:spLocks noGrp="1"/>
          </p:cNvSpPr>
          <p:nvPr>
            <p:ph type="dt" idx="10"/>
          </p:nvPr>
        </p:nvSpPr>
        <p:spPr>
          <a:xfrm>
            <a:off x="457200" y="6381396"/>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fld id="{A1904A80-5AB2-42BC-8BEE-7DD0D76C722C}" type="datetime1">
              <a:rPr lang="en-US" smtClean="0"/>
              <a:pPr/>
              <a:t>10/30/2026</a:t>
            </a:fld>
            <a:endParaRPr lang="en-US"/>
          </a:p>
        </p:txBody>
      </p:sp>
      <p:sp>
        <p:nvSpPr>
          <p:cNvPr id="76" name="Google Shape;76;p22"/>
          <p:cNvSpPr txBox="1">
            <a:spLocks noGrp="1"/>
          </p:cNvSpPr>
          <p:nvPr>
            <p:ph type="ftr" idx="11"/>
          </p:nvPr>
        </p:nvSpPr>
        <p:spPr>
          <a:xfrm>
            <a:off x="3122488" y="6373546"/>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lang="en-US"/>
          </a:p>
        </p:txBody>
      </p:sp>
      <p:sp>
        <p:nvSpPr>
          <p:cNvPr id="77" name="Google Shape;77;p22"/>
          <p:cNvSpPr txBox="1">
            <a:spLocks noGrp="1"/>
          </p:cNvSpPr>
          <p:nvPr>
            <p:ph type="sldNum" idx="12"/>
          </p:nvPr>
        </p:nvSpPr>
        <p:spPr>
          <a:xfrm>
            <a:off x="6553200" y="6373546"/>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9pPr>
          </a:lstStyle>
          <a:p>
            <a:fld id="{B6F15528-21DE-4FAA-801E-634DDDAF4B2B}" type="slidenum">
              <a:rPr lang="en-US" smtClean="0"/>
              <a:pPr/>
              <a:t>‹#›</a:t>
            </a:fld>
            <a:endParaRPr lang="en-US"/>
          </a:p>
        </p:txBody>
      </p:sp>
    </p:spTree>
    <p:extLst>
      <p:ext uri="{BB962C8B-B14F-4D97-AF65-F5344CB8AC3E}">
        <p14:creationId xmlns:p14="http://schemas.microsoft.com/office/powerpoint/2010/main" val="41022962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 Title and Text">
    <p:spTree>
      <p:nvGrpSpPr>
        <p:cNvPr id="1" name="Shape 78"/>
        <p:cNvGrpSpPr/>
        <p:nvPr/>
      </p:nvGrpSpPr>
      <p:grpSpPr>
        <a:xfrm>
          <a:off x="0" y="0"/>
          <a:ext cx="0" cy="0"/>
          <a:chOff x="0" y="0"/>
          <a:chExt cx="0" cy="0"/>
        </a:xfrm>
      </p:grpSpPr>
      <p:sp>
        <p:nvSpPr>
          <p:cNvPr id="79" name="Google Shape;79;p23"/>
          <p:cNvSpPr txBox="1">
            <a:spLocks noGrp="1"/>
          </p:cNvSpPr>
          <p:nvPr>
            <p:ph type="title"/>
          </p:nvPr>
        </p:nvSpPr>
        <p:spPr>
          <a:xfrm rot="5400000">
            <a:off x="4732337" y="2171700"/>
            <a:ext cx="5851525" cy="20574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23"/>
          <p:cNvSpPr txBox="1">
            <a:spLocks noGrp="1"/>
          </p:cNvSpPr>
          <p:nvPr>
            <p:ph type="body" idx="1"/>
          </p:nvPr>
        </p:nvSpPr>
        <p:spPr>
          <a:xfrm rot="5400000">
            <a:off x="541338" y="190501"/>
            <a:ext cx="5851525" cy="6019800"/>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360"/>
              </a:spcBef>
              <a:spcAft>
                <a:spcPts val="0"/>
              </a:spcAft>
              <a:buClr>
                <a:schemeClr val="dk1"/>
              </a:buClr>
              <a:buSzPts val="1800"/>
              <a:buChar char="❑"/>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81" name="Google Shape;81;p23"/>
          <p:cNvSpPr txBox="1">
            <a:spLocks noGrp="1"/>
          </p:cNvSpPr>
          <p:nvPr>
            <p:ph type="dt" idx="10"/>
          </p:nvPr>
        </p:nvSpPr>
        <p:spPr>
          <a:xfrm>
            <a:off x="457200" y="6381396"/>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fld id="{5C9A9B33-76AE-4D19-9682-D146607365AE}" type="datetime1">
              <a:rPr lang="en-US" smtClean="0"/>
              <a:pPr/>
              <a:t>10/30/2026</a:t>
            </a:fld>
            <a:endParaRPr lang="en-US"/>
          </a:p>
        </p:txBody>
      </p:sp>
      <p:sp>
        <p:nvSpPr>
          <p:cNvPr id="82" name="Google Shape;82;p23"/>
          <p:cNvSpPr txBox="1">
            <a:spLocks noGrp="1"/>
          </p:cNvSpPr>
          <p:nvPr>
            <p:ph type="ftr" idx="11"/>
          </p:nvPr>
        </p:nvSpPr>
        <p:spPr>
          <a:xfrm>
            <a:off x="3122488" y="6373546"/>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lang="en-US"/>
          </a:p>
        </p:txBody>
      </p:sp>
      <p:sp>
        <p:nvSpPr>
          <p:cNvPr id="83" name="Google Shape;83;p23"/>
          <p:cNvSpPr txBox="1">
            <a:spLocks noGrp="1"/>
          </p:cNvSpPr>
          <p:nvPr>
            <p:ph type="sldNum" idx="12"/>
          </p:nvPr>
        </p:nvSpPr>
        <p:spPr>
          <a:xfrm>
            <a:off x="6553200" y="6373546"/>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9pPr>
          </a:lstStyle>
          <a:p>
            <a:fld id="{B6F15528-21DE-4FAA-801E-634DDDAF4B2B}" type="slidenum">
              <a:rPr lang="en-US" smtClean="0"/>
              <a:pPr/>
              <a:t>‹#›</a:t>
            </a:fld>
            <a:endParaRPr lang="en-US"/>
          </a:p>
        </p:txBody>
      </p:sp>
    </p:spTree>
    <p:extLst>
      <p:ext uri="{BB962C8B-B14F-4D97-AF65-F5344CB8AC3E}">
        <p14:creationId xmlns:p14="http://schemas.microsoft.com/office/powerpoint/2010/main" val="14341747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C253461-3314-417A-9E69-8C7D69C055C2}" type="datetime1">
              <a:rPr lang="en-US" smtClean="0"/>
              <a:pPr/>
              <a:t>10/30/2026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726473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fld id="{E38F9D56-42E6-4D5F-BCD7-8DF45E18B82B}" type="datetime1">
              <a:rPr lang="en-US" smtClean="0"/>
              <a:pPr/>
              <a:t>10/30/2026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91522953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a:blip r:embed="rId13">
            <a:alphaModFix/>
          </a:blip>
          <a:stretch>
            <a:fillRect/>
          </a:stretch>
        </a:blipFill>
        <a:effectLst/>
      </p:bgPr>
    </p:bg>
    <p:spTree>
      <p:nvGrpSpPr>
        <p:cNvPr id="1" name="Shape 9"/>
        <p:cNvGrpSpPr/>
        <p:nvPr/>
      </p:nvGrpSpPr>
      <p:grpSpPr>
        <a:xfrm>
          <a:off x="0" y="0"/>
          <a:ext cx="0" cy="0"/>
          <a:chOff x="0" y="0"/>
          <a:chExt cx="0" cy="0"/>
        </a:xfrm>
      </p:grpSpPr>
      <p:sp>
        <p:nvSpPr>
          <p:cNvPr id="10" name="Google Shape;10;p12"/>
          <p:cNvSpPr txBox="1">
            <a:spLocks noGrp="1"/>
          </p:cNvSpPr>
          <p:nvPr>
            <p:ph type="title"/>
          </p:nvPr>
        </p:nvSpPr>
        <p:spPr>
          <a:xfrm>
            <a:off x="457200" y="1295400"/>
            <a:ext cx="8229600" cy="914400"/>
          </a:xfrm>
          <a:prstGeom prst="rect">
            <a:avLst/>
          </a:prstGeom>
          <a:noFill/>
          <a:ln>
            <a:noFill/>
          </a:ln>
        </p:spPr>
        <p:txBody>
          <a:bodyPr spcFirstLastPara="1" wrap="square" lIns="91425" tIns="45700" rIns="91425" bIns="45700" anchor="ctr" anchorCtr="0">
            <a:normAutofit/>
          </a:bodyPr>
          <a:lstStyle>
            <a:lvl1pPr marR="0" lvl="0" algn="ctr" rtl="0">
              <a:lnSpc>
                <a:spcPct val="100000"/>
              </a:lnSpc>
              <a:spcBef>
                <a:spcPts val="0"/>
              </a:spcBef>
              <a:spcAft>
                <a:spcPts val="0"/>
              </a:spcAft>
              <a:buClr>
                <a:schemeClr val="dk1"/>
              </a:buClr>
              <a:buSzPts val="3600"/>
              <a:buFont typeface="Calibri"/>
              <a:buNone/>
              <a:defRPr sz="3600" b="1"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2"/>
          <p:cNvSpPr txBox="1">
            <a:spLocks noGrp="1"/>
          </p:cNvSpPr>
          <p:nvPr>
            <p:ph type="body" idx="1"/>
          </p:nvPr>
        </p:nvSpPr>
        <p:spPr>
          <a:xfrm>
            <a:off x="457200" y="2286000"/>
            <a:ext cx="8229600" cy="4070351"/>
          </a:xfrm>
          <a:prstGeom prst="rect">
            <a:avLst/>
          </a:prstGeom>
          <a:noFill/>
          <a:ln>
            <a:noFill/>
          </a:ln>
        </p:spPr>
        <p:txBody>
          <a:bodyPr spcFirstLastPara="1" wrap="square" lIns="91425" tIns="45700" rIns="91425" bIns="45700" anchor="t" anchorCtr="0">
            <a:normAutofit/>
          </a:bodyPr>
          <a:lstStyle>
            <a:lvl1pPr marL="457200" marR="0" lvl="0" indent="-381000" algn="l" rtl="0">
              <a:lnSpc>
                <a:spcPct val="100000"/>
              </a:lnSpc>
              <a:spcBef>
                <a:spcPts val="480"/>
              </a:spcBef>
              <a:spcAft>
                <a:spcPts val="0"/>
              </a:spcAft>
              <a:buClr>
                <a:schemeClr val="dk1"/>
              </a:buClr>
              <a:buSzPts val="2400"/>
              <a:buFont typeface="Noto Sans Symbols"/>
              <a:buChar char="❑"/>
              <a:defRPr sz="2400" b="0" i="0" u="none" strike="noStrike" cap="none">
                <a:solidFill>
                  <a:schemeClr val="dk1"/>
                </a:solidFill>
                <a:latin typeface="Calibri"/>
                <a:ea typeface="Calibri"/>
                <a:cs typeface="Calibri"/>
                <a:sym typeface="Calibri"/>
              </a:defRPr>
            </a:lvl1pPr>
            <a:lvl2pPr marL="914400" marR="0" lvl="1" indent="-355600" algn="l" rtl="0">
              <a:lnSpc>
                <a:spcPct val="100000"/>
              </a:lnSpc>
              <a:spcBef>
                <a:spcPts val="400"/>
              </a:spcBef>
              <a:spcAft>
                <a:spcPts val="0"/>
              </a:spcAft>
              <a:buClr>
                <a:schemeClr val="dk1"/>
              </a:buClr>
              <a:buSzPts val="2000"/>
              <a:buFont typeface="Noto Sans Symbols"/>
              <a:buChar char="▪"/>
              <a:defRPr sz="20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dk1"/>
              </a:buClr>
              <a:buSzPts val="1800"/>
              <a:buFont typeface="Noto Sans Symbols"/>
              <a:buChar char="▪"/>
              <a:defRPr sz="1800" b="0" i="0" u="none" strike="noStrike" cap="none">
                <a:solidFill>
                  <a:schemeClr val="dk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dk1"/>
              </a:buClr>
              <a:buSzPts val="1600"/>
              <a:buFont typeface="Noto Sans Symbols"/>
              <a:buChar char="▪"/>
              <a:defRPr sz="1600" b="0" i="0" u="none" strike="noStrike" cap="none">
                <a:solidFill>
                  <a:schemeClr val="dk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dk1"/>
              </a:buClr>
              <a:buSzPts val="1600"/>
              <a:buFont typeface="Noto Sans Symbols"/>
              <a:buChar char="▪"/>
              <a:defRPr sz="1600" b="0" i="0" u="none" strike="noStrike" cap="none">
                <a:solidFill>
                  <a:schemeClr val="dk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2" name="Google Shape;12;p12"/>
          <p:cNvSpPr txBox="1">
            <a:spLocks noGrp="1"/>
          </p:cNvSpPr>
          <p:nvPr>
            <p:ph type="dt" idx="10"/>
          </p:nvPr>
        </p:nvSpPr>
        <p:spPr>
          <a:xfrm>
            <a:off x="457200" y="6381396"/>
            <a:ext cx="21336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05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fld id="{17379806-2787-4536-BE2E-76D988C62929}" type="datetime1">
              <a:rPr lang="en-US" smtClean="0"/>
              <a:pPr/>
              <a:t>10/30/2026</a:t>
            </a:fld>
            <a:endParaRPr lang="en-US"/>
          </a:p>
        </p:txBody>
      </p:sp>
      <p:sp>
        <p:nvSpPr>
          <p:cNvPr id="13" name="Google Shape;13;p12"/>
          <p:cNvSpPr txBox="1">
            <a:spLocks noGrp="1"/>
          </p:cNvSpPr>
          <p:nvPr>
            <p:ph type="ftr" idx="11"/>
          </p:nvPr>
        </p:nvSpPr>
        <p:spPr>
          <a:xfrm>
            <a:off x="3122488" y="6373546"/>
            <a:ext cx="28956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05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lang="en-US"/>
          </a:p>
        </p:txBody>
      </p:sp>
      <p:sp>
        <p:nvSpPr>
          <p:cNvPr id="14" name="Google Shape;14;p12"/>
          <p:cNvSpPr txBox="1">
            <a:spLocks noGrp="1"/>
          </p:cNvSpPr>
          <p:nvPr>
            <p:ph type="sldNum" idx="12"/>
          </p:nvPr>
        </p:nvSpPr>
        <p:spPr>
          <a:xfrm>
            <a:off x="6553200" y="6373546"/>
            <a:ext cx="21336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050"/>
              <a:buFont typeface="Arial"/>
              <a:buNone/>
              <a:defRPr sz="1050" b="0" i="0" u="none" strike="noStrike" cap="none">
                <a:solidFill>
                  <a:srgbClr val="888888"/>
                </a:solidFill>
                <a:latin typeface="Calibri"/>
                <a:ea typeface="Calibri"/>
                <a:cs typeface="Calibri"/>
                <a:sym typeface="Calibri"/>
              </a:defRPr>
            </a:lvl9pPr>
          </a:lstStyle>
          <a:p>
            <a:fld id="{B6F15528-21DE-4FAA-801E-634DDDAF4B2B}" type="slidenum">
              <a:rPr lang="en-US" smtClean="0"/>
              <a:pPr/>
              <a:t>‹#›</a:t>
            </a:fld>
            <a:endParaRPr lang="en-US"/>
          </a:p>
        </p:txBody>
      </p:sp>
    </p:spTree>
    <p:extLst>
      <p:ext uri="{BB962C8B-B14F-4D97-AF65-F5344CB8AC3E}">
        <p14:creationId xmlns:p14="http://schemas.microsoft.com/office/powerpoint/2010/main" val="2814277150"/>
      </p:ext>
    </p:extLst>
  </p:cSld>
  <p:clrMap bg1="lt1" tx1="dk1" bg2="dk2" tx2="lt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ftr="0" dt="0"/>
  <p:txStyles>
    <p:title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13.png"/><Relationship Id="rId3" Type="http://schemas.openxmlformats.org/officeDocument/2006/relationships/image" Target="../media/image1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15.png"/><Relationship Id="rId3" Type="http://schemas.openxmlformats.org/officeDocument/2006/relationships/image" Target="../media/image1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17.png"/><Relationship Id="rId3" Type="http://schemas.openxmlformats.org/officeDocument/2006/relationships/image" Target="../media/image1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457200"/>
            <a:ext cx="7772400" cy="4347497"/>
          </a:xfrm>
        </p:spPr>
        <p:txBody>
          <a:bodyPr>
            <a:noAutofit/>
          </a:bodyPr>
          <a:lstStyle/>
          <a:p>
            <a:r>
              <a:rPr lang="en-IN" sz="2000" b="1" dirty="0">
                <a:latin typeface="Times New Roman" pitchFamily="18" charset="0"/>
                <a:cs typeface="Times New Roman" pitchFamily="18" charset="0"/>
              </a:rPr>
              <a:t>A </a:t>
            </a:r>
            <a:br>
              <a:rPr lang="en-IN" sz="2000" b="1" dirty="0">
                <a:latin typeface="Times New Roman" pitchFamily="18" charset="0"/>
                <a:cs typeface="Times New Roman" pitchFamily="18" charset="0"/>
              </a:rPr>
            </a:br>
            <a:r>
              <a:rPr lang="en-IN" sz="2000" b="1" dirty="0">
                <a:latin typeface="Times New Roman" pitchFamily="18" charset="0"/>
                <a:cs typeface="Times New Roman" pitchFamily="18" charset="0"/>
              </a:rPr>
              <a:t>Presentation</a:t>
            </a:r>
            <a:br>
              <a:rPr lang="en-IN" sz="2000" b="1" dirty="0">
                <a:latin typeface="Times New Roman" pitchFamily="18" charset="0"/>
                <a:cs typeface="Times New Roman" pitchFamily="18" charset="0"/>
              </a:rPr>
            </a:br>
            <a:r>
              <a:rPr lang="en-IN" sz="2000" b="1" dirty="0">
                <a:latin typeface="Times New Roman" pitchFamily="18" charset="0"/>
                <a:cs typeface="Times New Roman" pitchFamily="18" charset="0"/>
              </a:rPr>
              <a:t>on</a:t>
            </a:r>
            <a:br>
              <a:rPr lang="en-IN" sz="2000" b="1" dirty="0">
                <a:latin typeface="Times New Roman" pitchFamily="18" charset="0"/>
                <a:cs typeface="Times New Roman" pitchFamily="18" charset="0"/>
              </a:rPr>
            </a:br>
            <a:r>
              <a:rPr lang="en-IN" sz="2000" b="1" dirty="0">
                <a:latin typeface="Times New Roman" pitchFamily="18" charset="0"/>
                <a:cs typeface="Times New Roman" pitchFamily="18" charset="0"/>
              </a:rPr>
              <a:t>“</a:t>
            </a:r>
            <a:r>
              <a:rPr lang="en-IN" sz="2000" b="1" dirty="0" err="1">
                <a:latin typeface="Times New Roman" panose="02020603050405020304" pitchFamily="18" charset="0"/>
                <a:cs typeface="Times New Roman" panose="02020603050405020304" pitchFamily="18" charset="0"/>
              </a:rPr>
              <a:t>TrustChain</a:t>
            </a:r>
            <a:r>
              <a:rPr lang="en-IN" sz="2000" b="1" dirty="0">
                <a:latin typeface="Times New Roman" panose="02020603050405020304" pitchFamily="18" charset="0"/>
                <a:cs typeface="Times New Roman" panose="02020603050405020304" pitchFamily="18" charset="0"/>
              </a:rPr>
              <a:t>-AI: A Decentralized Trust Intelligence Framework for Secure Autonomous AI Agent Collaboration”</a:t>
            </a:r>
            <a:br>
              <a:rPr lang="en-IN" sz="2000" b="1" dirty="0">
                <a:latin typeface="Times New Roman" panose="02020603050405020304" pitchFamily="18" charset="0"/>
                <a:cs typeface="Times New Roman" panose="02020603050405020304" pitchFamily="18" charset="0"/>
              </a:rPr>
            </a:br>
            <a:r>
              <a:rPr lang="en-IN" sz="2000" b="1" dirty="0">
                <a:latin typeface="Times New Roman" panose="02020603050405020304" pitchFamily="18" charset="0"/>
                <a:cs typeface="Times New Roman" panose="02020603050405020304" pitchFamily="18" charset="0"/>
              </a:rPr>
              <a:t>By</a:t>
            </a:r>
            <a:br>
              <a:rPr lang="en-IN" sz="2000" b="1" dirty="0">
                <a:latin typeface="Times New Roman" panose="02020603050405020304" pitchFamily="18" charset="0"/>
                <a:cs typeface="Times New Roman" panose="02020603050405020304" pitchFamily="18" charset="0"/>
              </a:rPr>
            </a:br>
            <a:br>
              <a:rPr lang="en-IN" sz="2000" b="1" dirty="0">
                <a:latin typeface="Times New Roman" panose="02020603050405020304" pitchFamily="18" charset="0"/>
                <a:cs typeface="Times New Roman" panose="02020603050405020304" pitchFamily="18" charset="0"/>
              </a:rPr>
            </a:br>
            <a:r>
              <a:rPr lang="en-IN" sz="2000" b="1" dirty="0">
                <a:latin typeface="Times New Roman" panose="02020603050405020304" pitchFamily="18" charset="0"/>
                <a:cs typeface="Times New Roman" panose="02020603050405020304" pitchFamily="18" charset="0"/>
              </a:rPr>
              <a:t>MANISH PATIL (E260)</a:t>
            </a:r>
            <a:br>
              <a:rPr lang="en-IN" sz="2000" b="1" dirty="0">
                <a:latin typeface="Times New Roman" panose="02020603050405020304" pitchFamily="18" charset="0"/>
                <a:cs typeface="Times New Roman" panose="02020603050405020304" pitchFamily="18" charset="0"/>
              </a:rPr>
            </a:br>
            <a:r>
              <a:rPr lang="en-IN" sz="2000" b="1" dirty="0">
                <a:latin typeface="Times New Roman" panose="02020603050405020304" pitchFamily="18" charset="0"/>
                <a:cs typeface="Times New Roman" panose="02020603050405020304" pitchFamily="18" charset="0"/>
              </a:rPr>
              <a:t>DURGESH AGRAWAL (E262)</a:t>
            </a:r>
            <a:br>
              <a:rPr lang="en-IN" sz="2000" b="1" dirty="0">
                <a:latin typeface="Times New Roman" panose="02020603050405020304" pitchFamily="18" charset="0"/>
                <a:cs typeface="Times New Roman" panose="02020603050405020304" pitchFamily="18" charset="0"/>
              </a:rPr>
            </a:br>
            <a:r>
              <a:rPr lang="en-IN" sz="2000" b="1" dirty="0">
                <a:latin typeface="Times New Roman" panose="02020603050405020304" pitchFamily="18" charset="0"/>
                <a:cs typeface="Times New Roman" panose="02020603050405020304" pitchFamily="18" charset="0"/>
              </a:rPr>
              <a:t>YASH GEHLOT(E237)</a:t>
            </a:r>
            <a:br>
              <a:rPr lang="en-IN" sz="2000" b="1" dirty="0">
                <a:latin typeface="Times New Roman" panose="02020603050405020304" pitchFamily="18" charset="0"/>
                <a:cs typeface="Times New Roman" panose="02020603050405020304" pitchFamily="18" charset="0"/>
              </a:rPr>
            </a:br>
            <a:br>
              <a:rPr lang="en-IN" sz="2000" b="1" dirty="0">
                <a:latin typeface="Times New Roman" panose="02020603050405020304" pitchFamily="18" charset="0"/>
                <a:cs typeface="Times New Roman" panose="02020603050405020304" pitchFamily="18" charset="0"/>
              </a:rPr>
            </a:br>
            <a:r>
              <a:rPr lang="en-IN" sz="2000" b="1" dirty="0">
                <a:latin typeface="Times New Roman" panose="02020603050405020304" pitchFamily="18" charset="0"/>
                <a:cs typeface="Times New Roman" panose="02020603050405020304" pitchFamily="18" charset="0"/>
              </a:rPr>
              <a:t>Under the Guidance of</a:t>
            </a:r>
            <a:br>
              <a:rPr lang="en-IN" sz="2000" b="1" dirty="0">
                <a:latin typeface="Times New Roman" panose="02020603050405020304" pitchFamily="18" charset="0"/>
                <a:cs typeface="Times New Roman" panose="02020603050405020304" pitchFamily="18" charset="0"/>
              </a:rPr>
            </a:br>
            <a:r>
              <a:rPr lang="en-IN" sz="2000" b="1" dirty="0">
                <a:latin typeface="Times New Roman" panose="02020603050405020304" pitchFamily="18" charset="0"/>
                <a:cs typeface="Times New Roman" panose="02020603050405020304" pitchFamily="18" charset="0"/>
              </a:rPr>
              <a:t>Dr. Suraj Patil</a:t>
            </a:r>
          </a:p>
        </p:txBody>
      </p:sp>
      <p:sp>
        <p:nvSpPr>
          <p:cNvPr id="7" name="Slide Number Placeholder 6"/>
          <p:cNvSpPr>
            <a:spLocks noGrp="1"/>
          </p:cNvSpPr>
          <p:nvPr>
            <p:ph type="sldNum" idx="12"/>
          </p:nvPr>
        </p:nvSpPr>
        <p:spPr/>
        <p:txBody>
          <a:bodyPr/>
          <a:lstStyle/>
          <a:p>
            <a:fld id="{B6F15528-21DE-4FAA-801E-634DDDAF4B2B}" type="slidenum">
              <a:rPr lang="en-US" smtClean="0"/>
              <a:pPr/>
              <a:t>1</a:t>
            </a:fld>
            <a:endParaRPr lang="en-US"/>
          </a:p>
        </p:txBody>
      </p:sp>
      <p:pic>
        <p:nvPicPr>
          <p:cNvPr id="1027" name="Picture 3" descr="C:\Users\kunal\Pictures\nmims.png"/>
          <p:cNvPicPr>
            <a:picLocks noChangeAspect="1" noChangeArrowheads="1"/>
          </p:cNvPicPr>
          <p:nvPr/>
        </p:nvPicPr>
        <p:blipFill>
          <a:blip r:embed="rId2" cstate="print"/>
          <a:srcRect/>
          <a:stretch>
            <a:fillRect/>
          </a:stretch>
        </p:blipFill>
        <p:spPr bwMode="auto">
          <a:xfrm>
            <a:off x="4081460" y="4724400"/>
            <a:ext cx="1057275" cy="1209675"/>
          </a:xfrm>
          <a:prstGeom prst="rect">
            <a:avLst/>
          </a:prstGeom>
          <a:noFill/>
        </p:spPr>
      </p:pic>
      <p:sp>
        <p:nvSpPr>
          <p:cNvPr id="6" name="TextBox 5"/>
          <p:cNvSpPr txBox="1"/>
          <p:nvPr/>
        </p:nvSpPr>
        <p:spPr>
          <a:xfrm>
            <a:off x="1485898" y="5657671"/>
            <a:ext cx="6248400" cy="1200329"/>
          </a:xfrm>
          <a:prstGeom prst="rect">
            <a:avLst/>
          </a:prstGeom>
          <a:noFill/>
        </p:spPr>
        <p:txBody>
          <a:bodyPr wrap="square" rtlCol="0">
            <a:spAutoFit/>
          </a:bodyPr>
          <a:lstStyle/>
          <a:p>
            <a:pPr algn="ctr"/>
            <a:endParaRPr lang="en-IN" b="1" dirty="0">
              <a:latin typeface="Times New Roman" pitchFamily="18" charset="0"/>
              <a:cs typeface="Times New Roman" pitchFamily="18" charset="0"/>
            </a:endParaRPr>
          </a:p>
          <a:p>
            <a:pPr algn="ctr"/>
            <a:r>
              <a:rPr lang="en-IN" b="1" dirty="0">
                <a:latin typeface="Times New Roman" pitchFamily="18" charset="0"/>
                <a:cs typeface="Times New Roman" pitchFamily="18" charset="0"/>
              </a:rPr>
              <a:t>Department of Computer Science</a:t>
            </a:r>
          </a:p>
          <a:p>
            <a:pPr algn="ctr"/>
            <a:r>
              <a:rPr lang="en-IN" b="1" dirty="0">
                <a:latin typeface="Times New Roman" pitchFamily="18" charset="0"/>
                <a:cs typeface="Times New Roman" pitchFamily="18" charset="0"/>
              </a:rPr>
              <a:t>MPSTME, Shirpur Campus</a:t>
            </a:r>
          </a:p>
          <a:p>
            <a:pPr algn="ctr"/>
            <a:r>
              <a:rPr lang="en-IN" b="1" dirty="0">
                <a:latin typeface="Times New Roman" pitchFamily="18" charset="0"/>
                <a:cs typeface="Times New Roman" pitchFamily="18" charset="0"/>
              </a:rPr>
              <a:t>2026-27</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669662"/>
            <a:ext cx="8229600" cy="1143000"/>
          </a:xfrm>
        </p:spPr>
        <p:txBody>
          <a:bodyPr>
            <a:normAutofit/>
          </a:bodyPr>
          <a:lstStyle/>
          <a:p>
            <a:r>
              <a:rPr lang="en-IN" b="1" dirty="0">
                <a:latin typeface="Times New Roman" pitchFamily="18" charset="0"/>
                <a:cs typeface="Times New Roman" pitchFamily="18" charset="0"/>
              </a:rPr>
              <a:t>Outline</a:t>
            </a:r>
          </a:p>
        </p:txBody>
      </p:sp>
      <p:sp>
        <p:nvSpPr>
          <p:cNvPr id="3" name="Content Placeholder 2"/>
          <p:cNvSpPr>
            <a:spLocks noGrp="1"/>
          </p:cNvSpPr>
          <p:nvPr>
            <p:ph type="body" idx="1"/>
          </p:nvPr>
        </p:nvSpPr>
        <p:spPr>
          <a:xfrm>
            <a:off x="457200" y="2057400"/>
            <a:ext cx="8229600" cy="3792804"/>
          </a:xfrm>
        </p:spPr>
        <p:txBody>
          <a:bodyPr>
            <a:noAutofit/>
          </a:bodyPr>
          <a:lstStyle/>
          <a:p>
            <a:pPr>
              <a:lnSpc>
                <a:spcPct val="150000"/>
              </a:lnSpc>
              <a:spcAft>
                <a:spcPts val="250"/>
              </a:spcAft>
              <a:defRPr sz="1350">
                <a:solidFill>
                  <a:srgbClr val="1E293B"/>
                </a:solidFill>
                <a:latin typeface="Times New Roman"/>
              </a:defRPr>
            </a:pPr>
            <a:r>
              <a:t>Objective of Project &amp; Literature Survey</a:t>
            </a:r>
          </a:p>
          <a:p>
            <a:pPr>
              <a:spcAft>
                <a:spcPts val="250"/>
              </a:spcAft>
              <a:defRPr sz="1350">
                <a:solidFill>
                  <a:srgbClr val="1E293B"/>
                </a:solidFill>
                <a:latin typeface="Times New Roman"/>
              </a:defRPr>
            </a:pPr>
            <a:r>
              <a:t>Problem Statement &amp; Proposed Solution</a:t>
            </a:r>
          </a:p>
          <a:p>
            <a:pPr>
              <a:spcAft>
                <a:spcPts val="250"/>
              </a:spcAft>
              <a:defRPr sz="1350">
                <a:solidFill>
                  <a:srgbClr val="1E293B"/>
                </a:solidFill>
                <a:latin typeface="Times New Roman"/>
              </a:defRPr>
            </a:pPr>
            <a:r>
              <a:t>System Architecture &amp; Core Working Flow</a:t>
            </a:r>
          </a:p>
          <a:p>
            <a:pPr>
              <a:spcAft>
                <a:spcPts val="250"/>
              </a:spcAft>
              <a:defRPr sz="1350">
                <a:solidFill>
                  <a:srgbClr val="1E293B"/>
                </a:solidFill>
                <a:latin typeface="Times New Roman"/>
              </a:defRPr>
            </a:pPr>
            <a:r>
              <a:t>Decentralized Identity &amp; Trust Intelligence Lifecycle</a:t>
            </a:r>
          </a:p>
          <a:p>
            <a:pPr>
              <a:spcAft>
                <a:spcPts val="250"/>
              </a:spcAft>
              <a:defRPr sz="1350">
                <a:solidFill>
                  <a:srgbClr val="1E293B"/>
                </a:solidFill>
                <a:latin typeface="Times New Roman"/>
              </a:defRPr>
            </a:pPr>
            <a:r>
              <a:t>Adaptive Policy Enforcement &amp; Agent Matchmaking</a:t>
            </a:r>
          </a:p>
          <a:p>
            <a:pPr>
              <a:spcAft>
                <a:spcPts val="250"/>
              </a:spcAft>
              <a:defRPr sz="1350">
                <a:solidFill>
                  <a:srgbClr val="1E293B"/>
                </a:solidFill>
                <a:latin typeface="Times New Roman"/>
              </a:defRPr>
            </a:pPr>
            <a:r>
              <a:t>Multi-Agent Collaboration &amp; Security Operations (SOC)</a:t>
            </a:r>
          </a:p>
          <a:p>
            <a:pPr>
              <a:spcAft>
                <a:spcPts val="250"/>
              </a:spcAft>
              <a:defRPr sz="1350">
                <a:solidFill>
                  <a:srgbClr val="1E293B"/>
                </a:solidFill>
                <a:latin typeface="Times New Roman"/>
              </a:defRPr>
            </a:pPr>
            <a:r>
              <a:t>Actual Project Screenshots: Security &amp; Swarm Operations</a:t>
            </a:r>
          </a:p>
          <a:p>
            <a:pPr>
              <a:spcAft>
                <a:spcPts val="250"/>
              </a:spcAft>
              <a:defRPr sz="1350">
                <a:solidFill>
                  <a:srgbClr val="1E293B"/>
                </a:solidFill>
                <a:latin typeface="Times New Roman"/>
              </a:defRPr>
            </a:pPr>
            <a:r>
              <a:t>Implementation Status, Key Features &amp; Requirements</a:t>
            </a:r>
          </a:p>
          <a:p>
            <a:pPr>
              <a:spcAft>
                <a:spcPts val="250"/>
              </a:spcAft>
              <a:defRPr sz="1350">
                <a:solidFill>
                  <a:srgbClr val="1E293B"/>
                </a:solidFill>
                <a:latin typeface="Times New Roman"/>
              </a:defRPr>
            </a:pPr>
            <a:r>
              <a:t>Project Development Timeline (Gantt Chart)</a:t>
            </a:r>
          </a:p>
          <a:p>
            <a:pPr>
              <a:spcAft>
                <a:spcPts val="250"/>
              </a:spcAft>
              <a:defRPr sz="1350">
                <a:solidFill>
                  <a:srgbClr val="1E293B"/>
                </a:solidFill>
                <a:latin typeface="Times New Roman"/>
              </a:defRPr>
            </a:pPr>
            <a:r>
              <a:t>Implementation &amp; Technical Validation</a:t>
            </a:r>
          </a:p>
          <a:p>
            <a:pPr>
              <a:spcAft>
                <a:spcPts val="250"/>
              </a:spcAft>
              <a:defRPr sz="1350">
                <a:solidFill>
                  <a:srgbClr val="1E293B"/>
                </a:solidFill>
                <a:latin typeface="Times New Roman"/>
              </a:defRPr>
            </a:pPr>
            <a:r>
              <a:t>Results Analysis &amp; Evaluation</a:t>
            </a:r>
          </a:p>
          <a:p>
            <a:pPr>
              <a:spcAft>
                <a:spcPts val="250"/>
              </a:spcAft>
              <a:defRPr sz="1350">
                <a:solidFill>
                  <a:srgbClr val="1E293B"/>
                </a:solidFill>
                <a:latin typeface="Times New Roman"/>
              </a:defRPr>
            </a:pPr>
            <a:r>
              <a:t>Project Outcomes &amp; Conclusion</a:t>
            </a:r>
          </a:p>
          <a:p>
            <a:pPr>
              <a:spcAft>
                <a:spcPts val="250"/>
              </a:spcAft>
              <a:defRPr sz="1350">
                <a:solidFill>
                  <a:srgbClr val="1E293B"/>
                </a:solidFill>
                <a:latin typeface="Times New Roman"/>
              </a:defRPr>
            </a:pPr>
            <a:r>
              <a:t>References</a:t>
            </a:r>
          </a:p>
        </p:txBody>
      </p:sp>
      <p:sp>
        <p:nvSpPr>
          <p:cNvPr id="4" name="Slide Number Placeholder 3"/>
          <p:cNvSpPr>
            <a:spLocks noGrp="1"/>
          </p:cNvSpPr>
          <p:nvPr>
            <p:ph type="sldNum" idx="12"/>
          </p:nvPr>
        </p:nvSpPr>
        <p:spPr/>
        <p:txBody>
          <a:bodyPr/>
          <a:lstStyle/>
          <a:p>
            <a:fld id="{B6F15528-21DE-4FAA-801E-634DDDAF4B2B}" type="slidenum">
              <a:rPr lang="en-US" smtClean="0"/>
              <a:p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8401B0-A38E-1EB6-320C-DCDFBCE4C106}"/>
              </a:ext>
            </a:extLst>
          </p:cNvPr>
          <p:cNvSpPr>
            <a:spLocks noGrp="1"/>
          </p:cNvSpPr>
          <p:nvPr>
            <p:ph type="title"/>
          </p:nvPr>
        </p:nvSpPr>
        <p:spPr>
          <a:xfrm>
            <a:off x="425245" y="1143000"/>
            <a:ext cx="8229600" cy="914400"/>
          </a:xfrm>
        </p:spPr>
        <p:txBody>
          <a:bodyPr>
            <a:normAutofit/>
          </a:bodyPr>
          <a:lstStyle/>
          <a:p>
            <a:r>
              <a:rPr lang="en-IN" dirty="0"/>
              <a:t>Progress Since Phase II</a:t>
            </a:r>
          </a:p>
        </p:txBody>
      </p:sp>
      <p:sp>
        <p:nvSpPr>
          <p:cNvPr id="4" name="Slide Number Placeholder 3">
            <a:extLst>
              <a:ext uri="{FF2B5EF4-FFF2-40B4-BE49-F238E27FC236}">
                <a16:creationId xmlns:a16="http://schemas.microsoft.com/office/drawing/2014/main" id="{7C5AE437-DC0C-0A9B-A490-9267571E8838}"/>
              </a:ext>
            </a:extLst>
          </p:cNvPr>
          <p:cNvSpPr>
            <a:spLocks noGrp="1"/>
          </p:cNvSpPr>
          <p:nvPr>
            <p:ph type="sldNum" idx="12"/>
          </p:nvPr>
        </p:nvSpPr>
        <p:spPr/>
        <p:txBody>
          <a:bodyPr/>
          <a:lstStyle/>
          <a:p>
            <a:fld id="{B6F15528-21DE-4FAA-801E-634DDDAF4B2B}" type="slidenum">
              <a:rPr lang="en-US" smtClean="0"/>
              <a:pPr/>
              <a:t>3</a:t>
            </a:fld>
            <a:endParaRPr lang="en-US"/>
          </a:p>
        </p:txBody>
      </p:sp>
      <p:graphicFrame>
        <p:nvGraphicFramePr>
          <p:cNvPr id="5" name="Table 4">
            <a:extLst>
              <a:ext uri="{FF2B5EF4-FFF2-40B4-BE49-F238E27FC236}">
                <a16:creationId xmlns:a16="http://schemas.microsoft.com/office/drawing/2014/main" id="{1A73FA75-2E92-8256-198C-1329EA0B40DD}"/>
              </a:ext>
            </a:extLst>
          </p:cNvPr>
          <p:cNvGraphicFramePr>
            <a:graphicFrameLocks noGrp="1"/>
          </p:cNvGraphicFramePr>
          <p:nvPr>
            <p:extLst>
              <p:ext uri="{D42A27DB-BD31-4B8C-83A1-F6EECF244321}">
                <p14:modId xmlns:p14="http://schemas.microsoft.com/office/powerpoint/2010/main" val="1504180756"/>
              </p:ext>
            </p:extLst>
          </p:nvPr>
        </p:nvGraphicFramePr>
        <p:xfrm>
          <a:off x="457200" y="1920615"/>
          <a:ext cx="8077200" cy="4589717"/>
        </p:xfrm>
        <a:graphic>
          <a:graphicData uri="http://schemas.openxmlformats.org/drawingml/2006/table">
            <a:tbl>
              <a:tblPr>
                <a:tableStyleId>{2D5ABB26-0587-4C30-8999-92F81FD0307C}</a:tableStyleId>
              </a:tblPr>
              <a:tblGrid>
                <a:gridCol w="2692400">
                  <a:extLst>
                    <a:ext uri="{9D8B030D-6E8A-4147-A177-3AD203B41FA5}">
                      <a16:colId xmlns:a16="http://schemas.microsoft.com/office/drawing/2014/main" val="1025360909"/>
                    </a:ext>
                  </a:extLst>
                </a:gridCol>
                <a:gridCol w="2692400">
                  <a:extLst>
                    <a:ext uri="{9D8B030D-6E8A-4147-A177-3AD203B41FA5}">
                      <a16:colId xmlns:a16="http://schemas.microsoft.com/office/drawing/2014/main" val="3955646252"/>
                    </a:ext>
                  </a:extLst>
                </a:gridCol>
                <a:gridCol w="2692400">
                  <a:extLst>
                    <a:ext uri="{9D8B030D-6E8A-4147-A177-3AD203B41FA5}">
                      <a16:colId xmlns:a16="http://schemas.microsoft.com/office/drawing/2014/main" val="7229974"/>
                    </a:ext>
                  </a:extLst>
                </a:gridCol>
              </a:tblGrid>
              <a:tr h="381000">
                <a:tc>
                  <a:txBody>
                    <a:bodyPr/>
                    <a:lstStyle/>
                    <a:p>
                      <a:pPr>
                        <a:buNone/>
                      </a:pPr>
                      <a:r>
                        <a:rPr lang="en-IN" sz="1200" b="1" dirty="0">
                          <a:effectLst/>
                          <a:latin typeface="Times New Roman" panose="02020603050405020304" pitchFamily="18" charset="0"/>
                          <a:cs typeface="Times New Roman" panose="02020603050405020304" pitchFamily="18" charset="0"/>
                        </a:rPr>
                        <a:t>Area</a:t>
                      </a:r>
                    </a:p>
                  </a:txBody>
                  <a:tcPr marL="67464" marR="67464" marT="33732" marB="3373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75000"/>
                      </a:schemeClr>
                    </a:solidFill>
                  </a:tcPr>
                </a:tc>
                <a:tc>
                  <a:txBody>
                    <a:bodyPr/>
                    <a:lstStyle/>
                    <a:p>
                      <a:pPr>
                        <a:buNone/>
                      </a:pPr>
                      <a:r>
                        <a:rPr lang="en-IN" sz="1200" b="1" dirty="0">
                          <a:effectLst/>
                          <a:latin typeface="Times New Roman" panose="02020603050405020304" pitchFamily="18" charset="0"/>
                          <a:cs typeface="Times New Roman" panose="02020603050405020304" pitchFamily="18" charset="0"/>
                        </a:rPr>
                        <a:t>At Phase II</a:t>
                      </a:r>
                    </a:p>
                  </a:txBody>
                  <a:tcPr marL="67464" marR="67464" marT="33732" marB="3373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75000"/>
                      </a:schemeClr>
                    </a:solidFill>
                  </a:tcPr>
                </a:tc>
                <a:tc>
                  <a:txBody>
                    <a:bodyPr/>
                    <a:lstStyle/>
                    <a:p>
                      <a:pPr>
                        <a:buNone/>
                      </a:pPr>
                      <a:r>
                        <a:rPr lang="en-IN" sz="1200" b="1" dirty="0">
                          <a:effectLst/>
                          <a:latin typeface="Times New Roman" panose="02020603050405020304" pitchFamily="18" charset="0"/>
                          <a:cs typeface="Times New Roman" panose="02020603050405020304" pitchFamily="18" charset="0"/>
                        </a:rPr>
                        <a:t>At Phase III</a:t>
                      </a:r>
                    </a:p>
                  </a:txBody>
                  <a:tcPr marL="67464" marR="67464" marT="33732" marB="3373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75000"/>
                      </a:schemeClr>
                    </a:solidFill>
                  </a:tcPr>
                </a:tc>
                <a:extLst>
                  <a:ext uri="{0D108BD9-81ED-4DB2-BD59-A6C34878D82A}">
                    <a16:rowId xmlns:a16="http://schemas.microsoft.com/office/drawing/2014/main" val="2906989919"/>
                  </a:ext>
                </a:extLst>
              </a:tr>
              <a:tr h="736285">
                <a:tc>
                  <a:txBody>
                    <a:bodyPr/>
                    <a:lstStyle/>
                    <a:p>
                      <a:pPr algn="ctr">
                        <a:buNone/>
                      </a:pPr>
                      <a:r>
                        <a:rPr lang="en-IN" sz="1200" dirty="0">
                          <a:effectLst/>
                          <a:latin typeface="Times New Roman" panose="02020603050405020304" pitchFamily="18" charset="0"/>
                          <a:cs typeface="Times New Roman" panose="02020603050405020304" pitchFamily="18" charset="0"/>
                        </a:rPr>
                        <a:t>Identity</a:t>
                      </a:r>
                    </a:p>
                  </a:txBody>
                  <a:tcPr marL="67464" marR="67464" marT="33732" marB="3373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200" dirty="0" err="1">
                          <a:effectLst/>
                          <a:latin typeface="Times New Roman" panose="02020603050405020304" pitchFamily="18" charset="0"/>
                          <a:cs typeface="Times New Roman" panose="02020603050405020304" pitchFamily="18" charset="0"/>
                        </a:rPr>
                        <a:t>did:key</a:t>
                      </a:r>
                      <a:r>
                        <a:rPr lang="en-IN" sz="1200" dirty="0">
                          <a:effectLst/>
                          <a:latin typeface="Times New Roman" panose="02020603050405020304" pitchFamily="18" charset="0"/>
                          <a:cs typeface="Times New Roman" panose="02020603050405020304" pitchFamily="18" charset="0"/>
                        </a:rPr>
                        <a:t> + Ed25519 demonstrated</a:t>
                      </a:r>
                    </a:p>
                  </a:txBody>
                  <a:tcPr marL="67464" marR="67464" marT="33732" marB="3373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200" dirty="0">
                          <a:effectLst/>
                          <a:latin typeface="Times New Roman" panose="02020603050405020304" pitchFamily="18" charset="0"/>
                          <a:cs typeface="Times New Roman" panose="02020603050405020304" pitchFamily="18" charset="0"/>
                        </a:rPr>
                        <a:t>Full </a:t>
                      </a:r>
                      <a:r>
                        <a:rPr lang="en-IN" sz="1200" dirty="0" err="1">
                          <a:effectLst/>
                          <a:latin typeface="Times New Roman" panose="02020603050405020304" pitchFamily="18" charset="0"/>
                          <a:cs typeface="Times New Roman" panose="02020603050405020304" pitchFamily="18" charset="0"/>
                        </a:rPr>
                        <a:t>did:key</a:t>
                      </a:r>
                      <a:r>
                        <a:rPr lang="en-IN" sz="1200" dirty="0">
                          <a:effectLst/>
                          <a:latin typeface="Times New Roman" panose="02020603050405020304" pitchFamily="18" charset="0"/>
                          <a:cs typeface="Times New Roman" panose="02020603050405020304" pitchFamily="18" charset="0"/>
                        </a:rPr>
                        <a:t> + W3C VC lifecycle with URDNA2015 canonicalization and Ed25519Signature2020 proofs</a:t>
                      </a:r>
                    </a:p>
                  </a:txBody>
                  <a:tcPr marL="67464" marR="67464" marT="33732" marB="3373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76031548"/>
                  </a:ext>
                </a:extLst>
              </a:tr>
              <a:tr h="570027">
                <a:tc>
                  <a:txBody>
                    <a:bodyPr/>
                    <a:lstStyle/>
                    <a:p>
                      <a:pPr algn="ctr">
                        <a:buNone/>
                      </a:pPr>
                      <a:r>
                        <a:rPr lang="en-IN" sz="1200" dirty="0">
                          <a:effectLst/>
                          <a:latin typeface="Times New Roman" panose="02020603050405020304" pitchFamily="18" charset="0"/>
                          <a:cs typeface="Times New Roman" panose="02020603050405020304" pitchFamily="18" charset="0"/>
                        </a:rPr>
                        <a:t>Trust engine</a:t>
                      </a:r>
                    </a:p>
                  </a:txBody>
                  <a:tcPr marL="67464" marR="67464" marT="33732" marB="3373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200" dirty="0">
                          <a:effectLst/>
                          <a:latin typeface="Times New Roman" panose="02020603050405020304" pitchFamily="18" charset="0"/>
                          <a:cs typeface="Times New Roman" panose="02020603050405020304" pitchFamily="18" charset="0"/>
                        </a:rPr>
                        <a:t>EMA scoring, 3 states + revoke</a:t>
                      </a:r>
                    </a:p>
                  </a:txBody>
                  <a:tcPr marL="67464" marR="67464" marT="33732" marB="3373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200" dirty="0">
                          <a:effectLst/>
                          <a:latin typeface="Times New Roman" panose="02020603050405020304" pitchFamily="18" charset="0"/>
                          <a:cs typeface="Times New Roman" panose="02020603050405020304" pitchFamily="18" charset="0"/>
                        </a:rPr>
                        <a:t>Same engine, validated with a 10-round scenario and a live /health probe</a:t>
                      </a:r>
                    </a:p>
                  </a:txBody>
                  <a:tcPr marL="67464" marR="67464" marT="33732" marB="3373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73644050"/>
                  </a:ext>
                </a:extLst>
              </a:tr>
              <a:tr h="736285">
                <a:tc>
                  <a:txBody>
                    <a:bodyPr/>
                    <a:lstStyle/>
                    <a:p>
                      <a:pPr algn="ctr">
                        <a:buNone/>
                      </a:pPr>
                      <a:r>
                        <a:rPr lang="en-IN" sz="1200" dirty="0">
                          <a:effectLst/>
                          <a:latin typeface="Times New Roman" panose="02020603050405020304" pitchFamily="18" charset="0"/>
                          <a:cs typeface="Times New Roman" panose="02020603050405020304" pitchFamily="18" charset="0"/>
                        </a:rPr>
                        <a:t>Authorization</a:t>
                      </a:r>
                    </a:p>
                  </a:txBody>
                  <a:tcPr marL="67464" marR="67464" marT="33732" marB="3373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200" dirty="0">
                          <a:effectLst/>
                          <a:latin typeface="Times New Roman" panose="02020603050405020304" pitchFamily="18" charset="0"/>
                          <a:cs typeface="Times New Roman" panose="02020603050405020304" pitchFamily="18" charset="0"/>
                        </a:rPr>
                        <a:t>SUSPICIOUS allowed (logged)</a:t>
                      </a:r>
                    </a:p>
                  </a:txBody>
                  <a:tcPr marL="67464" marR="67464" marT="33732" marB="3373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200">
                          <a:effectLst/>
                          <a:latin typeface="Times New Roman" panose="02020603050405020304" pitchFamily="18" charset="0"/>
                          <a:cs typeface="Times New Roman" panose="02020603050405020304" pitchFamily="18" charset="0"/>
                        </a:rPr>
                        <a:t>SUSPICIOUS blocks privileged actions (HTTP 403); human RBAC added (ADMIN, OPERATOR, VIEWER)</a:t>
                      </a:r>
                    </a:p>
                  </a:txBody>
                  <a:tcPr marL="67464" marR="67464" marT="33732" marB="3373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43239163"/>
                  </a:ext>
                </a:extLst>
              </a:tr>
              <a:tr h="403769">
                <a:tc>
                  <a:txBody>
                    <a:bodyPr/>
                    <a:lstStyle/>
                    <a:p>
                      <a:pPr algn="ctr">
                        <a:buNone/>
                      </a:pPr>
                      <a:r>
                        <a:rPr lang="en-IN" sz="1200" dirty="0">
                          <a:effectLst/>
                          <a:latin typeface="Times New Roman" panose="02020603050405020304" pitchFamily="18" charset="0"/>
                          <a:cs typeface="Times New Roman" panose="02020603050405020304" pitchFamily="18" charset="0"/>
                        </a:rPr>
                        <a:t>Discovery and matching</a:t>
                      </a:r>
                    </a:p>
                  </a:txBody>
                  <a:tcPr marL="67464" marR="67464" marT="33732" marB="3373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200" dirty="0">
                          <a:effectLst/>
                          <a:latin typeface="Times New Roman" panose="02020603050405020304" pitchFamily="18" charset="0"/>
                          <a:cs typeface="Times New Roman" panose="02020603050405020304" pitchFamily="18" charset="0"/>
                        </a:rPr>
                        <a:t>Not present</a:t>
                      </a:r>
                    </a:p>
                  </a:txBody>
                  <a:tcPr marL="67464" marR="67464" marT="33732" marB="3373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200">
                          <a:effectLst/>
                          <a:latin typeface="Times New Roman" panose="02020603050405020304" pitchFamily="18" charset="0"/>
                          <a:cs typeface="Times New Roman" panose="02020603050405020304" pitchFamily="18" charset="0"/>
                        </a:rPr>
                        <a:t>Explainable discovery and multi-factor MatchScore ranking</a:t>
                      </a:r>
                    </a:p>
                  </a:txBody>
                  <a:tcPr marL="67464" marR="67464" marT="33732" marB="3373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376807"/>
                  </a:ext>
                </a:extLst>
              </a:tr>
              <a:tr h="403769">
                <a:tc>
                  <a:txBody>
                    <a:bodyPr/>
                    <a:lstStyle/>
                    <a:p>
                      <a:pPr algn="ctr">
                        <a:buNone/>
                      </a:pPr>
                      <a:r>
                        <a:rPr lang="en-IN" sz="1200" dirty="0">
                          <a:effectLst/>
                          <a:latin typeface="Times New Roman" panose="02020603050405020304" pitchFamily="18" charset="0"/>
                          <a:cs typeface="Times New Roman" panose="02020603050405020304" pitchFamily="18" charset="0"/>
                        </a:rPr>
                        <a:t>Collaboration</a:t>
                      </a:r>
                    </a:p>
                  </a:txBody>
                  <a:tcPr marL="67464" marR="67464" marT="33732" marB="3373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200" dirty="0">
                          <a:effectLst/>
                          <a:latin typeface="Times New Roman" panose="02020603050405020304" pitchFamily="18" charset="0"/>
                          <a:cs typeface="Times New Roman" panose="02020603050405020304" pitchFamily="18" charset="0"/>
                        </a:rPr>
                        <a:t>Not present</a:t>
                      </a:r>
                    </a:p>
                  </a:txBody>
                  <a:tcPr marL="67464" marR="67464" marT="33732" marB="3373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200">
                          <a:effectLst/>
                          <a:latin typeface="Times New Roman" panose="02020603050405020304" pitchFamily="18" charset="0"/>
                          <a:cs typeface="Times New Roman" panose="02020603050405020304" pitchFamily="18" charset="0"/>
                        </a:rPr>
                        <a:t>Bilateral sessions, sequential pipelines, mid-session abort</a:t>
                      </a:r>
                    </a:p>
                  </a:txBody>
                  <a:tcPr marL="67464" marR="67464" marT="33732" marB="3373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82247268"/>
                  </a:ext>
                </a:extLst>
              </a:tr>
              <a:tr h="403769">
                <a:tc>
                  <a:txBody>
                    <a:bodyPr/>
                    <a:lstStyle/>
                    <a:p>
                      <a:pPr algn="ctr">
                        <a:buNone/>
                      </a:pPr>
                      <a:r>
                        <a:rPr lang="en-IN" sz="1200" dirty="0">
                          <a:effectLst/>
                          <a:latin typeface="Times New Roman" panose="02020603050405020304" pitchFamily="18" charset="0"/>
                          <a:cs typeface="Times New Roman" panose="02020603050405020304" pitchFamily="18" charset="0"/>
                        </a:rPr>
                        <a:t>Storage</a:t>
                      </a:r>
                    </a:p>
                  </a:txBody>
                  <a:tcPr marL="67464" marR="67464" marT="33732" marB="3373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200" dirty="0">
                          <a:effectLst/>
                          <a:latin typeface="Times New Roman" panose="02020603050405020304" pitchFamily="18" charset="0"/>
                          <a:cs typeface="Times New Roman" panose="02020603050405020304" pitchFamily="18" charset="0"/>
                        </a:rPr>
                        <a:t>SQLite VDR</a:t>
                      </a:r>
                    </a:p>
                  </a:txBody>
                  <a:tcPr marL="67464" marR="67464" marT="33732" marB="3373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200" dirty="0">
                          <a:effectLst/>
                          <a:latin typeface="Times New Roman" panose="02020603050405020304" pitchFamily="18" charset="0"/>
                          <a:cs typeface="Times New Roman" panose="02020603050405020304" pitchFamily="18" charset="0"/>
                        </a:rPr>
                        <a:t>13-table SQLite WAL VDR with four audit streams</a:t>
                      </a:r>
                    </a:p>
                  </a:txBody>
                  <a:tcPr marL="67464" marR="67464" marT="33732" marB="3373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15333743"/>
                  </a:ext>
                </a:extLst>
              </a:tr>
              <a:tr h="403769">
                <a:tc>
                  <a:txBody>
                    <a:bodyPr/>
                    <a:lstStyle/>
                    <a:p>
                      <a:pPr algn="ctr">
                        <a:buNone/>
                      </a:pPr>
                      <a:r>
                        <a:rPr lang="en-IN" sz="1200" dirty="0">
                          <a:effectLst/>
                          <a:latin typeface="Times New Roman" panose="02020603050405020304" pitchFamily="18" charset="0"/>
                          <a:cs typeface="Times New Roman" panose="02020603050405020304" pitchFamily="18" charset="0"/>
                        </a:rPr>
                        <a:t>Frontend</a:t>
                      </a:r>
                    </a:p>
                  </a:txBody>
                  <a:tcPr marL="67464" marR="67464" marT="33732" marB="3373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200">
                          <a:effectLst/>
                          <a:latin typeface="Times New Roman" panose="02020603050405020304" pitchFamily="18" charset="0"/>
                          <a:cs typeface="Times New Roman" panose="02020603050405020304" pitchFamily="18" charset="0"/>
                        </a:rPr>
                        <a:t>Dashboard</a:t>
                      </a:r>
                    </a:p>
                  </a:txBody>
                  <a:tcPr marL="67464" marR="67464" marT="33732" marB="3373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200" dirty="0">
                          <a:effectLst/>
                          <a:latin typeface="Times New Roman" panose="02020603050405020304" pitchFamily="18" charset="0"/>
                          <a:cs typeface="Times New Roman" panose="02020603050405020304" pitchFamily="18" charset="0"/>
                        </a:rPr>
                        <a:t>Five-module SOC portal with Agent Investigation Drawer</a:t>
                      </a:r>
                    </a:p>
                  </a:txBody>
                  <a:tcPr marL="67464" marR="67464" marT="33732" marB="3373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0874517"/>
                  </a:ext>
                </a:extLst>
              </a:tr>
              <a:tr h="403769">
                <a:tc>
                  <a:txBody>
                    <a:bodyPr/>
                    <a:lstStyle/>
                    <a:p>
                      <a:pPr algn="ctr">
                        <a:buNone/>
                      </a:pPr>
                      <a:r>
                        <a:rPr lang="en-IN" sz="1200" dirty="0">
                          <a:effectLst/>
                          <a:latin typeface="Times New Roman" panose="02020603050405020304" pitchFamily="18" charset="0"/>
                          <a:cs typeface="Times New Roman" panose="02020603050405020304" pitchFamily="18" charset="0"/>
                        </a:rPr>
                        <a:t>Testing</a:t>
                      </a:r>
                    </a:p>
                  </a:txBody>
                  <a:tcPr marL="67464" marR="67464" marT="33732" marB="3373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200" dirty="0">
                          <a:effectLst/>
                          <a:latin typeface="Times New Roman" panose="02020603050405020304" pitchFamily="18" charset="0"/>
                          <a:cs typeface="Times New Roman" panose="02020603050405020304" pitchFamily="18" charset="0"/>
                        </a:rPr>
                        <a:t>40 tests</a:t>
                      </a:r>
                    </a:p>
                  </a:txBody>
                  <a:tcPr marL="67464" marR="67464" marT="33732" marB="3373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200" dirty="0">
                          <a:effectLst/>
                          <a:latin typeface="Times New Roman" panose="02020603050405020304" pitchFamily="18" charset="0"/>
                          <a:cs typeface="Times New Roman" panose="02020603050405020304" pitchFamily="18" charset="0"/>
                        </a:rPr>
                        <a:t>80 tests passing in 15.04 s; Vite build with 0 errors</a:t>
                      </a:r>
                    </a:p>
                  </a:txBody>
                  <a:tcPr marL="67464" marR="67464" marT="33732" marB="3373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21753361"/>
                  </a:ext>
                </a:extLst>
              </a:tr>
            </a:tbl>
          </a:graphicData>
        </a:graphic>
      </p:graphicFrame>
    </p:spTree>
    <p:extLst>
      <p:ext uri="{BB962C8B-B14F-4D97-AF65-F5344CB8AC3E}">
        <p14:creationId xmlns:p14="http://schemas.microsoft.com/office/powerpoint/2010/main" val="22118053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351340D-5EF2-8E2B-01F3-6B34ADEB378F}"/>
              </a:ext>
            </a:extLst>
          </p:cNvPr>
          <p:cNvSpPr>
            <a:spLocks noGrp="1"/>
          </p:cNvSpPr>
          <p:nvPr>
            <p:ph type="sldNum" sz="quarter" idx="12"/>
          </p:nvPr>
        </p:nvSpPr>
        <p:spPr/>
        <p:txBody>
          <a:bodyPr/>
          <a:lstStyle/>
          <a:p>
            <a:fld id="{B6F15528-21DE-4FAA-801E-634DDDAF4B2B}" type="slidenum">
              <a:rPr lang="en-US" smtClean="0"/>
              <a:pPr/>
              <a:t>4</a:t>
            </a:fld>
            <a:endParaRPr lang="en-US"/>
          </a:p>
        </p:txBody>
      </p:sp>
      <p:sp>
        <p:nvSpPr>
          <p:cNvPr id="3" name="TextBox 2">
            <a:extLst>
              <a:ext uri="{FF2B5EF4-FFF2-40B4-BE49-F238E27FC236}">
                <a16:creationId xmlns:a16="http://schemas.microsoft.com/office/drawing/2014/main" id="{FBE6A541-D4F9-2AC5-B366-F5528707A972}"/>
              </a:ext>
            </a:extLst>
          </p:cNvPr>
          <p:cNvSpPr txBox="1"/>
          <p:nvPr/>
        </p:nvSpPr>
        <p:spPr>
          <a:xfrm>
            <a:off x="2289803" y="1295400"/>
            <a:ext cx="4134465" cy="646331"/>
          </a:xfrm>
          <a:prstGeom prst="rect">
            <a:avLst/>
          </a:prstGeom>
          <a:noFill/>
        </p:spPr>
        <p:txBody>
          <a:bodyPr wrap="none" rtlCol="0">
            <a:spAutoFit/>
          </a:bodyPr>
          <a:lstStyle/>
          <a:p>
            <a:r>
              <a:rPr lang="en-IN" sz="3600" b="1" dirty="0">
                <a:latin typeface="Times New Roman" pitchFamily="18" charset="0"/>
                <a:cs typeface="Times New Roman" pitchFamily="18" charset="0"/>
              </a:rPr>
              <a:t>Objective of Project</a:t>
            </a:r>
          </a:p>
        </p:txBody>
      </p:sp>
      <p:sp>
        <p:nvSpPr>
          <p:cNvPr id="5" name="TextBox 4">
            <a:extLst>
              <a:ext uri="{FF2B5EF4-FFF2-40B4-BE49-F238E27FC236}">
                <a16:creationId xmlns:a16="http://schemas.microsoft.com/office/drawing/2014/main" id="{B8B83ADD-7189-4CF2-E891-9DB619DA600B}"/>
              </a:ext>
            </a:extLst>
          </p:cNvPr>
          <p:cNvSpPr txBox="1"/>
          <p:nvPr/>
        </p:nvSpPr>
        <p:spPr>
          <a:xfrm>
            <a:off x="666748" y="1995265"/>
            <a:ext cx="7810500" cy="4093428"/>
          </a:xfrm>
          <a:prstGeom prst="rect">
            <a:avLst/>
          </a:prstGeom>
          <a:noFill/>
        </p:spPr>
        <p:txBody>
          <a:bodyPr wrap="square">
            <a:spAutoFit/>
          </a:bodyPr>
          <a:lstStyle/>
          <a:p>
            <a:pPr algn="just"/>
            <a:r>
              <a:rPr lang="en-IN" sz="2000" dirty="0">
                <a:latin typeface="Times New Roman" panose="02020603050405020304" pitchFamily="18" charset="0"/>
                <a:cs typeface="Times New Roman" panose="02020603050405020304" pitchFamily="18" charset="0"/>
              </a:rPr>
              <a:t>The primary objective of </a:t>
            </a:r>
            <a:r>
              <a:rPr lang="en-IN" sz="2000" dirty="0" err="1">
                <a:latin typeface="Times New Roman" panose="02020603050405020304" pitchFamily="18" charset="0"/>
                <a:cs typeface="Times New Roman" panose="02020603050405020304" pitchFamily="18" charset="0"/>
              </a:rPr>
              <a:t>TrustChain</a:t>
            </a:r>
            <a:r>
              <a:rPr lang="en-IN" sz="2000" dirty="0">
                <a:latin typeface="Times New Roman" panose="02020603050405020304" pitchFamily="18" charset="0"/>
                <a:cs typeface="Times New Roman" panose="02020603050405020304" pitchFamily="18" charset="0"/>
              </a:rPr>
              <a:t>-AI is to develop a decentralized trust intelligence framework that enables secure and autonomous collaboration among AI agents across multiple domains. The framework utilizes W3C Decentralized Identifiers (DIDs), Verifiable Credentials (VCs), and blockchain to establish trusted digital identities and secure cross-domain interactions.</a:t>
            </a:r>
          </a:p>
          <a:p>
            <a:pPr algn="just"/>
            <a:endParaRPr lang="en-IN" sz="2000" dirty="0">
              <a:latin typeface="Times New Roman" panose="02020603050405020304" pitchFamily="18" charset="0"/>
              <a:cs typeface="Times New Roman" panose="02020603050405020304" pitchFamily="18" charset="0"/>
            </a:endParaRPr>
          </a:p>
          <a:p>
            <a:pPr algn="just"/>
            <a:r>
              <a:rPr lang="en-IN" sz="2000" dirty="0">
                <a:latin typeface="Times New Roman" panose="02020603050405020304" pitchFamily="18" charset="0"/>
                <a:cs typeface="Times New Roman" panose="02020603050405020304" pitchFamily="18" charset="0"/>
              </a:rPr>
              <a:t>It further introduces a Trust Intelligence Engine for continuous trust evaluation based on credential verification, reputation, and agent behaviour, while supporting privacy-preserving credential sharing, adaptive trust-based authorization. The goal is to create a scalable, interoperable, and decentralized ecosystem for reliable AI agent collaboration without relying on centralized trust authorities.</a:t>
            </a:r>
          </a:p>
        </p:txBody>
      </p:sp>
    </p:spTree>
    <p:extLst>
      <p:ext uri="{BB962C8B-B14F-4D97-AF65-F5344CB8AC3E}">
        <p14:creationId xmlns:p14="http://schemas.microsoft.com/office/powerpoint/2010/main" val="41218912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232A8C0-3651-FBEA-CD2A-061D52786132}"/>
              </a:ext>
            </a:extLst>
          </p:cNvPr>
          <p:cNvSpPr>
            <a:spLocks noGrp="1"/>
          </p:cNvSpPr>
          <p:nvPr>
            <p:ph type="sldNum" sz="quarter" idx="12"/>
          </p:nvPr>
        </p:nvSpPr>
        <p:spPr/>
        <p:txBody>
          <a:bodyPr/>
          <a:lstStyle/>
          <a:p>
            <a:fld id="{B6F15528-21DE-4FAA-801E-634DDDAF4B2B}" type="slidenum">
              <a:rPr lang="en-US" smtClean="0"/>
              <a:pPr/>
              <a:t>5</a:t>
            </a:fld>
            <a:endParaRPr lang="en-US"/>
          </a:p>
        </p:txBody>
      </p:sp>
      <p:graphicFrame>
        <p:nvGraphicFramePr>
          <p:cNvPr id="3" name="Table 2">
            <a:extLst>
              <a:ext uri="{FF2B5EF4-FFF2-40B4-BE49-F238E27FC236}">
                <a16:creationId xmlns:a16="http://schemas.microsoft.com/office/drawing/2014/main" id="{F890EEDD-53E6-F96F-EBF8-2474BB3B7FA4}"/>
              </a:ext>
            </a:extLst>
          </p:cNvPr>
          <p:cNvGraphicFramePr>
            <a:graphicFrameLocks noGrp="1"/>
          </p:cNvGraphicFramePr>
          <p:nvPr>
            <p:extLst>
              <p:ext uri="{D42A27DB-BD31-4B8C-83A1-F6EECF244321}">
                <p14:modId xmlns:p14="http://schemas.microsoft.com/office/powerpoint/2010/main" val="1555378719"/>
              </p:ext>
            </p:extLst>
          </p:nvPr>
        </p:nvGraphicFramePr>
        <p:xfrm>
          <a:off x="152400" y="1447800"/>
          <a:ext cx="8839200" cy="5159778"/>
        </p:xfrm>
        <a:graphic>
          <a:graphicData uri="http://schemas.openxmlformats.org/drawingml/2006/table">
            <a:tbl>
              <a:tblPr>
                <a:tableStyleId>{5940675A-B579-460E-94D1-54222C63F5DA}</a:tableStyleId>
              </a:tblPr>
              <a:tblGrid>
                <a:gridCol w="1767840">
                  <a:extLst>
                    <a:ext uri="{9D8B030D-6E8A-4147-A177-3AD203B41FA5}">
                      <a16:colId xmlns:a16="http://schemas.microsoft.com/office/drawing/2014/main" val="1258864367"/>
                    </a:ext>
                  </a:extLst>
                </a:gridCol>
                <a:gridCol w="1767840">
                  <a:extLst>
                    <a:ext uri="{9D8B030D-6E8A-4147-A177-3AD203B41FA5}">
                      <a16:colId xmlns:a16="http://schemas.microsoft.com/office/drawing/2014/main" val="1937432398"/>
                    </a:ext>
                  </a:extLst>
                </a:gridCol>
                <a:gridCol w="1767840">
                  <a:extLst>
                    <a:ext uri="{9D8B030D-6E8A-4147-A177-3AD203B41FA5}">
                      <a16:colId xmlns:a16="http://schemas.microsoft.com/office/drawing/2014/main" val="1688841550"/>
                    </a:ext>
                  </a:extLst>
                </a:gridCol>
                <a:gridCol w="1767840">
                  <a:extLst>
                    <a:ext uri="{9D8B030D-6E8A-4147-A177-3AD203B41FA5}">
                      <a16:colId xmlns:a16="http://schemas.microsoft.com/office/drawing/2014/main" val="3365126389"/>
                    </a:ext>
                  </a:extLst>
                </a:gridCol>
                <a:gridCol w="1767840">
                  <a:extLst>
                    <a:ext uri="{9D8B030D-6E8A-4147-A177-3AD203B41FA5}">
                      <a16:colId xmlns:a16="http://schemas.microsoft.com/office/drawing/2014/main" val="3476837578"/>
                    </a:ext>
                  </a:extLst>
                </a:gridCol>
              </a:tblGrid>
              <a:tr h="461969">
                <a:tc>
                  <a:txBody>
                    <a:bodyPr/>
                    <a:lstStyle/>
                    <a:p>
                      <a:pPr algn="ctr">
                        <a:buNone/>
                      </a:pPr>
                      <a:r>
                        <a:rPr lang="en-IN" sz="1400" b="1" dirty="0">
                          <a:latin typeface="Times New Roman" panose="02020603050405020304" pitchFamily="18" charset="0"/>
                          <a:cs typeface="Times New Roman" panose="02020603050405020304" pitchFamily="18" charset="0"/>
                        </a:rPr>
                        <a:t>Reference Paper</a:t>
                      </a:r>
                      <a:endParaRPr lang="en-IN" sz="1400" dirty="0">
                        <a:latin typeface="Times New Roman" panose="02020603050405020304" pitchFamily="18" charset="0"/>
                        <a:cs typeface="Times New Roman" panose="02020603050405020304" pitchFamily="18" charset="0"/>
                      </a:endParaRPr>
                    </a:p>
                  </a:txBody>
                  <a:tcPr marL="45260" marR="45260" marT="22630" marB="22630" anchor="ctr">
                    <a:solidFill>
                      <a:schemeClr val="bg1">
                        <a:lumMod val="75000"/>
                      </a:schemeClr>
                    </a:solidFill>
                  </a:tcPr>
                </a:tc>
                <a:tc>
                  <a:txBody>
                    <a:bodyPr/>
                    <a:lstStyle/>
                    <a:p>
                      <a:pPr algn="ctr">
                        <a:buNone/>
                      </a:pPr>
                      <a:r>
                        <a:rPr lang="en-IN" sz="1400" b="1" dirty="0">
                          <a:latin typeface="Times New Roman" panose="02020603050405020304" pitchFamily="18" charset="0"/>
                          <a:cs typeface="Times New Roman" panose="02020603050405020304" pitchFamily="18" charset="0"/>
                        </a:rPr>
                        <a:t>Research Focus</a:t>
                      </a:r>
                      <a:endParaRPr lang="en-IN" sz="1400" dirty="0">
                        <a:latin typeface="Times New Roman" panose="02020603050405020304" pitchFamily="18" charset="0"/>
                        <a:cs typeface="Times New Roman" panose="02020603050405020304" pitchFamily="18" charset="0"/>
                      </a:endParaRPr>
                    </a:p>
                  </a:txBody>
                  <a:tcPr marL="45260" marR="45260" marT="22630" marB="22630" anchor="ctr">
                    <a:solidFill>
                      <a:schemeClr val="bg1">
                        <a:lumMod val="75000"/>
                      </a:schemeClr>
                    </a:solidFill>
                  </a:tcPr>
                </a:tc>
                <a:tc>
                  <a:txBody>
                    <a:bodyPr/>
                    <a:lstStyle/>
                    <a:p>
                      <a:pPr algn="ctr">
                        <a:buNone/>
                      </a:pPr>
                      <a:r>
                        <a:rPr lang="en-IN" sz="1400" b="1" dirty="0">
                          <a:latin typeface="Times New Roman" panose="02020603050405020304" pitchFamily="18" charset="0"/>
                          <a:cs typeface="Times New Roman" panose="02020603050405020304" pitchFamily="18" charset="0"/>
                        </a:rPr>
                        <a:t>Contribution</a:t>
                      </a:r>
                      <a:endParaRPr lang="en-IN" sz="1400" dirty="0">
                        <a:latin typeface="Times New Roman" panose="02020603050405020304" pitchFamily="18" charset="0"/>
                        <a:cs typeface="Times New Roman" panose="02020603050405020304" pitchFamily="18" charset="0"/>
                      </a:endParaRPr>
                    </a:p>
                  </a:txBody>
                  <a:tcPr marL="45260" marR="45260" marT="22630" marB="22630" anchor="ctr">
                    <a:solidFill>
                      <a:schemeClr val="bg1">
                        <a:lumMod val="75000"/>
                      </a:schemeClr>
                    </a:solidFill>
                  </a:tcPr>
                </a:tc>
                <a:tc>
                  <a:txBody>
                    <a:bodyPr/>
                    <a:lstStyle/>
                    <a:p>
                      <a:pPr algn="ctr">
                        <a:buNone/>
                      </a:pPr>
                      <a:r>
                        <a:rPr lang="en-IN" sz="1400" b="1" dirty="0">
                          <a:latin typeface="Times New Roman" panose="02020603050405020304" pitchFamily="18" charset="0"/>
                          <a:cs typeface="Times New Roman" panose="02020603050405020304" pitchFamily="18" charset="0"/>
                        </a:rPr>
                        <a:t>Research Gap</a:t>
                      </a:r>
                      <a:endParaRPr lang="en-IN" sz="1400" dirty="0">
                        <a:latin typeface="Times New Roman" panose="02020603050405020304" pitchFamily="18" charset="0"/>
                        <a:cs typeface="Times New Roman" panose="02020603050405020304" pitchFamily="18" charset="0"/>
                      </a:endParaRPr>
                    </a:p>
                  </a:txBody>
                  <a:tcPr marL="45260" marR="45260" marT="22630" marB="22630" anchor="ctr">
                    <a:solidFill>
                      <a:schemeClr val="bg1">
                        <a:lumMod val="75000"/>
                      </a:schemeClr>
                    </a:solidFill>
                  </a:tcPr>
                </a:tc>
                <a:tc>
                  <a:txBody>
                    <a:bodyPr/>
                    <a:lstStyle/>
                    <a:p>
                      <a:pPr algn="ctr">
                        <a:buNone/>
                      </a:pPr>
                      <a:r>
                        <a:rPr lang="en-IN" sz="1400" b="1" dirty="0" err="1">
                          <a:latin typeface="Times New Roman" panose="02020603050405020304" pitchFamily="18" charset="0"/>
                          <a:cs typeface="Times New Roman" panose="02020603050405020304" pitchFamily="18" charset="0"/>
                        </a:rPr>
                        <a:t>TrustChain</a:t>
                      </a:r>
                      <a:r>
                        <a:rPr lang="en-IN" sz="1400" b="1" dirty="0">
                          <a:latin typeface="Times New Roman" panose="02020603050405020304" pitchFamily="18" charset="0"/>
                          <a:cs typeface="Times New Roman" panose="02020603050405020304" pitchFamily="18" charset="0"/>
                        </a:rPr>
                        <a:t>-AI Solution</a:t>
                      </a:r>
                      <a:endParaRPr lang="en-IN" sz="1400" dirty="0">
                        <a:latin typeface="Times New Roman" panose="02020603050405020304" pitchFamily="18" charset="0"/>
                        <a:cs typeface="Times New Roman" panose="02020603050405020304" pitchFamily="18" charset="0"/>
                      </a:endParaRPr>
                    </a:p>
                  </a:txBody>
                  <a:tcPr marL="45260" marR="45260" marT="22630" marB="22630" anchor="ctr">
                    <a:solidFill>
                      <a:schemeClr val="bg1">
                        <a:lumMod val="75000"/>
                      </a:schemeClr>
                    </a:solidFill>
                  </a:tcPr>
                </a:tc>
                <a:extLst>
                  <a:ext uri="{0D108BD9-81ED-4DB2-BD59-A6C34878D82A}">
                    <a16:rowId xmlns:a16="http://schemas.microsoft.com/office/drawing/2014/main" val="2508651831"/>
                  </a:ext>
                </a:extLst>
              </a:tr>
              <a:tr h="975820">
                <a:tc>
                  <a:txBody>
                    <a:bodyPr/>
                    <a:lstStyle/>
                    <a:p>
                      <a:pPr algn="ctr">
                        <a:buNone/>
                      </a:pPr>
                      <a:r>
                        <a:rPr lang="en-IN" sz="1400" b="1" dirty="0">
                          <a:latin typeface="Times New Roman" panose="02020603050405020304" pitchFamily="18" charset="0"/>
                          <a:cs typeface="Times New Roman" panose="02020603050405020304" pitchFamily="18" charset="0"/>
                        </a:rPr>
                        <a:t>AI Agents with DIDs &amp; VCs (Base Paper)</a:t>
                      </a:r>
                    </a:p>
                  </a:txBody>
                  <a:tcPr marL="45260" marR="45260" marT="22630" marB="22630" anchor="ctr"/>
                </a:tc>
                <a:tc>
                  <a:txBody>
                    <a:bodyPr/>
                    <a:lstStyle/>
                    <a:p>
                      <a:pPr algn="ctr">
                        <a:buNone/>
                      </a:pPr>
                      <a:r>
                        <a:rPr lang="en-IN" sz="1400" dirty="0">
                          <a:latin typeface="Times New Roman" panose="02020603050405020304" pitchFamily="18" charset="0"/>
                          <a:cs typeface="Times New Roman" panose="02020603050405020304" pitchFamily="18" charset="0"/>
                        </a:rPr>
                        <a:t>AI Agent Identity, DID, VC</a:t>
                      </a:r>
                    </a:p>
                  </a:txBody>
                  <a:tcPr marL="45260" marR="45260" marT="22630" marB="22630" anchor="ctr"/>
                </a:tc>
                <a:tc>
                  <a:txBody>
                    <a:bodyPr/>
                    <a:lstStyle/>
                    <a:p>
                      <a:pPr algn="ctr">
                        <a:buNone/>
                      </a:pPr>
                      <a:r>
                        <a:rPr lang="en-IN" sz="1400" dirty="0">
                          <a:latin typeface="Times New Roman" panose="02020603050405020304" pitchFamily="18" charset="0"/>
                          <a:cs typeface="Times New Roman" panose="02020603050405020304" pitchFamily="18" charset="0"/>
                        </a:rPr>
                        <a:t>Secure decentralized AI identity &amp; authentication</a:t>
                      </a:r>
                    </a:p>
                  </a:txBody>
                  <a:tcPr marL="45260" marR="45260" marT="22630" marB="22630" anchor="ctr"/>
                </a:tc>
                <a:tc>
                  <a:txBody>
                    <a:bodyPr/>
                    <a:lstStyle/>
                    <a:p>
                      <a:pPr algn="ctr">
                        <a:buNone/>
                      </a:pPr>
                      <a:r>
                        <a:rPr lang="en-IN" sz="1400" dirty="0">
                          <a:latin typeface="Times New Roman" panose="02020603050405020304" pitchFamily="18" charset="0"/>
                          <a:cs typeface="Times New Roman" panose="02020603050405020304" pitchFamily="18" charset="0"/>
                        </a:rPr>
                        <a:t>No trust scoring or reputation management</a:t>
                      </a:r>
                    </a:p>
                  </a:txBody>
                  <a:tcPr marL="45260" marR="45260" marT="22630" marB="22630" anchor="ctr"/>
                </a:tc>
                <a:tc>
                  <a:txBody>
                    <a:bodyPr/>
                    <a:lstStyle/>
                    <a:p>
                      <a:pPr algn="ctr">
                        <a:buNone/>
                      </a:pPr>
                      <a:r>
                        <a:rPr lang="en-IN" sz="1400" b="0" dirty="0">
                          <a:latin typeface="Times New Roman" panose="02020603050405020304" pitchFamily="18" charset="0"/>
                          <a:cs typeface="Times New Roman" panose="02020603050405020304" pitchFamily="18" charset="0"/>
                        </a:rPr>
                        <a:t>Adds Trust Intelligence Engine, dynamic trust scoring &amp; malicious agent detection</a:t>
                      </a:r>
                    </a:p>
                  </a:txBody>
                  <a:tcPr marL="45260" marR="45260" marT="22630" marB="22630" anchor="ctr"/>
                </a:tc>
                <a:extLst>
                  <a:ext uri="{0D108BD9-81ED-4DB2-BD59-A6C34878D82A}">
                    <a16:rowId xmlns:a16="http://schemas.microsoft.com/office/drawing/2014/main" val="2304058112"/>
                  </a:ext>
                </a:extLst>
              </a:tr>
              <a:tr h="1207248">
                <a:tc>
                  <a:txBody>
                    <a:bodyPr/>
                    <a:lstStyle/>
                    <a:p>
                      <a:pPr algn="ctr">
                        <a:buNone/>
                      </a:pPr>
                      <a:r>
                        <a:rPr lang="en-IN" sz="1400" b="1" dirty="0">
                          <a:latin typeface="Times New Roman" panose="02020603050405020304" pitchFamily="18" charset="0"/>
                          <a:cs typeface="Times New Roman" panose="02020603050405020304" pitchFamily="18" charset="0"/>
                        </a:rPr>
                        <a:t>LOKA Protocol: A Decentralized Framework for Trustworthy and Ethical AI Agent Ecosystems</a:t>
                      </a:r>
                    </a:p>
                  </a:txBody>
                  <a:tcPr marL="45260" marR="45260" marT="22630" marB="22630" anchor="ctr"/>
                </a:tc>
                <a:tc>
                  <a:txBody>
                    <a:bodyPr/>
                    <a:lstStyle/>
                    <a:p>
                      <a:pPr algn="ctr">
                        <a:buNone/>
                      </a:pPr>
                      <a:r>
                        <a:rPr lang="en-IN" sz="1400" dirty="0">
                          <a:latin typeface="Times New Roman" panose="02020603050405020304" pitchFamily="18" charset="0"/>
                          <a:cs typeface="Times New Roman" panose="02020603050405020304" pitchFamily="18" charset="0"/>
                        </a:rPr>
                        <a:t>AI Identity, Ethical AI</a:t>
                      </a:r>
                    </a:p>
                  </a:txBody>
                  <a:tcPr marL="45260" marR="45260" marT="22630" marB="22630" anchor="ctr"/>
                </a:tc>
                <a:tc>
                  <a:txBody>
                    <a:bodyPr/>
                    <a:lstStyle/>
                    <a:p>
                      <a:pPr algn="ctr">
                        <a:buNone/>
                      </a:pPr>
                      <a:r>
                        <a:rPr lang="en-IN" sz="1400" dirty="0">
                          <a:latin typeface="Times New Roman" panose="02020603050405020304" pitchFamily="18" charset="0"/>
                          <a:cs typeface="Times New Roman" panose="02020603050405020304" pitchFamily="18" charset="0"/>
                        </a:rPr>
                        <a:t>Universal AI Agent Identity Layer</a:t>
                      </a:r>
                    </a:p>
                  </a:txBody>
                  <a:tcPr marL="45260" marR="45260" marT="22630" marB="22630" anchor="ctr"/>
                </a:tc>
                <a:tc>
                  <a:txBody>
                    <a:bodyPr/>
                    <a:lstStyle/>
                    <a:p>
                      <a:pPr algn="ctr">
                        <a:buNone/>
                      </a:pPr>
                      <a:r>
                        <a:rPr lang="en-IN" sz="1400" dirty="0">
                          <a:latin typeface="Times New Roman" panose="02020603050405020304" pitchFamily="18" charset="0"/>
                          <a:cs typeface="Times New Roman" panose="02020603050405020304" pitchFamily="18" charset="0"/>
                        </a:rPr>
                        <a:t>No real-time trust evaluation</a:t>
                      </a:r>
                    </a:p>
                  </a:txBody>
                  <a:tcPr marL="45260" marR="45260" marT="22630" marB="22630" anchor="ctr"/>
                </a:tc>
                <a:tc>
                  <a:txBody>
                    <a:bodyPr/>
                    <a:lstStyle/>
                    <a:p>
                      <a:pPr algn="ctr">
                        <a:buNone/>
                      </a:pPr>
                      <a:r>
                        <a:rPr lang="en-IN" sz="1400" dirty="0">
                          <a:latin typeface="Times New Roman" panose="02020603050405020304" pitchFamily="18" charset="0"/>
                          <a:cs typeface="Times New Roman" panose="02020603050405020304" pitchFamily="18" charset="0"/>
                        </a:rPr>
                        <a:t>Continuous trust monitoring &amp; decentralized reputation</a:t>
                      </a:r>
                    </a:p>
                  </a:txBody>
                  <a:tcPr marL="45260" marR="45260" marT="22630" marB="22630" anchor="ctr"/>
                </a:tc>
                <a:extLst>
                  <a:ext uri="{0D108BD9-81ED-4DB2-BD59-A6C34878D82A}">
                    <a16:rowId xmlns:a16="http://schemas.microsoft.com/office/drawing/2014/main" val="1626194083"/>
                  </a:ext>
                </a:extLst>
              </a:tr>
              <a:tr h="443340">
                <a:tc>
                  <a:txBody>
                    <a:bodyPr/>
                    <a:lstStyle/>
                    <a:p>
                      <a:pPr algn="ctr">
                        <a:buNone/>
                      </a:pPr>
                      <a:r>
                        <a:rPr lang="en-IN" sz="1400" b="1" dirty="0">
                          <a:latin typeface="Times New Roman" panose="02020603050405020304" pitchFamily="18" charset="0"/>
                          <a:cs typeface="Times New Roman" panose="02020603050405020304" pitchFamily="18" charset="0"/>
                        </a:rPr>
                        <a:t>Selective Disclosure in SSI</a:t>
                      </a:r>
                    </a:p>
                  </a:txBody>
                  <a:tcPr marL="45260" marR="45260" marT="22630" marB="22630" anchor="ctr"/>
                </a:tc>
                <a:tc>
                  <a:txBody>
                    <a:bodyPr/>
                    <a:lstStyle/>
                    <a:p>
                      <a:pPr algn="ctr">
                        <a:buNone/>
                      </a:pPr>
                      <a:r>
                        <a:rPr lang="en-IN" sz="1400" dirty="0">
                          <a:latin typeface="Times New Roman" panose="02020603050405020304" pitchFamily="18" charset="0"/>
                          <a:cs typeface="Times New Roman" panose="02020603050405020304" pitchFamily="18" charset="0"/>
                        </a:rPr>
                        <a:t>Privacy, Credential Sharing</a:t>
                      </a:r>
                    </a:p>
                  </a:txBody>
                  <a:tcPr marL="45260" marR="45260" marT="22630" marB="22630" anchor="ctr"/>
                </a:tc>
                <a:tc>
                  <a:txBody>
                    <a:bodyPr/>
                    <a:lstStyle/>
                    <a:p>
                      <a:pPr algn="ctr">
                        <a:buNone/>
                      </a:pPr>
                      <a:r>
                        <a:rPr lang="en-IN" sz="1400" dirty="0">
                          <a:latin typeface="Times New Roman" panose="02020603050405020304" pitchFamily="18" charset="0"/>
                          <a:cs typeface="Times New Roman" panose="02020603050405020304" pitchFamily="18" charset="0"/>
                        </a:rPr>
                        <a:t>Privacy-preserving credential exchange</a:t>
                      </a:r>
                    </a:p>
                  </a:txBody>
                  <a:tcPr marL="45260" marR="45260" marT="22630" marB="22630" anchor="ctr"/>
                </a:tc>
                <a:tc>
                  <a:txBody>
                    <a:bodyPr/>
                    <a:lstStyle/>
                    <a:p>
                      <a:pPr algn="ctr">
                        <a:buNone/>
                      </a:pPr>
                      <a:r>
                        <a:rPr lang="en-IN" sz="1400" dirty="0">
                          <a:latin typeface="Times New Roman" panose="02020603050405020304" pitchFamily="18" charset="0"/>
                          <a:cs typeface="Times New Roman" panose="02020603050405020304" pitchFamily="18" charset="0"/>
                        </a:rPr>
                        <a:t>No AI collaboration or trust analysis</a:t>
                      </a:r>
                    </a:p>
                  </a:txBody>
                  <a:tcPr marL="45260" marR="45260" marT="22630" marB="22630" anchor="ctr"/>
                </a:tc>
                <a:tc>
                  <a:txBody>
                    <a:bodyPr/>
                    <a:lstStyle/>
                    <a:p>
                      <a:pPr algn="ctr">
                        <a:buNone/>
                      </a:pPr>
                      <a:r>
                        <a:rPr lang="en-IN" sz="1400" dirty="0">
                          <a:latin typeface="Times New Roman" panose="02020603050405020304" pitchFamily="18" charset="0"/>
                          <a:cs typeface="Times New Roman" panose="02020603050405020304" pitchFamily="18" charset="0"/>
                        </a:rPr>
                        <a:t>Secure selective disclosure with trust evaluation</a:t>
                      </a:r>
                    </a:p>
                  </a:txBody>
                  <a:tcPr marL="45260" marR="45260" marT="22630" marB="22630" anchor="ctr"/>
                </a:tc>
                <a:extLst>
                  <a:ext uri="{0D108BD9-81ED-4DB2-BD59-A6C34878D82A}">
                    <a16:rowId xmlns:a16="http://schemas.microsoft.com/office/drawing/2014/main" val="3160244866"/>
                  </a:ext>
                </a:extLst>
              </a:tr>
              <a:tr h="505464">
                <a:tc>
                  <a:txBody>
                    <a:bodyPr/>
                    <a:lstStyle/>
                    <a:p>
                      <a:pPr algn="ctr">
                        <a:buNone/>
                      </a:pPr>
                      <a:r>
                        <a:rPr lang="en-IN" sz="1400" b="1" dirty="0" err="1">
                          <a:latin typeface="Times New Roman" panose="02020603050405020304" pitchFamily="18" charset="0"/>
                          <a:cs typeface="Times New Roman" panose="02020603050405020304" pitchFamily="18" charset="0"/>
                        </a:rPr>
                        <a:t>SoK</a:t>
                      </a:r>
                      <a:r>
                        <a:rPr lang="en-IN" sz="1400" b="1" dirty="0">
                          <a:latin typeface="Times New Roman" panose="02020603050405020304" pitchFamily="18" charset="0"/>
                          <a:cs typeface="Times New Roman" panose="02020603050405020304" pitchFamily="18" charset="0"/>
                        </a:rPr>
                        <a:t>: Trusting Self-Sovereign Identity</a:t>
                      </a:r>
                    </a:p>
                  </a:txBody>
                  <a:tcPr marL="45260" marR="45260" marT="22630" marB="22630" anchor="ctr"/>
                </a:tc>
                <a:tc>
                  <a:txBody>
                    <a:bodyPr/>
                    <a:lstStyle/>
                    <a:p>
                      <a:pPr algn="ctr">
                        <a:buNone/>
                      </a:pPr>
                      <a:r>
                        <a:rPr lang="en-IN" sz="1400" dirty="0">
                          <a:latin typeface="Times New Roman" panose="02020603050405020304" pitchFamily="18" charset="0"/>
                          <a:cs typeface="Times New Roman" panose="02020603050405020304" pitchFamily="18" charset="0"/>
                        </a:rPr>
                        <a:t>Trust Models, Security</a:t>
                      </a:r>
                    </a:p>
                  </a:txBody>
                  <a:tcPr marL="45260" marR="45260" marT="22630" marB="22630" anchor="ctr"/>
                </a:tc>
                <a:tc>
                  <a:txBody>
                    <a:bodyPr/>
                    <a:lstStyle/>
                    <a:p>
                      <a:pPr algn="ctr">
                        <a:buNone/>
                      </a:pPr>
                      <a:r>
                        <a:rPr lang="en-IN" sz="1400" dirty="0">
                          <a:latin typeface="Times New Roman" panose="02020603050405020304" pitchFamily="18" charset="0"/>
                          <a:cs typeface="Times New Roman" panose="02020603050405020304" pitchFamily="18" charset="0"/>
                        </a:rPr>
                        <a:t>Trust models &amp; threat analysis</a:t>
                      </a:r>
                    </a:p>
                  </a:txBody>
                  <a:tcPr marL="45260" marR="45260" marT="22630" marB="22630" anchor="ctr"/>
                </a:tc>
                <a:tc>
                  <a:txBody>
                    <a:bodyPr/>
                    <a:lstStyle/>
                    <a:p>
                      <a:pPr algn="ctr">
                        <a:buNone/>
                      </a:pPr>
                      <a:r>
                        <a:rPr lang="en-IN" sz="1400" dirty="0">
                          <a:latin typeface="Times New Roman" panose="02020603050405020304" pitchFamily="18" charset="0"/>
                          <a:cs typeface="Times New Roman" panose="02020603050405020304" pitchFamily="18" charset="0"/>
                        </a:rPr>
                        <a:t>Static trust for human identities</a:t>
                      </a:r>
                    </a:p>
                  </a:txBody>
                  <a:tcPr marL="45260" marR="45260" marT="22630" marB="22630" anchor="ctr"/>
                </a:tc>
                <a:tc>
                  <a:txBody>
                    <a:bodyPr/>
                    <a:lstStyle/>
                    <a:p>
                      <a:pPr algn="ctr">
                        <a:buNone/>
                      </a:pPr>
                      <a:r>
                        <a:rPr lang="en-IN" sz="1400" dirty="0">
                          <a:latin typeface="Times New Roman" panose="02020603050405020304" pitchFamily="18" charset="0"/>
                          <a:cs typeface="Times New Roman" panose="02020603050405020304" pitchFamily="18" charset="0"/>
                        </a:rPr>
                        <a:t>Dynamic trust using </a:t>
                      </a:r>
                      <a:r>
                        <a:rPr lang="en-IN" sz="1400" dirty="0" err="1">
                          <a:latin typeface="Times New Roman" panose="02020603050405020304" pitchFamily="18" charset="0"/>
                          <a:cs typeface="Times New Roman" panose="02020603050405020304" pitchFamily="18" charset="0"/>
                        </a:rPr>
                        <a:t>behavior</a:t>
                      </a:r>
                      <a:r>
                        <a:rPr lang="en-IN" sz="1400" dirty="0">
                          <a:latin typeface="Times New Roman" panose="02020603050405020304" pitchFamily="18" charset="0"/>
                          <a:cs typeface="Times New Roman" panose="02020603050405020304" pitchFamily="18" charset="0"/>
                        </a:rPr>
                        <a:t>, reputation &amp; history</a:t>
                      </a:r>
                    </a:p>
                  </a:txBody>
                  <a:tcPr marL="45260" marR="45260" marT="22630" marB="22630" anchor="ctr"/>
                </a:tc>
                <a:extLst>
                  <a:ext uri="{0D108BD9-81ED-4DB2-BD59-A6C34878D82A}">
                    <a16:rowId xmlns:a16="http://schemas.microsoft.com/office/drawing/2014/main" val="2978775145"/>
                  </a:ext>
                </a:extLst>
              </a:tr>
              <a:tr h="879638">
                <a:tc>
                  <a:txBody>
                    <a:bodyPr/>
                    <a:lstStyle/>
                    <a:p>
                      <a:pPr algn="ctr">
                        <a:buNone/>
                      </a:pPr>
                      <a:r>
                        <a:rPr lang="en-IN" sz="1400" b="1" dirty="0">
                          <a:latin typeface="Times New Roman" panose="02020603050405020304" pitchFamily="18" charset="0"/>
                          <a:cs typeface="Times New Roman" panose="02020603050405020304" pitchFamily="18" charset="0"/>
                        </a:rPr>
                        <a:t>Self-Sovereign Digital Identity</a:t>
                      </a:r>
                    </a:p>
                  </a:txBody>
                  <a:tcPr marL="45260" marR="45260" marT="22630" marB="22630" anchor="ctr"/>
                </a:tc>
                <a:tc>
                  <a:txBody>
                    <a:bodyPr/>
                    <a:lstStyle/>
                    <a:p>
                      <a:pPr algn="ctr">
                        <a:buNone/>
                      </a:pPr>
                      <a:r>
                        <a:rPr lang="en-IN" sz="1400" dirty="0">
                          <a:latin typeface="Times New Roman" panose="02020603050405020304" pitchFamily="18" charset="0"/>
                          <a:cs typeface="Times New Roman" panose="02020603050405020304" pitchFamily="18" charset="0"/>
                        </a:rPr>
                        <a:t>Decentralized Identity</a:t>
                      </a:r>
                    </a:p>
                  </a:txBody>
                  <a:tcPr marL="45260" marR="45260" marT="22630" marB="22630" anchor="ctr"/>
                </a:tc>
                <a:tc>
                  <a:txBody>
                    <a:bodyPr/>
                    <a:lstStyle/>
                    <a:p>
                      <a:pPr algn="ctr">
                        <a:buNone/>
                      </a:pPr>
                      <a:r>
                        <a:rPr lang="en-IN" sz="1400" dirty="0">
                          <a:latin typeface="Times New Roman" panose="02020603050405020304" pitchFamily="18" charset="0"/>
                          <a:cs typeface="Times New Roman" panose="02020603050405020304" pitchFamily="18" charset="0"/>
                        </a:rPr>
                        <a:t>Introduced Self-Sovereign Identity (SSI)</a:t>
                      </a:r>
                    </a:p>
                  </a:txBody>
                  <a:tcPr marL="45260" marR="45260" marT="22630" marB="22630" anchor="ctr"/>
                </a:tc>
                <a:tc>
                  <a:txBody>
                    <a:bodyPr/>
                    <a:lstStyle/>
                    <a:p>
                      <a:pPr algn="ctr">
                        <a:buNone/>
                      </a:pPr>
                      <a:r>
                        <a:rPr lang="en-IN" sz="1400" dirty="0">
                          <a:latin typeface="Times New Roman" panose="02020603050405020304" pitchFamily="18" charset="0"/>
                          <a:cs typeface="Times New Roman" panose="02020603050405020304" pitchFamily="18" charset="0"/>
                        </a:rPr>
                        <a:t>Limited to human identities</a:t>
                      </a:r>
                    </a:p>
                  </a:txBody>
                  <a:tcPr marL="45260" marR="45260" marT="22630" marB="22630" anchor="ctr"/>
                </a:tc>
                <a:tc>
                  <a:txBody>
                    <a:bodyPr/>
                    <a:lstStyle/>
                    <a:p>
                      <a:pPr algn="ctr">
                        <a:buNone/>
                      </a:pPr>
                      <a:r>
                        <a:rPr lang="en-IN" sz="1400" dirty="0">
                          <a:latin typeface="Times New Roman" panose="02020603050405020304" pitchFamily="18" charset="0"/>
                          <a:cs typeface="Times New Roman" panose="02020603050405020304" pitchFamily="18" charset="0"/>
                        </a:rPr>
                        <a:t>Extends SSI to autonomous AI agents using DIDs &amp; VCs</a:t>
                      </a:r>
                    </a:p>
                  </a:txBody>
                  <a:tcPr marL="45260" marR="45260" marT="22630" marB="22630" anchor="ctr"/>
                </a:tc>
                <a:extLst>
                  <a:ext uri="{0D108BD9-81ED-4DB2-BD59-A6C34878D82A}">
                    <a16:rowId xmlns:a16="http://schemas.microsoft.com/office/drawing/2014/main" val="1409119453"/>
                  </a:ext>
                </a:extLst>
              </a:tr>
            </a:tbl>
          </a:graphicData>
        </a:graphic>
      </p:graphicFrame>
      <p:sp>
        <p:nvSpPr>
          <p:cNvPr id="5" name="TextBox 4">
            <a:extLst>
              <a:ext uri="{FF2B5EF4-FFF2-40B4-BE49-F238E27FC236}">
                <a16:creationId xmlns:a16="http://schemas.microsoft.com/office/drawing/2014/main" id="{7F6B0B2A-F945-6A03-2A6E-DDD71A4C163A}"/>
              </a:ext>
            </a:extLst>
          </p:cNvPr>
          <p:cNvSpPr txBox="1"/>
          <p:nvPr/>
        </p:nvSpPr>
        <p:spPr>
          <a:xfrm>
            <a:off x="3429000" y="609600"/>
            <a:ext cx="4191000" cy="646331"/>
          </a:xfrm>
          <a:prstGeom prst="rect">
            <a:avLst/>
          </a:prstGeom>
          <a:noFill/>
        </p:spPr>
        <p:txBody>
          <a:bodyPr wrap="square">
            <a:spAutoFit/>
          </a:bodyPr>
          <a:lstStyle/>
          <a:p>
            <a:pPr algn="ctr">
              <a:buNone/>
            </a:pPr>
            <a:r>
              <a:rPr lang="en-IN" sz="3600" b="1" dirty="0">
                <a:latin typeface="Times New Roman" panose="02020603050405020304" pitchFamily="18" charset="0"/>
                <a:cs typeface="Times New Roman" panose="02020603050405020304" pitchFamily="18" charset="0"/>
              </a:rPr>
              <a:t>Literature Survey</a:t>
            </a:r>
          </a:p>
        </p:txBody>
      </p:sp>
    </p:spTree>
    <p:extLst>
      <p:ext uri="{BB962C8B-B14F-4D97-AF65-F5344CB8AC3E}">
        <p14:creationId xmlns:p14="http://schemas.microsoft.com/office/powerpoint/2010/main" val="24629384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5F891CC-D10F-2012-AF05-0F97D329E2A1}"/>
              </a:ext>
            </a:extLst>
          </p:cNvPr>
          <p:cNvSpPr>
            <a:spLocks noGrp="1"/>
          </p:cNvSpPr>
          <p:nvPr>
            <p:ph type="sldNum" sz="quarter" idx="12"/>
          </p:nvPr>
        </p:nvSpPr>
        <p:spPr/>
        <p:txBody>
          <a:bodyPr/>
          <a:lstStyle/>
          <a:p>
            <a:fld id="{B6F15528-21DE-4FAA-801E-634DDDAF4B2B}" type="slidenum">
              <a:rPr lang="en-US" smtClean="0"/>
              <a:pPr/>
              <a:t>6</a:t>
            </a:fld>
            <a:endParaRPr lang="en-US"/>
          </a:p>
        </p:txBody>
      </p:sp>
      <p:sp>
        <p:nvSpPr>
          <p:cNvPr id="4" name="TextBox 3">
            <a:extLst>
              <a:ext uri="{FF2B5EF4-FFF2-40B4-BE49-F238E27FC236}">
                <a16:creationId xmlns:a16="http://schemas.microsoft.com/office/drawing/2014/main" id="{10B3C901-4902-9124-51C2-112B219BC323}"/>
              </a:ext>
            </a:extLst>
          </p:cNvPr>
          <p:cNvSpPr txBox="1"/>
          <p:nvPr/>
        </p:nvSpPr>
        <p:spPr>
          <a:xfrm>
            <a:off x="2514600" y="1219200"/>
            <a:ext cx="3993401" cy="823752"/>
          </a:xfrm>
          <a:prstGeom prst="rect">
            <a:avLst/>
          </a:prstGeom>
          <a:noFill/>
        </p:spPr>
        <p:txBody>
          <a:bodyPr wrap="none" rtlCol="0">
            <a:spAutoFit/>
          </a:bodyPr>
          <a:lstStyle/>
          <a:p>
            <a:pPr marL="0" lvl="1">
              <a:lnSpc>
                <a:spcPct val="150000"/>
              </a:lnSpc>
            </a:pPr>
            <a:r>
              <a:rPr lang="en-IN" sz="3600" b="1" dirty="0">
                <a:latin typeface="Times New Roman" pitchFamily="18" charset="0"/>
                <a:cs typeface="Times New Roman" pitchFamily="18" charset="0"/>
              </a:rPr>
              <a:t>Problem </a:t>
            </a:r>
            <a:r>
              <a:rPr lang="en-US" sz="3600" b="1" dirty="0">
                <a:latin typeface="Times New Roman" pitchFamily="18" charset="0"/>
                <a:cs typeface="Times New Roman" pitchFamily="18" charset="0"/>
              </a:rPr>
              <a:t>Statement</a:t>
            </a:r>
            <a:endParaRPr lang="en-IN" sz="3600" b="1" dirty="0">
              <a:latin typeface="Times New Roman" pitchFamily="18" charset="0"/>
              <a:cs typeface="Times New Roman" pitchFamily="18" charset="0"/>
            </a:endParaRPr>
          </a:p>
        </p:txBody>
      </p:sp>
      <p:sp>
        <p:nvSpPr>
          <p:cNvPr id="6" name="TextBox 5">
            <a:extLst>
              <a:ext uri="{FF2B5EF4-FFF2-40B4-BE49-F238E27FC236}">
                <a16:creationId xmlns:a16="http://schemas.microsoft.com/office/drawing/2014/main" id="{EE3DD8C4-4508-B7D7-3F1E-D9F5D3447C9F}"/>
              </a:ext>
            </a:extLst>
          </p:cNvPr>
          <p:cNvSpPr txBox="1"/>
          <p:nvPr/>
        </p:nvSpPr>
        <p:spPr>
          <a:xfrm>
            <a:off x="609600" y="2209800"/>
            <a:ext cx="7696200" cy="3170099"/>
          </a:xfrm>
          <a:prstGeom prst="rect">
            <a:avLst/>
          </a:prstGeom>
          <a:noFill/>
        </p:spPr>
        <p:txBody>
          <a:bodyPr wrap="square">
            <a:spAutoFit/>
          </a:bodyPr>
          <a:lstStyle/>
          <a:p>
            <a:pPr algn="just"/>
            <a:r>
              <a:rPr lang="en-IN" sz="2000" dirty="0">
                <a:latin typeface="Times New Roman" panose="02020603050405020304" pitchFamily="18" charset="0"/>
                <a:cs typeface="Times New Roman" panose="02020603050405020304" pitchFamily="18" charset="0"/>
              </a:rPr>
              <a:t>Autonomous AI agents increasingly collaborate across multiple domains, but existing systems primarily focus on identity authentication rather than continuous trust evaluation. Current approaches lack dynamic trust scoring, reputation management, malicious agent detection, and adaptive trust mechanisms, making secure and reliable agent collaboration challenging. There is a need for a decentralized trust framework that combines W3C Decentralized Identifiers (DIDs), Verifiable Credentials (VCs), blockchain, and intelligent trust evaluation to enable secure, scalable, and trustworthy collaboration among autonomous AI agents without relying on centralized authorities.</a:t>
            </a:r>
          </a:p>
        </p:txBody>
      </p:sp>
    </p:spTree>
    <p:extLst>
      <p:ext uri="{BB962C8B-B14F-4D97-AF65-F5344CB8AC3E}">
        <p14:creationId xmlns:p14="http://schemas.microsoft.com/office/powerpoint/2010/main" val="18190484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78653A87-5BD2-46E8-0D44-A8BC7695F82C}"/>
              </a:ext>
            </a:extLst>
          </p:cNvPr>
          <p:cNvSpPr txBox="1"/>
          <p:nvPr/>
        </p:nvSpPr>
        <p:spPr>
          <a:xfrm>
            <a:off x="2494184" y="1066800"/>
            <a:ext cx="3788217" cy="823752"/>
          </a:xfrm>
          <a:prstGeom prst="rect">
            <a:avLst/>
          </a:prstGeom>
          <a:noFill/>
        </p:spPr>
        <p:txBody>
          <a:bodyPr wrap="none" rtlCol="0">
            <a:spAutoFit/>
          </a:bodyPr>
          <a:lstStyle/>
          <a:p>
            <a:pPr marL="0" lvl="1">
              <a:lnSpc>
                <a:spcPct val="150000"/>
              </a:lnSpc>
            </a:pPr>
            <a:r>
              <a:rPr lang="en-US" sz="3600" b="1" dirty="0">
                <a:latin typeface="Times New Roman" pitchFamily="18" charset="0"/>
                <a:cs typeface="Times New Roman" pitchFamily="18" charset="0"/>
              </a:rPr>
              <a:t>Proposed Solution</a:t>
            </a:r>
            <a:endParaRPr lang="en-IN" sz="3600" b="1" dirty="0">
              <a:latin typeface="Times New Roman" pitchFamily="18" charset="0"/>
              <a:cs typeface="Times New Roman" pitchFamily="18" charset="0"/>
            </a:endParaRPr>
          </a:p>
        </p:txBody>
      </p:sp>
      <p:sp>
        <p:nvSpPr>
          <p:cNvPr id="6" name="TextBox 5">
            <a:extLst>
              <a:ext uri="{FF2B5EF4-FFF2-40B4-BE49-F238E27FC236}">
                <a16:creationId xmlns:a16="http://schemas.microsoft.com/office/drawing/2014/main" id="{3CBC7D76-E93E-A751-5DF4-FA423CF94CEC}"/>
              </a:ext>
            </a:extLst>
          </p:cNvPr>
          <p:cNvSpPr txBox="1"/>
          <p:nvPr/>
        </p:nvSpPr>
        <p:spPr>
          <a:xfrm>
            <a:off x="609595" y="1971856"/>
            <a:ext cx="7924801" cy="4401205"/>
          </a:xfrm>
          <a:prstGeom prst="rect">
            <a:avLst/>
          </a:prstGeom>
          <a:noFill/>
        </p:spPr>
        <p:txBody>
          <a:bodyPr wrap="square">
            <a:spAutoFit/>
          </a:bodyPr>
          <a:lstStyle/>
          <a:p>
            <a:pPr algn="just"/>
            <a:r>
              <a:rPr lang="en-IN" sz="2000" dirty="0" err="1">
                <a:latin typeface="Times New Roman" panose="02020603050405020304" pitchFamily="18" charset="0"/>
                <a:cs typeface="Times New Roman" panose="02020603050405020304" pitchFamily="18" charset="0"/>
              </a:rPr>
              <a:t>TrustChain</a:t>
            </a:r>
            <a:r>
              <a:rPr lang="en-IN" sz="2000" dirty="0">
                <a:latin typeface="Times New Roman" panose="02020603050405020304" pitchFamily="18" charset="0"/>
                <a:cs typeface="Times New Roman" panose="02020603050405020304" pitchFamily="18" charset="0"/>
              </a:rPr>
              <a:t>-AI proposes a Decentralized Trust Intelligence Framework that enables secure, trustworthy, and autonomous collaboration among AI agents across multiple organizational domains. The framework integrates W3C Decentralized Identifiers (DIDs), Verifiable Credentials (VCs), and blockchain technology to provide decentralized digital identities, tamper-proof credential verification, and secure cross-domain authentication.</a:t>
            </a:r>
          </a:p>
          <a:p>
            <a:pPr algn="just"/>
            <a:endParaRPr lang="en-IN" sz="2000" dirty="0">
              <a:latin typeface="Times New Roman" panose="02020603050405020304" pitchFamily="18" charset="0"/>
              <a:cs typeface="Times New Roman" panose="02020603050405020304" pitchFamily="18" charset="0"/>
            </a:endParaRPr>
          </a:p>
          <a:p>
            <a:pPr algn="just"/>
            <a:r>
              <a:rPr lang="en-IN" sz="2000" dirty="0">
                <a:latin typeface="Times New Roman" panose="02020603050405020304" pitchFamily="18" charset="0"/>
                <a:cs typeface="Times New Roman" panose="02020603050405020304" pitchFamily="18" charset="0"/>
              </a:rPr>
              <a:t>To address the limitations of existing identity-based approaches, </a:t>
            </a:r>
            <a:r>
              <a:rPr lang="en-IN" sz="2000" dirty="0" err="1">
                <a:latin typeface="Times New Roman" panose="02020603050405020304" pitchFamily="18" charset="0"/>
                <a:cs typeface="Times New Roman" panose="02020603050405020304" pitchFamily="18" charset="0"/>
              </a:rPr>
              <a:t>TrustChain</a:t>
            </a:r>
            <a:r>
              <a:rPr lang="en-IN" sz="2000" dirty="0">
                <a:latin typeface="Times New Roman" panose="02020603050405020304" pitchFamily="18" charset="0"/>
                <a:cs typeface="Times New Roman" panose="02020603050405020304" pitchFamily="18" charset="0"/>
              </a:rPr>
              <a:t>-AI introduces a Trust Intelligence Engine that continuously evaluates AI agents using credential verification, reputation scores, behaviour analysis, interaction history, and adaptive trust policies. The framework also supports privacy-preserving selective disclosure, malicious agent detection. ensuring secure, scalable, and future-ready collaboration without relying on centralized trust authorities.</a:t>
            </a:r>
          </a:p>
        </p:txBody>
      </p:sp>
    </p:spTree>
    <p:extLst>
      <p:ext uri="{BB962C8B-B14F-4D97-AF65-F5344CB8AC3E}">
        <p14:creationId xmlns:p14="http://schemas.microsoft.com/office/powerpoint/2010/main" val="4795766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766BDB5-9CCD-B2AE-6184-846F861DCB39}"/>
              </a:ext>
            </a:extLst>
          </p:cNvPr>
          <p:cNvSpPr>
            <a:spLocks noGrp="1"/>
          </p:cNvSpPr>
          <p:nvPr>
            <p:ph type="sldNum" sz="quarter" idx="12"/>
          </p:nvPr>
        </p:nvSpPr>
        <p:spPr/>
        <p:txBody>
          <a:bodyPr/>
          <a:lstStyle/>
          <a:p>
            <a:fld id="{B6F15528-21DE-4FAA-801E-634DDDAF4B2B}" type="slidenum">
              <a:rPr lang="en-US" smtClean="0"/>
              <a:pPr/>
              <a:t>8</a:t>
            </a:fld>
            <a:endParaRPr lang="en-US"/>
          </a:p>
        </p:txBody>
      </p:sp>
      <p:sp>
        <p:nvSpPr>
          <p:cNvPr id="4" name="TextBox 3">
            <a:extLst>
              <a:ext uri="{FF2B5EF4-FFF2-40B4-BE49-F238E27FC236}">
                <a16:creationId xmlns:a16="http://schemas.microsoft.com/office/drawing/2014/main" id="{69C6F08D-B33B-8FC6-F95A-56C1349338B4}"/>
              </a:ext>
            </a:extLst>
          </p:cNvPr>
          <p:cNvSpPr txBox="1"/>
          <p:nvPr/>
        </p:nvSpPr>
        <p:spPr>
          <a:xfrm>
            <a:off x="647700" y="1865531"/>
            <a:ext cx="7848600" cy="4524315"/>
          </a:xfrm>
          <a:prstGeom prst="rect">
            <a:avLst/>
          </a:prstGeom>
          <a:noFill/>
        </p:spPr>
        <p:txBody>
          <a:bodyPr wrap="square">
            <a:spAutoFit/>
          </a:bodyPr>
          <a:lstStyle/>
          <a:p>
            <a:pPr algn="just">
              <a:buNone/>
            </a:pPr>
            <a:r>
              <a:rPr lang="en-IN" sz="1800" dirty="0">
                <a:latin typeface="Times New Roman" panose="02020603050405020304" pitchFamily="18" charset="0"/>
                <a:cs typeface="Times New Roman" panose="02020603050405020304" pitchFamily="18" charset="0"/>
              </a:rPr>
              <a:t>The proposed </a:t>
            </a:r>
            <a:r>
              <a:rPr lang="en-IN" sz="1800" dirty="0" err="1">
                <a:latin typeface="Times New Roman" panose="02020603050405020304" pitchFamily="18" charset="0"/>
                <a:cs typeface="Times New Roman" panose="02020603050405020304" pitchFamily="18" charset="0"/>
              </a:rPr>
              <a:t>TrustChain</a:t>
            </a:r>
            <a:r>
              <a:rPr lang="en-IN" sz="1800" dirty="0">
                <a:latin typeface="Times New Roman" panose="02020603050405020304" pitchFamily="18" charset="0"/>
                <a:cs typeface="Times New Roman" panose="02020603050405020304" pitchFamily="18" charset="0"/>
              </a:rPr>
              <a:t>-AI framework extends the decentralized identity model of the base research paper by integrating a Dynamic Trust Intelligence Engine for secure autonomous AI agent collaboration. Initially, each AI agent is assigned a W3C Decentralized Identifier (DID) and authenticated through Verifiable Credentials (VCs) issued by trusted authorities. The corresponding identity metadata is securely anchored on a blockchain, enabling decentralized, tamper-proof identity verification.</a:t>
            </a:r>
          </a:p>
          <a:p>
            <a:pPr algn="just">
              <a:buNone/>
            </a:pPr>
            <a:endParaRPr lang="en-IN" sz="1800" dirty="0">
              <a:latin typeface="Times New Roman" panose="02020603050405020304" pitchFamily="18" charset="0"/>
              <a:cs typeface="Times New Roman" panose="02020603050405020304" pitchFamily="18" charset="0"/>
            </a:endParaRPr>
          </a:p>
          <a:p>
            <a:pPr algn="just">
              <a:buNone/>
            </a:pPr>
            <a:r>
              <a:rPr lang="en-IN" sz="1800" dirty="0">
                <a:latin typeface="Times New Roman" panose="02020603050405020304" pitchFamily="18" charset="0"/>
                <a:cs typeface="Times New Roman" panose="02020603050405020304" pitchFamily="18" charset="0"/>
              </a:rPr>
              <a:t>After successful authentication, the proposed framework continuously evaluates each AI agent using credential validity, reputation, behaviour patterns, interaction history, and policy compliance to generate a Dynamic Trust Score. Based on this score, an adaptive trust-based authorization mechanism grants, restricts, or denies collaboration requests. Finally, all authentication events, trust decisions, and collaboration records are immutably stored on the blockchain, ensuring secure, transparent, and accountable AI agent collaboration across decentralized environments.</a:t>
            </a:r>
          </a:p>
        </p:txBody>
      </p:sp>
      <p:sp>
        <p:nvSpPr>
          <p:cNvPr id="6" name="TextBox 5">
            <a:extLst>
              <a:ext uri="{FF2B5EF4-FFF2-40B4-BE49-F238E27FC236}">
                <a16:creationId xmlns:a16="http://schemas.microsoft.com/office/drawing/2014/main" id="{70F0A3E9-110F-C069-8C5D-45C8C8A3C541}"/>
              </a:ext>
            </a:extLst>
          </p:cNvPr>
          <p:cNvSpPr txBox="1"/>
          <p:nvPr/>
        </p:nvSpPr>
        <p:spPr>
          <a:xfrm>
            <a:off x="2857500" y="1219200"/>
            <a:ext cx="3429000" cy="646331"/>
          </a:xfrm>
          <a:prstGeom prst="rect">
            <a:avLst/>
          </a:prstGeom>
          <a:noFill/>
        </p:spPr>
        <p:txBody>
          <a:bodyPr wrap="square">
            <a:spAutoFit/>
          </a:bodyPr>
          <a:lstStyle/>
          <a:p>
            <a:pPr>
              <a:buNone/>
            </a:pPr>
            <a:r>
              <a:rPr lang="en-IN" sz="3600" b="1" dirty="0">
                <a:latin typeface="Times New Roman" panose="02020603050405020304" pitchFamily="18" charset="0"/>
                <a:cs typeface="Times New Roman" panose="02020603050405020304" pitchFamily="18" charset="0"/>
              </a:rPr>
              <a:t>Methodology</a:t>
            </a:r>
            <a:endParaRPr lang="en-IN" sz="28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619234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D55E2A-5C48-C94B-2E49-54E816253A01}"/>
              </a:ext>
            </a:extLst>
          </p:cNvPr>
          <p:cNvSpPr>
            <a:spLocks noGrp="1"/>
          </p:cNvSpPr>
          <p:nvPr>
            <p:ph type="title"/>
          </p:nvPr>
        </p:nvSpPr>
        <p:spPr>
          <a:xfrm>
            <a:off x="517003" y="1179192"/>
            <a:ext cx="8229600" cy="792162"/>
          </a:xfrm>
        </p:spPr>
        <p:txBody>
          <a:bodyPr/>
          <a:lstStyle/>
          <a:p>
            <a:r>
              <a:rPr lang="en-IN" dirty="0">
                <a:latin typeface="Times New Roman" panose="02020603050405020304" pitchFamily="18" charset="0"/>
                <a:cs typeface="Times New Roman" panose="02020603050405020304" pitchFamily="18" charset="0"/>
              </a:rPr>
              <a:t> System Architecture</a:t>
            </a:r>
          </a:p>
        </p:txBody>
      </p:sp>
      <p:sp>
        <p:nvSpPr>
          <p:cNvPr id="3" name="Slide Number Placeholder 2">
            <a:extLst>
              <a:ext uri="{FF2B5EF4-FFF2-40B4-BE49-F238E27FC236}">
                <a16:creationId xmlns:a16="http://schemas.microsoft.com/office/drawing/2014/main" id="{8730B44D-B06F-3D2C-AF68-0042DEED5624}"/>
              </a:ext>
            </a:extLst>
          </p:cNvPr>
          <p:cNvSpPr>
            <a:spLocks noGrp="1"/>
          </p:cNvSpPr>
          <p:nvPr>
            <p:ph type="sldNum" sz="quarter" idx="12"/>
          </p:nvPr>
        </p:nvSpPr>
        <p:spPr/>
        <p:txBody>
          <a:bodyPr/>
          <a:lstStyle/>
          <a:p>
            <a:fld id="{B6F15528-21DE-4FAA-801E-634DDDAF4B2B}" type="slidenum">
              <a:rPr lang="en-US" smtClean="0"/>
              <a:pPr/>
              <a:t>9</a:t>
            </a:fld>
            <a:endParaRPr lang="en-US"/>
          </a:p>
        </p:txBody>
      </p:sp>
      <p:pic>
        <p:nvPicPr>
          <p:cNvPr id="6" name="Picture 5">
            <a:extLst>
              <a:ext uri="{FF2B5EF4-FFF2-40B4-BE49-F238E27FC236}">
                <a16:creationId xmlns:a16="http://schemas.microsoft.com/office/drawing/2014/main" id="{85D73F89-B296-43E2-A9FC-EE07D75016DC}"/>
              </a:ext>
            </a:extLst>
          </p:cNvPr>
          <p:cNvPicPr>
            <a:picLocks noChangeAspect="1"/>
          </p:cNvPicPr>
          <p:nvPr/>
        </p:nvPicPr>
        <p:blipFill>
          <a:blip r:embed="rId2"/>
          <a:stretch>
            <a:fillRect/>
          </a:stretch>
        </p:blipFill>
        <p:spPr>
          <a:xfrm>
            <a:off x="669403" y="1880073"/>
            <a:ext cx="7924800" cy="4584754"/>
          </a:xfrm>
          <a:prstGeom prst="rect">
            <a:avLst/>
          </a:prstGeom>
        </p:spPr>
      </p:pic>
    </p:spTree>
    <p:extLst>
      <p:ext uri="{BB962C8B-B14F-4D97-AF65-F5344CB8AC3E}">
        <p14:creationId xmlns:p14="http://schemas.microsoft.com/office/powerpoint/2010/main" val="26599831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 name="TextBox 92">
            <a:extLst>
              <a:ext uri="{FF2B5EF4-FFF2-40B4-BE49-F238E27FC236}">
                <a16:creationId xmlns:a16="http://schemas.microsoft.com/office/drawing/2014/main" id="{66311977-AA11-44AD-CF5E-A414BA1F0C0E}"/>
              </a:ext>
            </a:extLst>
          </p:cNvPr>
          <p:cNvSpPr txBox="1"/>
          <p:nvPr/>
        </p:nvSpPr>
        <p:spPr>
          <a:xfrm>
            <a:off x="1143000" y="1371600"/>
            <a:ext cx="7038188" cy="646331"/>
          </a:xfrm>
          <a:prstGeom prst="rect">
            <a:avLst/>
          </a:prstGeom>
          <a:noFill/>
        </p:spPr>
        <p:txBody>
          <a:bodyPr wrap="square">
            <a:spAutoFit/>
          </a:bodyPr>
          <a:lstStyle/>
          <a:p>
            <a:pPr algn="ctr"/>
            <a:r>
              <a:rPr lang="en-IN" sz="3600" b="1" dirty="0">
                <a:latin typeface="Times New Roman" panose="02020603050405020304" pitchFamily="18" charset="0"/>
                <a:cs typeface="Times New Roman" panose="02020603050405020304" pitchFamily="18" charset="0"/>
              </a:rPr>
              <a:t>Working Flow of </a:t>
            </a:r>
            <a:r>
              <a:rPr lang="en-IN" sz="3600" b="1" dirty="0" err="1">
                <a:latin typeface="Times New Roman" panose="02020603050405020304" pitchFamily="18" charset="0"/>
                <a:cs typeface="Times New Roman" panose="02020603050405020304" pitchFamily="18" charset="0"/>
              </a:rPr>
              <a:t>TrustChain</a:t>
            </a:r>
            <a:r>
              <a:rPr lang="en-IN" sz="3600" b="1" dirty="0">
                <a:latin typeface="Times New Roman" panose="02020603050405020304" pitchFamily="18" charset="0"/>
                <a:cs typeface="Times New Roman" panose="02020603050405020304" pitchFamily="18" charset="0"/>
              </a:rPr>
              <a:t>-AI</a:t>
            </a:r>
          </a:p>
        </p:txBody>
      </p:sp>
      <p:sp>
        <p:nvSpPr>
          <p:cNvPr id="6" name="TextBox 5">
            <a:extLst>
              <a:ext uri="{FF2B5EF4-FFF2-40B4-BE49-F238E27FC236}">
                <a16:creationId xmlns:a16="http://schemas.microsoft.com/office/drawing/2014/main" id="{242516C4-8BB9-0828-B057-63FA65922D26}"/>
              </a:ext>
            </a:extLst>
          </p:cNvPr>
          <p:cNvSpPr txBox="1"/>
          <p:nvPr/>
        </p:nvSpPr>
        <p:spPr>
          <a:xfrm>
            <a:off x="5376672" y="7424928"/>
            <a:ext cx="184731" cy="369332"/>
          </a:xfrm>
          <a:prstGeom prst="rect">
            <a:avLst/>
          </a:prstGeom>
          <a:noFill/>
        </p:spPr>
        <p:txBody>
          <a:bodyPr wrap="none" rtlCol="0">
            <a:spAutoFit/>
          </a:bodyPr>
          <a:lstStyle/>
          <a:p>
            <a:endParaRPr lang="en-IN" dirty="0"/>
          </a:p>
        </p:txBody>
      </p:sp>
      <p:pic>
        <p:nvPicPr>
          <p:cNvPr id="4" name="Picture 3">
            <a:extLst>
              <a:ext uri="{FF2B5EF4-FFF2-40B4-BE49-F238E27FC236}">
                <a16:creationId xmlns:a16="http://schemas.microsoft.com/office/drawing/2014/main" id="{3BEF076F-9942-3B50-CE09-D1B06E042B5D}"/>
              </a:ext>
            </a:extLst>
          </p:cNvPr>
          <p:cNvPicPr>
            <a:picLocks noChangeAspect="1"/>
          </p:cNvPicPr>
          <p:nvPr/>
        </p:nvPicPr>
        <p:blipFill>
          <a:blip r:embed="rId3" cstate="print">
            <a:extLst>
              <a:ext uri="{28A0092B-C50C-407E-A947-70E740481C1C}">
                <a14:useLocalDpi xmlns:a14="http://schemas.microsoft.com/office/drawing/2010/main" val="0"/>
              </a:ext>
            </a:extLst>
          </a:blip>
          <a:srcRect l="1807" t="6315" r="2430" b="4847"/>
          <a:stretch>
            <a:fillRect/>
          </a:stretch>
        </p:blipFill>
        <p:spPr>
          <a:xfrm>
            <a:off x="173038" y="1905000"/>
            <a:ext cx="8476176" cy="4343400"/>
          </a:xfrm>
          <a:prstGeom prst="rect">
            <a:avLst/>
          </a:prstGeom>
        </p:spPr>
      </p:pic>
    </p:spTree>
    <p:extLst>
      <p:ext uri="{BB962C8B-B14F-4D97-AF65-F5344CB8AC3E}">
        <p14:creationId xmlns:p14="http://schemas.microsoft.com/office/powerpoint/2010/main" val="8605772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225672-8BD0-6F18-9E74-3F3A16D9218C}"/>
              </a:ext>
            </a:extLst>
          </p:cNvPr>
          <p:cNvSpPr>
            <a:spLocks noGrp="1"/>
          </p:cNvSpPr>
          <p:nvPr>
            <p:ph type="title"/>
          </p:nvPr>
        </p:nvSpPr>
        <p:spPr>
          <a:xfrm>
            <a:off x="457200" y="1295400"/>
            <a:ext cx="8686800" cy="914400"/>
          </a:xfrm>
        </p:spPr>
        <p:txBody>
          <a:bodyPr>
            <a:noAutofit/>
          </a:bodyPr>
          <a:lstStyle/>
          <a:p>
            <a:r>
              <a:rPr lang="en-IN" sz="3200" dirty="0">
                <a:latin typeface="Times New Roman" panose="02020603050405020304" pitchFamily="18" charset="0"/>
                <a:cs typeface="Times New Roman" panose="02020603050405020304" pitchFamily="18" charset="0"/>
              </a:rPr>
              <a:t>Decentralized Identity and Credential Lifecycle</a:t>
            </a:r>
          </a:p>
        </p:txBody>
      </p:sp>
      <p:sp>
        <p:nvSpPr>
          <p:cNvPr id="3" name="Slide Number Placeholder 2">
            <a:extLst>
              <a:ext uri="{FF2B5EF4-FFF2-40B4-BE49-F238E27FC236}">
                <a16:creationId xmlns:a16="http://schemas.microsoft.com/office/drawing/2014/main" id="{9053D7FA-6462-23C2-86B8-0B89965EB7CF}"/>
              </a:ext>
            </a:extLst>
          </p:cNvPr>
          <p:cNvSpPr>
            <a:spLocks noGrp="1"/>
          </p:cNvSpPr>
          <p:nvPr>
            <p:ph type="sldNum" sz="quarter" idx="12"/>
          </p:nvPr>
        </p:nvSpPr>
        <p:spPr/>
        <p:txBody>
          <a:bodyPr/>
          <a:lstStyle/>
          <a:p>
            <a:fld id="{B6F15528-21DE-4FAA-801E-634DDDAF4B2B}" type="slidenum">
              <a:rPr lang="en-US" smtClean="0"/>
              <a:pPr/>
              <a:t>11</a:t>
            </a:fld>
            <a:endParaRPr lang="en-US"/>
          </a:p>
        </p:txBody>
      </p:sp>
      <p:pic>
        <p:nvPicPr>
          <p:cNvPr id="5" name="Picture 4">
            <a:extLst>
              <a:ext uri="{FF2B5EF4-FFF2-40B4-BE49-F238E27FC236}">
                <a16:creationId xmlns:a16="http://schemas.microsoft.com/office/drawing/2014/main" id="{43C880E0-A471-347C-08D5-5E0F6428A89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7605" y="2057400"/>
            <a:ext cx="8788790" cy="3886200"/>
          </a:xfrm>
          <a:prstGeom prst="rect">
            <a:avLst/>
          </a:prstGeom>
        </p:spPr>
      </p:pic>
    </p:spTree>
    <p:extLst>
      <p:ext uri="{BB962C8B-B14F-4D97-AF65-F5344CB8AC3E}">
        <p14:creationId xmlns:p14="http://schemas.microsoft.com/office/powerpoint/2010/main" val="19962728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920399-2C45-6506-9921-683EE639950D}"/>
              </a:ext>
            </a:extLst>
          </p:cNvPr>
          <p:cNvSpPr>
            <a:spLocks noGrp="1"/>
          </p:cNvSpPr>
          <p:nvPr>
            <p:ph type="title"/>
          </p:nvPr>
        </p:nvSpPr>
        <p:spPr>
          <a:xfrm>
            <a:off x="457200" y="1143000"/>
            <a:ext cx="8229600" cy="914400"/>
          </a:xfrm>
        </p:spPr>
        <p:txBody>
          <a:bodyPr/>
          <a:lstStyle/>
          <a:p>
            <a:r>
              <a:rPr lang="en-IN" dirty="0">
                <a:latin typeface="Times New Roman" panose="02020603050405020304" pitchFamily="18" charset="0"/>
                <a:cs typeface="Times New Roman" panose="02020603050405020304" pitchFamily="18" charset="0"/>
              </a:rPr>
              <a:t>Core Algorithms</a:t>
            </a:r>
          </a:p>
        </p:txBody>
      </p:sp>
      <p:sp>
        <p:nvSpPr>
          <p:cNvPr id="3" name="Slide Number Placeholder 2">
            <a:extLst>
              <a:ext uri="{FF2B5EF4-FFF2-40B4-BE49-F238E27FC236}">
                <a16:creationId xmlns:a16="http://schemas.microsoft.com/office/drawing/2014/main" id="{5AFA07F8-E75F-2913-1D0F-CD5B54576B2E}"/>
              </a:ext>
            </a:extLst>
          </p:cNvPr>
          <p:cNvSpPr>
            <a:spLocks noGrp="1"/>
          </p:cNvSpPr>
          <p:nvPr>
            <p:ph type="sldNum" sz="quarter" idx="12"/>
          </p:nvPr>
        </p:nvSpPr>
        <p:spPr/>
        <p:txBody>
          <a:bodyPr/>
          <a:lstStyle/>
          <a:p>
            <a:fld id="{B6F15528-21DE-4FAA-801E-634DDDAF4B2B}" type="slidenum">
              <a:rPr lang="en-US" smtClean="0"/>
              <a:pPr/>
              <a:t>12</a:t>
            </a:fld>
            <a:endParaRPr lang="en-US"/>
          </a:p>
        </p:txBody>
      </p:sp>
      <p:graphicFrame>
        <p:nvGraphicFramePr>
          <p:cNvPr id="8" name="Table 7">
            <a:extLst>
              <a:ext uri="{FF2B5EF4-FFF2-40B4-BE49-F238E27FC236}">
                <a16:creationId xmlns:a16="http://schemas.microsoft.com/office/drawing/2014/main" id="{D9809E94-28BA-310D-D1FE-08F29198D00D}"/>
              </a:ext>
            </a:extLst>
          </p:cNvPr>
          <p:cNvGraphicFramePr>
            <a:graphicFrameLocks noGrp="1"/>
          </p:cNvGraphicFramePr>
          <p:nvPr>
            <p:extLst>
              <p:ext uri="{D42A27DB-BD31-4B8C-83A1-F6EECF244321}">
                <p14:modId xmlns:p14="http://schemas.microsoft.com/office/powerpoint/2010/main" val="2601786607"/>
              </p:ext>
            </p:extLst>
          </p:nvPr>
        </p:nvGraphicFramePr>
        <p:xfrm>
          <a:off x="249767" y="1986388"/>
          <a:ext cx="8610600" cy="4114789"/>
        </p:xfrm>
        <a:graphic>
          <a:graphicData uri="http://schemas.openxmlformats.org/drawingml/2006/table">
            <a:tbl>
              <a:tblPr>
                <a:tableStyleId>{2D5ABB26-0587-4C30-8999-92F81FD0307C}</a:tableStyleId>
              </a:tblPr>
              <a:tblGrid>
                <a:gridCol w="2870200">
                  <a:extLst>
                    <a:ext uri="{9D8B030D-6E8A-4147-A177-3AD203B41FA5}">
                      <a16:colId xmlns:a16="http://schemas.microsoft.com/office/drawing/2014/main" val="3818002997"/>
                    </a:ext>
                  </a:extLst>
                </a:gridCol>
                <a:gridCol w="2870200">
                  <a:extLst>
                    <a:ext uri="{9D8B030D-6E8A-4147-A177-3AD203B41FA5}">
                      <a16:colId xmlns:a16="http://schemas.microsoft.com/office/drawing/2014/main" val="1470900121"/>
                    </a:ext>
                  </a:extLst>
                </a:gridCol>
                <a:gridCol w="2870200">
                  <a:extLst>
                    <a:ext uri="{9D8B030D-6E8A-4147-A177-3AD203B41FA5}">
                      <a16:colId xmlns:a16="http://schemas.microsoft.com/office/drawing/2014/main" val="3577882022"/>
                    </a:ext>
                  </a:extLst>
                </a:gridCol>
              </a:tblGrid>
              <a:tr h="331378">
                <a:tc>
                  <a:txBody>
                    <a:bodyPr/>
                    <a:lstStyle/>
                    <a:p>
                      <a:pPr algn="ctr">
                        <a:buNone/>
                      </a:pPr>
                      <a:r>
                        <a:rPr lang="en-IN" sz="1400" b="1" dirty="0">
                          <a:solidFill>
                            <a:schemeClr val="tx1"/>
                          </a:solidFill>
                          <a:effectLst/>
                          <a:latin typeface="Times New Roman" panose="02020603050405020304" pitchFamily="18" charset="0"/>
                          <a:cs typeface="Times New Roman" panose="02020603050405020304" pitchFamily="18" charset="0"/>
                        </a:rPr>
                        <a:t>Algorithm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75000"/>
                      </a:schemeClr>
                    </a:solidFill>
                  </a:tcPr>
                </a:tc>
                <a:tc>
                  <a:txBody>
                    <a:bodyPr/>
                    <a:lstStyle/>
                    <a:p>
                      <a:pPr algn="ctr">
                        <a:buNone/>
                      </a:pPr>
                      <a:r>
                        <a:rPr lang="en-IN" sz="1400" b="1" dirty="0">
                          <a:solidFill>
                            <a:schemeClr val="tx1"/>
                          </a:solidFill>
                          <a:effectLst/>
                          <a:latin typeface="Times New Roman" panose="02020603050405020304" pitchFamily="18" charset="0"/>
                          <a:cs typeface="Times New Roman" panose="02020603050405020304" pitchFamily="18" charset="0"/>
                        </a:rPr>
                        <a:t>Purpose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75000"/>
                      </a:schemeClr>
                    </a:solidFill>
                  </a:tcPr>
                </a:tc>
                <a:tc>
                  <a:txBody>
                    <a:bodyPr/>
                    <a:lstStyle/>
                    <a:p>
                      <a:pPr algn="ctr">
                        <a:buNone/>
                      </a:pPr>
                      <a:r>
                        <a:rPr lang="en-IN" sz="1400" b="1" dirty="0">
                          <a:solidFill>
                            <a:schemeClr val="tx1"/>
                          </a:solidFill>
                          <a:effectLst/>
                          <a:latin typeface="Times New Roman" panose="02020603050405020304" pitchFamily="18" charset="0"/>
                          <a:cs typeface="Times New Roman" panose="02020603050405020304" pitchFamily="18" charset="0"/>
                        </a:rPr>
                        <a:t>Where used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75000"/>
                      </a:schemeClr>
                    </a:solidFill>
                  </a:tcPr>
                </a:tc>
                <a:extLst>
                  <a:ext uri="{0D108BD9-81ED-4DB2-BD59-A6C34878D82A}">
                    <a16:rowId xmlns:a16="http://schemas.microsoft.com/office/drawing/2014/main" val="281226703"/>
                  </a:ext>
                </a:extLst>
              </a:tr>
              <a:tr h="681225">
                <a:tc>
                  <a:txBody>
                    <a:bodyPr/>
                    <a:lstStyle/>
                    <a:p>
                      <a:pPr algn="ctr">
                        <a:buNone/>
                      </a:pPr>
                      <a:r>
                        <a:rPr lang="en-IN" sz="1600" dirty="0">
                          <a:effectLst/>
                          <a:latin typeface="Times New Roman" panose="02020603050405020304" pitchFamily="18" charset="0"/>
                          <a:cs typeface="Times New Roman" panose="02020603050405020304" pitchFamily="18" charset="0"/>
                        </a:rPr>
                        <a:t>Ed25519 signatures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600" dirty="0">
                          <a:effectLst/>
                          <a:latin typeface="Times New Roman" panose="02020603050405020304" pitchFamily="18" charset="0"/>
                          <a:cs typeface="Times New Roman" panose="02020603050405020304" pitchFamily="18" charset="0"/>
                        </a:rPr>
                        <a:t>Identity and credential authenticity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600">
                          <a:effectLst/>
                          <a:latin typeface="Times New Roman" panose="02020603050405020304" pitchFamily="18" charset="0"/>
                          <a:cs typeface="Times New Roman" panose="02020603050405020304" pitchFamily="18" charset="0"/>
                        </a:rPr>
                        <a:t>akta/did.py, akta/vc.py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29730711"/>
                  </a:ext>
                </a:extLst>
              </a:tr>
              <a:tr h="681225">
                <a:tc>
                  <a:txBody>
                    <a:bodyPr/>
                    <a:lstStyle/>
                    <a:p>
                      <a:pPr algn="ctr">
                        <a:buNone/>
                      </a:pPr>
                      <a:r>
                        <a:rPr lang="en-IN" sz="1600" dirty="0">
                          <a:effectLst/>
                          <a:latin typeface="Times New Roman" panose="02020603050405020304" pitchFamily="18" charset="0"/>
                          <a:cs typeface="Times New Roman" panose="02020603050405020304" pitchFamily="18" charset="0"/>
                        </a:rPr>
                        <a:t>Instantaneous performance P(t)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600" dirty="0">
                          <a:effectLst/>
                          <a:latin typeface="Times New Roman" panose="02020603050405020304" pitchFamily="18" charset="0"/>
                          <a:cs typeface="Times New Roman" panose="02020603050405020304" pitchFamily="18" charset="0"/>
                        </a:rPr>
                        <a:t>Evaluate current behaviour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600">
                          <a:effectLst/>
                          <a:latin typeface="Times New Roman" panose="02020603050405020304" pitchFamily="18" charset="0"/>
                          <a:cs typeface="Times New Roman" panose="02020603050405020304" pitchFamily="18" charset="0"/>
                        </a:rPr>
                        <a:t>akta/trust_engine.py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54848"/>
                  </a:ext>
                </a:extLst>
              </a:tr>
              <a:tr h="579912">
                <a:tc>
                  <a:txBody>
                    <a:bodyPr/>
                    <a:lstStyle/>
                    <a:p>
                      <a:pPr algn="ctr">
                        <a:buNone/>
                      </a:pPr>
                      <a:r>
                        <a:rPr lang="en-IN" sz="1600">
                          <a:effectLst/>
                          <a:latin typeface="Times New Roman" panose="02020603050405020304" pitchFamily="18" charset="0"/>
                          <a:cs typeface="Times New Roman" panose="02020603050405020304" pitchFamily="18" charset="0"/>
                        </a:rPr>
                        <a:t>Temporal EMA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600" dirty="0">
                          <a:effectLst/>
                          <a:latin typeface="Times New Roman" panose="02020603050405020304" pitchFamily="18" charset="0"/>
                          <a:cs typeface="Times New Roman" panose="02020603050405020304" pitchFamily="18" charset="0"/>
                        </a:rPr>
                        <a:t>Track trust over time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600">
                          <a:effectLst/>
                          <a:latin typeface="Times New Roman" panose="02020603050405020304" pitchFamily="18" charset="0"/>
                          <a:cs typeface="Times New Roman" panose="02020603050405020304" pitchFamily="18" charset="0"/>
                        </a:rPr>
                        <a:t>akta/trust_engine.py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01302201"/>
                  </a:ext>
                </a:extLst>
              </a:tr>
              <a:tr h="681225">
                <a:tc>
                  <a:txBody>
                    <a:bodyPr/>
                    <a:lstStyle/>
                    <a:p>
                      <a:pPr algn="ctr">
                        <a:buNone/>
                      </a:pPr>
                      <a:r>
                        <a:rPr lang="en-IN" sz="1600">
                          <a:effectLst/>
                          <a:latin typeface="Times New Roman" panose="02020603050405020304" pitchFamily="18" charset="0"/>
                          <a:cs typeface="Times New Roman" panose="02020603050405020304" pitchFamily="18" charset="0"/>
                        </a:rPr>
                        <a:t>State classification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600" dirty="0">
                          <a:effectLst/>
                          <a:latin typeface="Times New Roman" panose="02020603050405020304" pitchFamily="18" charset="0"/>
                          <a:cs typeface="Times New Roman" panose="02020603050405020304" pitchFamily="18" charset="0"/>
                        </a:rPr>
                        <a:t>Map score to security state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600" dirty="0">
                          <a:effectLst/>
                          <a:latin typeface="Times New Roman" panose="02020603050405020304" pitchFamily="18" charset="0"/>
                          <a:cs typeface="Times New Roman" panose="02020603050405020304" pitchFamily="18" charset="0"/>
                        </a:rPr>
                        <a:t>akta/trust_engine.py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64979316"/>
                  </a:ext>
                </a:extLst>
              </a:tr>
              <a:tr h="579912">
                <a:tc>
                  <a:txBody>
                    <a:bodyPr/>
                    <a:lstStyle/>
                    <a:p>
                      <a:pPr algn="ctr">
                        <a:buNone/>
                      </a:pPr>
                      <a:r>
                        <a:rPr lang="en-IN" sz="1600">
                          <a:effectLst/>
                          <a:latin typeface="Times New Roman" panose="02020603050405020304" pitchFamily="18" charset="0"/>
                          <a:cs typeface="Times New Roman" panose="02020603050405020304" pitchFamily="18" charset="0"/>
                        </a:rPr>
                        <a:t>Adaptive enforcement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600" dirty="0">
                          <a:effectLst/>
                          <a:latin typeface="Times New Roman" panose="02020603050405020304" pitchFamily="18" charset="0"/>
                          <a:cs typeface="Times New Roman" panose="02020603050405020304" pitchFamily="18" charset="0"/>
                        </a:rPr>
                        <a:t>Allow or block requests by policy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600" dirty="0">
                          <a:effectLst/>
                          <a:latin typeface="Times New Roman" panose="02020603050405020304" pitchFamily="18" charset="0"/>
                          <a:cs typeface="Times New Roman" panose="02020603050405020304" pitchFamily="18" charset="0"/>
                        </a:rPr>
                        <a:t>akta/adaptive_auth.py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0930530"/>
                  </a:ext>
                </a:extLst>
              </a:tr>
              <a:tr h="579912">
                <a:tc>
                  <a:txBody>
                    <a:bodyPr/>
                    <a:lstStyle/>
                    <a:p>
                      <a:pPr algn="ctr">
                        <a:buNone/>
                      </a:pPr>
                      <a:r>
                        <a:rPr lang="en-IN" sz="1600">
                          <a:effectLst/>
                          <a:latin typeface="Times New Roman" panose="02020603050405020304" pitchFamily="18" charset="0"/>
                          <a:cs typeface="Times New Roman" panose="02020603050405020304" pitchFamily="18" charset="0"/>
                        </a:rPr>
                        <a:t>MatchScore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600">
                          <a:effectLst/>
                          <a:latin typeface="Times New Roman" panose="02020603050405020304" pitchFamily="18" charset="0"/>
                          <a:cs typeface="Times New Roman" panose="02020603050405020304" pitchFamily="18" charset="0"/>
                        </a:rPr>
                        <a:t>Rank eligible agents for a task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600" dirty="0">
                          <a:effectLst/>
                          <a:latin typeface="Times New Roman" panose="02020603050405020304" pitchFamily="18" charset="0"/>
                          <a:cs typeface="Times New Roman" panose="02020603050405020304" pitchFamily="18" charset="0"/>
                        </a:rPr>
                        <a:t>akta/vdr/registry_crud.py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52213154"/>
                  </a:ext>
                </a:extLst>
              </a:tr>
            </a:tbl>
          </a:graphicData>
        </a:graphic>
      </p:graphicFrame>
      <p:sp>
        <p:nvSpPr>
          <p:cNvPr id="10" name="TextBox 9">
            <a:extLst>
              <a:ext uri="{FF2B5EF4-FFF2-40B4-BE49-F238E27FC236}">
                <a16:creationId xmlns:a16="http://schemas.microsoft.com/office/drawing/2014/main" id="{512B247C-4818-198A-7344-A7F2C41BC7E4}"/>
              </a:ext>
            </a:extLst>
          </p:cNvPr>
          <p:cNvSpPr txBox="1"/>
          <p:nvPr/>
        </p:nvSpPr>
        <p:spPr>
          <a:xfrm>
            <a:off x="249767" y="6201855"/>
            <a:ext cx="8315097" cy="307777"/>
          </a:xfrm>
          <a:prstGeom prst="rect">
            <a:avLst/>
          </a:prstGeom>
          <a:noFill/>
        </p:spPr>
        <p:txBody>
          <a:bodyPr wrap="none" rtlCol="0">
            <a:spAutoFit/>
          </a:bodyPr>
          <a:lstStyle/>
          <a:p>
            <a:r>
              <a:rPr lang="en-IN" dirty="0"/>
              <a:t>Bottom line: Task Success + Policy Compliance + Latency, smoothed over time, gives the Trust Score.</a:t>
            </a:r>
          </a:p>
        </p:txBody>
      </p:sp>
    </p:spTree>
    <p:extLst>
      <p:ext uri="{BB962C8B-B14F-4D97-AF65-F5344CB8AC3E}">
        <p14:creationId xmlns:p14="http://schemas.microsoft.com/office/powerpoint/2010/main" val="7959306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3BB7C8-A2B7-5F35-EC0D-A965588CA2A4}"/>
              </a:ext>
            </a:extLst>
          </p:cNvPr>
          <p:cNvSpPr>
            <a:spLocks noGrp="1"/>
          </p:cNvSpPr>
          <p:nvPr>
            <p:ph type="title"/>
          </p:nvPr>
        </p:nvSpPr>
        <p:spPr>
          <a:xfrm>
            <a:off x="533400" y="1295400"/>
            <a:ext cx="8229600" cy="792162"/>
          </a:xfrm>
        </p:spPr>
        <p:txBody>
          <a:bodyPr/>
          <a:lstStyle/>
          <a:p>
            <a:r>
              <a:rPr lang="en-IN" dirty="0">
                <a:latin typeface="Times New Roman" panose="02020603050405020304" pitchFamily="18" charset="0"/>
                <a:cs typeface="Times New Roman" panose="02020603050405020304" pitchFamily="18" charset="0"/>
              </a:rPr>
              <a:t>Trust-State Transition Diagram</a:t>
            </a:r>
          </a:p>
        </p:txBody>
      </p:sp>
      <p:sp>
        <p:nvSpPr>
          <p:cNvPr id="3" name="Slide Number Placeholder 2">
            <a:extLst>
              <a:ext uri="{FF2B5EF4-FFF2-40B4-BE49-F238E27FC236}">
                <a16:creationId xmlns:a16="http://schemas.microsoft.com/office/drawing/2014/main" id="{E4917579-2802-70C1-7BC8-C41F4642CF9C}"/>
              </a:ext>
            </a:extLst>
          </p:cNvPr>
          <p:cNvSpPr>
            <a:spLocks noGrp="1"/>
          </p:cNvSpPr>
          <p:nvPr>
            <p:ph type="sldNum" sz="quarter" idx="12"/>
          </p:nvPr>
        </p:nvSpPr>
        <p:spPr/>
        <p:txBody>
          <a:bodyPr/>
          <a:lstStyle/>
          <a:p>
            <a:fld id="{B6F15528-21DE-4FAA-801E-634DDDAF4B2B}" type="slidenum">
              <a:rPr lang="en-US" smtClean="0"/>
              <a:pPr/>
              <a:t>13</a:t>
            </a:fld>
            <a:endParaRPr lang="en-US"/>
          </a:p>
        </p:txBody>
      </p:sp>
      <p:pic>
        <p:nvPicPr>
          <p:cNvPr id="7" name="Picture 6">
            <a:extLst>
              <a:ext uri="{FF2B5EF4-FFF2-40B4-BE49-F238E27FC236}">
                <a16:creationId xmlns:a16="http://schemas.microsoft.com/office/drawing/2014/main" id="{E4F015BE-CE43-F0ED-A5C6-44B930D11D4D}"/>
              </a:ext>
            </a:extLst>
          </p:cNvPr>
          <p:cNvPicPr>
            <a:picLocks noChangeAspect="1"/>
          </p:cNvPicPr>
          <p:nvPr/>
        </p:nvPicPr>
        <p:blipFill>
          <a:blip r:embed="rId2" cstate="print">
            <a:extLst>
              <a:ext uri="{28A0092B-C50C-407E-A947-70E740481C1C}">
                <a14:useLocalDpi xmlns:a14="http://schemas.microsoft.com/office/drawing/2010/main" val="0"/>
              </a:ext>
            </a:extLst>
          </a:blip>
          <a:srcRect t="5380"/>
          <a:stretch>
            <a:fillRect/>
          </a:stretch>
        </p:blipFill>
        <p:spPr>
          <a:xfrm>
            <a:off x="537411" y="2131511"/>
            <a:ext cx="8229600" cy="4452671"/>
          </a:xfrm>
          <a:prstGeom prst="rect">
            <a:avLst/>
          </a:prstGeom>
        </p:spPr>
      </p:pic>
    </p:spTree>
    <p:extLst>
      <p:ext uri="{BB962C8B-B14F-4D97-AF65-F5344CB8AC3E}">
        <p14:creationId xmlns:p14="http://schemas.microsoft.com/office/powerpoint/2010/main" val="34504264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1EE295-ED8E-A8DB-E424-C3A2A5F0AA32}"/>
              </a:ext>
            </a:extLst>
          </p:cNvPr>
          <p:cNvSpPr>
            <a:spLocks noGrp="1"/>
          </p:cNvSpPr>
          <p:nvPr>
            <p:ph type="title"/>
          </p:nvPr>
        </p:nvSpPr>
        <p:spPr>
          <a:xfrm>
            <a:off x="609600" y="1143000"/>
            <a:ext cx="8229600" cy="914400"/>
          </a:xfrm>
        </p:spPr>
        <p:txBody>
          <a:bodyPr>
            <a:normAutofit/>
          </a:bodyPr>
          <a:lstStyle/>
          <a:p>
            <a:r>
              <a:rPr lang="en-IN" b="1" dirty="0">
                <a:latin typeface="Times New Roman" panose="02020603050405020304" pitchFamily="18" charset="0"/>
                <a:cs typeface="Times New Roman" panose="02020603050405020304" pitchFamily="18" charset="0"/>
              </a:rPr>
              <a:t>Numerical Trust Calculation Example</a:t>
            </a:r>
            <a:endParaRPr lang="en-IN"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3EF2A9E4-F3B6-5F78-3E29-5B26CBF5E329}"/>
              </a:ext>
            </a:extLst>
          </p:cNvPr>
          <p:cNvSpPr>
            <a:spLocks noGrp="1"/>
          </p:cNvSpPr>
          <p:nvPr>
            <p:ph type="sldNum" sz="quarter" idx="12"/>
          </p:nvPr>
        </p:nvSpPr>
        <p:spPr/>
        <p:txBody>
          <a:bodyPr/>
          <a:lstStyle/>
          <a:p>
            <a:fld id="{B6F15528-21DE-4FAA-801E-634DDDAF4B2B}" type="slidenum">
              <a:rPr lang="en-US" smtClean="0"/>
              <a:pPr/>
              <a:t>14</a:t>
            </a:fld>
            <a:endParaRPr lang="en-US"/>
          </a:p>
        </p:txBody>
      </p:sp>
      <p:pic>
        <p:nvPicPr>
          <p:cNvPr id="5" name="Picture 4">
            <a:extLst>
              <a:ext uri="{FF2B5EF4-FFF2-40B4-BE49-F238E27FC236}">
                <a16:creationId xmlns:a16="http://schemas.microsoft.com/office/drawing/2014/main" id="{A2CBC965-6839-F72F-D7B0-5CAF9565A1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839726"/>
            <a:ext cx="9144000" cy="4937760"/>
          </a:xfrm>
          <a:prstGeom prst="rect">
            <a:avLst/>
          </a:prstGeom>
        </p:spPr>
      </p:pic>
    </p:spTree>
    <p:extLst>
      <p:ext uri="{BB962C8B-B14F-4D97-AF65-F5344CB8AC3E}">
        <p14:creationId xmlns:p14="http://schemas.microsoft.com/office/powerpoint/2010/main" val="35662565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A726F3-3196-C8AD-D163-0EFA77E0BAC9}"/>
              </a:ext>
            </a:extLst>
          </p:cNvPr>
          <p:cNvSpPr>
            <a:spLocks noGrp="1"/>
          </p:cNvSpPr>
          <p:nvPr>
            <p:ph type="title"/>
          </p:nvPr>
        </p:nvSpPr>
        <p:spPr>
          <a:xfrm>
            <a:off x="0" y="1474737"/>
            <a:ext cx="8991600" cy="762000"/>
          </a:xfrm>
        </p:spPr>
        <p:txBody>
          <a:bodyPr>
            <a:normAutofit fontScale="90000"/>
          </a:bodyPr>
          <a:lstStyle/>
          <a:p>
            <a:r>
              <a:rPr lang="en-IN" dirty="0">
                <a:latin typeface="Times New Roman" panose="02020603050405020304" pitchFamily="18" charset="0"/>
                <a:cs typeface="Times New Roman" panose="02020603050405020304" pitchFamily="18" charset="0"/>
              </a:rPr>
              <a:t>Adaptive Policy Enforcement and Access Control</a:t>
            </a:r>
            <a:br>
              <a:rPr lang="en-IN" dirty="0">
                <a:latin typeface="Times New Roman" panose="02020603050405020304" pitchFamily="18" charset="0"/>
                <a:cs typeface="Times New Roman" panose="02020603050405020304" pitchFamily="18" charset="0"/>
              </a:rPr>
            </a:br>
            <a:endParaRPr lang="en-IN"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B0E81761-4EB7-E621-83BF-C6E4790B05A7}"/>
              </a:ext>
            </a:extLst>
          </p:cNvPr>
          <p:cNvSpPr>
            <a:spLocks noGrp="1"/>
          </p:cNvSpPr>
          <p:nvPr>
            <p:ph type="sldNum" sz="quarter" idx="12"/>
          </p:nvPr>
        </p:nvSpPr>
        <p:spPr/>
        <p:txBody>
          <a:bodyPr/>
          <a:lstStyle/>
          <a:p>
            <a:fld id="{B6F15528-21DE-4FAA-801E-634DDDAF4B2B}" type="slidenum">
              <a:rPr lang="en-US" smtClean="0"/>
              <a:pPr/>
              <a:t>15</a:t>
            </a:fld>
            <a:endParaRPr lang="en-US"/>
          </a:p>
        </p:txBody>
      </p:sp>
      <p:graphicFrame>
        <p:nvGraphicFramePr>
          <p:cNvPr id="6" name="Table 5">
            <a:extLst>
              <a:ext uri="{FF2B5EF4-FFF2-40B4-BE49-F238E27FC236}">
                <a16:creationId xmlns:a16="http://schemas.microsoft.com/office/drawing/2014/main" id="{293846F3-FDD9-9D93-650E-EC18348B85D5}"/>
              </a:ext>
            </a:extLst>
          </p:cNvPr>
          <p:cNvGraphicFramePr>
            <a:graphicFrameLocks noGrp="1"/>
          </p:cNvGraphicFramePr>
          <p:nvPr>
            <p:extLst>
              <p:ext uri="{D42A27DB-BD31-4B8C-83A1-F6EECF244321}">
                <p14:modId xmlns:p14="http://schemas.microsoft.com/office/powerpoint/2010/main" val="3185003600"/>
              </p:ext>
            </p:extLst>
          </p:nvPr>
        </p:nvGraphicFramePr>
        <p:xfrm>
          <a:off x="457200" y="2251285"/>
          <a:ext cx="8229600" cy="2377440"/>
        </p:xfrm>
        <a:graphic>
          <a:graphicData uri="http://schemas.openxmlformats.org/drawingml/2006/table">
            <a:tbl>
              <a:tblPr>
                <a:tableStyleId>{2D5ABB26-0587-4C30-8999-92F81FD0307C}</a:tableStyleId>
              </a:tblPr>
              <a:tblGrid>
                <a:gridCol w="2743200">
                  <a:extLst>
                    <a:ext uri="{9D8B030D-6E8A-4147-A177-3AD203B41FA5}">
                      <a16:colId xmlns:a16="http://schemas.microsoft.com/office/drawing/2014/main" val="586662761"/>
                    </a:ext>
                  </a:extLst>
                </a:gridCol>
                <a:gridCol w="2743200">
                  <a:extLst>
                    <a:ext uri="{9D8B030D-6E8A-4147-A177-3AD203B41FA5}">
                      <a16:colId xmlns:a16="http://schemas.microsoft.com/office/drawing/2014/main" val="4075646461"/>
                    </a:ext>
                  </a:extLst>
                </a:gridCol>
                <a:gridCol w="2743200">
                  <a:extLst>
                    <a:ext uri="{9D8B030D-6E8A-4147-A177-3AD203B41FA5}">
                      <a16:colId xmlns:a16="http://schemas.microsoft.com/office/drawing/2014/main" val="305573209"/>
                    </a:ext>
                  </a:extLst>
                </a:gridCol>
              </a:tblGrid>
              <a:tr h="0">
                <a:tc>
                  <a:txBody>
                    <a:bodyPr/>
                    <a:lstStyle/>
                    <a:p>
                      <a:pPr algn="ctr">
                        <a:buNone/>
                      </a:pPr>
                      <a:r>
                        <a:rPr lang="en-IN" sz="1800" b="1" dirty="0">
                          <a:effectLst/>
                          <a:latin typeface="Times New Roman" panose="02020603050405020304" pitchFamily="18" charset="0"/>
                          <a:cs typeface="Times New Roman" panose="02020603050405020304" pitchFamily="18" charset="0"/>
                        </a:rPr>
                        <a:t>State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75000"/>
                      </a:schemeClr>
                    </a:solidFill>
                  </a:tcPr>
                </a:tc>
                <a:tc>
                  <a:txBody>
                    <a:bodyPr/>
                    <a:lstStyle/>
                    <a:p>
                      <a:pPr algn="ctr">
                        <a:buNone/>
                      </a:pPr>
                      <a:r>
                        <a:rPr lang="en-IN" sz="1800" b="1" dirty="0">
                          <a:effectLst/>
                          <a:latin typeface="Times New Roman" panose="02020603050405020304" pitchFamily="18" charset="0"/>
                          <a:cs typeface="Times New Roman" panose="02020603050405020304" pitchFamily="18" charset="0"/>
                        </a:rPr>
                        <a:t>Standard operations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75000"/>
                      </a:schemeClr>
                    </a:solidFill>
                  </a:tcPr>
                </a:tc>
                <a:tc>
                  <a:txBody>
                    <a:bodyPr/>
                    <a:lstStyle/>
                    <a:p>
                      <a:pPr algn="ctr">
                        <a:buNone/>
                      </a:pPr>
                      <a:r>
                        <a:rPr lang="en-IN" sz="1800" b="1" dirty="0">
                          <a:effectLst/>
                          <a:latin typeface="Times New Roman" panose="02020603050405020304" pitchFamily="18" charset="0"/>
                          <a:cs typeface="Times New Roman" panose="02020603050405020304" pitchFamily="18" charset="0"/>
                        </a:rPr>
                        <a:t>Privileged operations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75000"/>
                      </a:schemeClr>
                    </a:solidFill>
                  </a:tcPr>
                </a:tc>
                <a:extLst>
                  <a:ext uri="{0D108BD9-81ED-4DB2-BD59-A6C34878D82A}">
                    <a16:rowId xmlns:a16="http://schemas.microsoft.com/office/drawing/2014/main" val="1247261094"/>
                  </a:ext>
                </a:extLst>
              </a:tr>
              <a:tr h="0">
                <a:tc>
                  <a:txBody>
                    <a:bodyPr/>
                    <a:lstStyle/>
                    <a:p>
                      <a:pPr algn="ctr">
                        <a:buNone/>
                      </a:pPr>
                      <a:r>
                        <a:rPr lang="en-IN" sz="1800" dirty="0">
                          <a:effectLst/>
                          <a:latin typeface="Times New Roman" panose="02020603050405020304" pitchFamily="18" charset="0"/>
                          <a:cs typeface="Times New Roman" panose="02020603050405020304" pitchFamily="18" charset="0"/>
                        </a:rPr>
                        <a:t>TRUSTED (T &gt;= 0.80)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800" dirty="0">
                          <a:effectLst/>
                          <a:latin typeface="Times New Roman" panose="02020603050405020304" pitchFamily="18" charset="0"/>
                          <a:cs typeface="Times New Roman" panose="02020603050405020304" pitchFamily="18" charset="0"/>
                        </a:rPr>
                        <a:t>Allow</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800">
                          <a:effectLst/>
                          <a:latin typeface="Times New Roman" panose="02020603050405020304" pitchFamily="18" charset="0"/>
                          <a:cs typeface="Times New Roman" panose="02020603050405020304" pitchFamily="18" charset="0"/>
                        </a:rPr>
                        <a:t>Allow</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38211171"/>
                  </a:ext>
                </a:extLst>
              </a:tr>
              <a:tr h="0">
                <a:tc>
                  <a:txBody>
                    <a:bodyPr/>
                    <a:lstStyle/>
                    <a:p>
                      <a:pPr algn="ctr">
                        <a:buNone/>
                      </a:pPr>
                      <a:r>
                        <a:rPr lang="en-IN" sz="1800" dirty="0">
                          <a:effectLst/>
                          <a:latin typeface="Times New Roman" panose="02020603050405020304" pitchFamily="18" charset="0"/>
                          <a:cs typeface="Times New Roman" panose="02020603050405020304" pitchFamily="18" charset="0"/>
                        </a:rPr>
                        <a:t>SUSPICIOUS (0.50 &lt;= T &lt; 0.80)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800" dirty="0">
                          <a:effectLst/>
                          <a:latin typeface="Times New Roman" panose="02020603050405020304" pitchFamily="18" charset="0"/>
                          <a:cs typeface="Times New Roman" panose="02020603050405020304" pitchFamily="18" charset="0"/>
                        </a:rPr>
                        <a:t>Allow (logged)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800">
                          <a:effectLst/>
                          <a:latin typeface="Times New Roman" panose="02020603050405020304" pitchFamily="18" charset="0"/>
                          <a:cs typeface="Times New Roman" panose="02020603050405020304" pitchFamily="18" charset="0"/>
                        </a:rPr>
                        <a:t>Blocked, HTTP 403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65068256"/>
                  </a:ext>
                </a:extLst>
              </a:tr>
              <a:tr h="0">
                <a:tc>
                  <a:txBody>
                    <a:bodyPr/>
                    <a:lstStyle/>
                    <a:p>
                      <a:pPr algn="ctr">
                        <a:buNone/>
                      </a:pPr>
                      <a:r>
                        <a:rPr lang="en-IN" sz="1800" dirty="0">
                          <a:effectLst/>
                          <a:latin typeface="Times New Roman" panose="02020603050405020304" pitchFamily="18" charset="0"/>
                          <a:cs typeface="Times New Roman" panose="02020603050405020304" pitchFamily="18" charset="0"/>
                        </a:rPr>
                        <a:t>QUARANTINED (T &lt; 0.50)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800" dirty="0">
                          <a:effectLst/>
                          <a:latin typeface="Times New Roman" panose="02020603050405020304" pitchFamily="18" charset="0"/>
                          <a:cs typeface="Times New Roman" panose="02020603050405020304" pitchFamily="18" charset="0"/>
                        </a:rPr>
                        <a:t>Denied, HTTP 403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800" dirty="0">
                          <a:effectLst/>
                          <a:latin typeface="Times New Roman" panose="02020603050405020304" pitchFamily="18" charset="0"/>
                          <a:cs typeface="Times New Roman" panose="02020603050405020304" pitchFamily="18" charset="0"/>
                        </a:rPr>
                        <a:t>Denied, HTTP 403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67843834"/>
                  </a:ext>
                </a:extLst>
              </a:tr>
              <a:tr h="0">
                <a:tc>
                  <a:txBody>
                    <a:bodyPr/>
                    <a:lstStyle/>
                    <a:p>
                      <a:pPr algn="ctr">
                        <a:buNone/>
                      </a:pPr>
                      <a:r>
                        <a:rPr lang="en-IN" sz="1800">
                          <a:effectLst/>
                          <a:latin typeface="Times New Roman" panose="02020603050405020304" pitchFamily="18" charset="0"/>
                          <a:cs typeface="Times New Roman" panose="02020603050405020304" pitchFamily="18" charset="0"/>
                        </a:rPr>
                        <a:t>REVOKED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800" dirty="0">
                          <a:effectLst/>
                          <a:latin typeface="Times New Roman" panose="02020603050405020304" pitchFamily="18" charset="0"/>
                          <a:cs typeface="Times New Roman" panose="02020603050405020304" pitchFamily="18" charset="0"/>
                        </a:rPr>
                        <a:t>Denied, permanent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800" dirty="0">
                          <a:effectLst/>
                          <a:latin typeface="Times New Roman" panose="02020603050405020304" pitchFamily="18" charset="0"/>
                          <a:cs typeface="Times New Roman" panose="02020603050405020304" pitchFamily="18" charset="0"/>
                        </a:rPr>
                        <a:t>Denied, permanent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74193107"/>
                  </a:ext>
                </a:extLst>
              </a:tr>
            </a:tbl>
          </a:graphicData>
        </a:graphic>
      </p:graphicFrame>
      <p:sp>
        <p:nvSpPr>
          <p:cNvPr id="7" name="TextBox 6">
            <a:extLst>
              <a:ext uri="{FF2B5EF4-FFF2-40B4-BE49-F238E27FC236}">
                <a16:creationId xmlns:a16="http://schemas.microsoft.com/office/drawing/2014/main" id="{EF0B845E-CE87-EDCE-55F3-1BA6E824AFE3}"/>
              </a:ext>
            </a:extLst>
          </p:cNvPr>
          <p:cNvSpPr txBox="1"/>
          <p:nvPr/>
        </p:nvSpPr>
        <p:spPr>
          <a:xfrm>
            <a:off x="228601" y="4896218"/>
            <a:ext cx="8762999" cy="1477328"/>
          </a:xfrm>
          <a:prstGeom prst="rect">
            <a:avLst/>
          </a:prstGeom>
          <a:noFill/>
        </p:spPr>
        <p:txBody>
          <a:bodyPr wrap="square" rtlCol="0">
            <a:spAutoFit/>
          </a:bodyPr>
          <a:lstStyle/>
          <a:p>
            <a:r>
              <a:rPr lang="en-IN" sz="1800" b="1" dirty="0">
                <a:latin typeface="Times New Roman" panose="02020603050405020304" pitchFamily="18" charset="0"/>
                <a:cs typeface="Times New Roman" panose="02020603050405020304" pitchFamily="18" charset="0"/>
              </a:rPr>
              <a:t>Humans (RBAC):</a:t>
            </a:r>
            <a:r>
              <a:rPr lang="en-IN" sz="1800" dirty="0">
                <a:latin typeface="Times New Roman" panose="02020603050405020304" pitchFamily="18" charset="0"/>
                <a:cs typeface="Times New Roman" panose="02020603050405020304" pitchFamily="18" charset="0"/>
              </a:rPr>
              <a:t> ADMIN (full mutations, user management, manual trust override), OPERATOR (workflows, discovery, matching), VIEWER (read-only). Argon2id hashing, 5-strike lockout (HTTP 423), JWT refresh rotation. The backend is the sole enforcement boundary; frontend badges are only UI conveniences.</a:t>
            </a:r>
          </a:p>
          <a:p>
            <a:endParaRPr lang="en-IN" sz="1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416195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C2E558-B099-7837-C27B-CFD33B588751}"/>
              </a:ext>
            </a:extLst>
          </p:cNvPr>
          <p:cNvSpPr>
            <a:spLocks noGrp="1"/>
          </p:cNvSpPr>
          <p:nvPr>
            <p:ph type="title"/>
          </p:nvPr>
        </p:nvSpPr>
        <p:spPr>
          <a:xfrm>
            <a:off x="152400" y="1516316"/>
            <a:ext cx="7620000" cy="868362"/>
          </a:xfrm>
        </p:spPr>
        <p:txBody>
          <a:bodyPr/>
          <a:lstStyle/>
          <a:p>
            <a:r>
              <a:rPr lang="en-IN" dirty="0">
                <a:latin typeface="Times New Roman" panose="02020603050405020304" pitchFamily="18" charset="0"/>
                <a:cs typeface="Times New Roman" panose="02020603050405020304" pitchFamily="18" charset="0"/>
              </a:rPr>
              <a:t>Agent Discovery</a:t>
            </a:r>
          </a:p>
        </p:txBody>
      </p:sp>
      <p:sp>
        <p:nvSpPr>
          <p:cNvPr id="3" name="Slide Number Placeholder 2">
            <a:extLst>
              <a:ext uri="{FF2B5EF4-FFF2-40B4-BE49-F238E27FC236}">
                <a16:creationId xmlns:a16="http://schemas.microsoft.com/office/drawing/2014/main" id="{A898D3C3-F305-9C16-6F9F-BFC7771CD39A}"/>
              </a:ext>
            </a:extLst>
          </p:cNvPr>
          <p:cNvSpPr>
            <a:spLocks noGrp="1"/>
          </p:cNvSpPr>
          <p:nvPr>
            <p:ph type="sldNum" sz="quarter" idx="12"/>
          </p:nvPr>
        </p:nvSpPr>
        <p:spPr/>
        <p:txBody>
          <a:bodyPr/>
          <a:lstStyle/>
          <a:p>
            <a:fld id="{B6F15528-21DE-4FAA-801E-634DDDAF4B2B}" type="slidenum">
              <a:rPr lang="en-US" smtClean="0"/>
              <a:pPr/>
              <a:t>16</a:t>
            </a:fld>
            <a:endParaRPr lang="en-US"/>
          </a:p>
        </p:txBody>
      </p:sp>
      <p:sp>
        <p:nvSpPr>
          <p:cNvPr id="6" name="TextBox 5">
            <a:extLst>
              <a:ext uri="{FF2B5EF4-FFF2-40B4-BE49-F238E27FC236}">
                <a16:creationId xmlns:a16="http://schemas.microsoft.com/office/drawing/2014/main" id="{A1A1FB75-AC45-FB11-9EBF-EDEFECA3A4B1}"/>
              </a:ext>
            </a:extLst>
          </p:cNvPr>
          <p:cNvSpPr txBox="1"/>
          <p:nvPr/>
        </p:nvSpPr>
        <p:spPr>
          <a:xfrm>
            <a:off x="533400" y="2384678"/>
            <a:ext cx="7391399" cy="2308324"/>
          </a:xfrm>
          <a:prstGeom prst="rect">
            <a:avLst/>
          </a:prstGeom>
          <a:noFill/>
        </p:spPr>
        <p:txBody>
          <a:bodyPr wrap="square" rtlCol="0">
            <a:spAutoFit/>
          </a:bodyPr>
          <a:lstStyle/>
          <a:p>
            <a:pPr marL="342900" lvl="0" indent="-342900">
              <a:buFont typeface="+mj-lt"/>
              <a:buAutoNum type="arabicPeriod"/>
            </a:pPr>
            <a:r>
              <a:rPr lang="en-IN" sz="1800" dirty="0">
                <a:latin typeface="Times New Roman" panose="02020603050405020304" pitchFamily="18" charset="0"/>
                <a:cs typeface="Times New Roman" panose="02020603050405020304" pitchFamily="18" charset="0"/>
              </a:rPr>
              <a:t>Filters: capability tag, minimum-trust slider (0.00 to 1.00, step 0.05), availability (AVAILABLE, BUSY, OFFLINE), endpoint health probe (HTTP 200).</a:t>
            </a:r>
          </a:p>
          <a:p>
            <a:pPr marL="342900" lvl="0" indent="-342900">
              <a:buFont typeface="+mj-lt"/>
              <a:buAutoNum type="arabicPeriod"/>
            </a:pPr>
            <a:r>
              <a:rPr lang="en-IN" sz="1800" dirty="0">
                <a:latin typeface="Times New Roman" panose="02020603050405020304" pitchFamily="18" charset="0"/>
                <a:cs typeface="Times New Roman" panose="02020603050405020304" pitchFamily="18" charset="0"/>
              </a:rPr>
              <a:t>Explainable exclusion: excluded agents are shown with a reason, not silently hidden. Examples: "Under </a:t>
            </a:r>
            <a:r>
              <a:rPr lang="en-IN" sz="1800" dirty="0" err="1">
                <a:latin typeface="Times New Roman" panose="02020603050405020304" pitchFamily="18" charset="0"/>
                <a:cs typeface="Times New Roman" panose="02020603050405020304" pitchFamily="18" charset="0"/>
              </a:rPr>
              <a:t>behavioral</a:t>
            </a:r>
            <a:r>
              <a:rPr lang="en-IN" sz="1800" dirty="0">
                <a:latin typeface="Times New Roman" panose="02020603050405020304" pitchFamily="18" charset="0"/>
                <a:cs typeface="Times New Roman" panose="02020603050405020304" pitchFamily="18" charset="0"/>
              </a:rPr>
              <a:t> quarantine (T = 0.42 &lt; 0.50)"; "Trust score (0.65) below requested slider (0.80)"; "Status is BUSY on active collaboration session".</a:t>
            </a:r>
          </a:p>
          <a:p>
            <a:pPr marL="342900" lvl="0" indent="-342900">
              <a:buFont typeface="+mj-lt"/>
              <a:buAutoNum type="arabicPeriod"/>
            </a:pPr>
            <a:r>
              <a:rPr lang="en-IN" sz="1800" dirty="0">
                <a:latin typeface="Times New Roman" panose="02020603050405020304" pitchFamily="18" charset="0"/>
                <a:cs typeface="Times New Roman" panose="02020603050405020304" pitchFamily="18" charset="0"/>
              </a:rPr>
              <a:t>Discovery = eligibility exploration. Matching = ranking for a specific task.</a:t>
            </a:r>
          </a:p>
        </p:txBody>
      </p:sp>
      <p:sp>
        <p:nvSpPr>
          <p:cNvPr id="4" name="TextBox 3">
            <a:extLst>
              <a:ext uri="{FF2B5EF4-FFF2-40B4-BE49-F238E27FC236}">
                <a16:creationId xmlns:a16="http://schemas.microsoft.com/office/drawing/2014/main" id="{E09818C4-2E6A-4415-9305-7BD913E60864}"/>
              </a:ext>
            </a:extLst>
          </p:cNvPr>
          <p:cNvSpPr txBox="1"/>
          <p:nvPr/>
        </p:nvSpPr>
        <p:spPr>
          <a:xfrm>
            <a:off x="2172929" y="2094271"/>
            <a:ext cx="184731" cy="307777"/>
          </a:xfrm>
          <a:prstGeom prst="rect">
            <a:avLst/>
          </a:prstGeom>
          <a:noFill/>
        </p:spPr>
        <p:txBody>
          <a:bodyPr wrap="none" rtlCol="0">
            <a:spAutoFit/>
          </a:bodyPr>
          <a:lstStyle/>
          <a:p>
            <a:endParaRPr lang="en-IN" dirty="0"/>
          </a:p>
        </p:txBody>
      </p:sp>
    </p:spTree>
    <p:extLst>
      <p:ext uri="{BB962C8B-B14F-4D97-AF65-F5344CB8AC3E}">
        <p14:creationId xmlns:p14="http://schemas.microsoft.com/office/powerpoint/2010/main" val="11884234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B9699C-7680-A233-E131-9BBB6F85038E}"/>
              </a:ext>
            </a:extLst>
          </p:cNvPr>
          <p:cNvSpPr>
            <a:spLocks noGrp="1"/>
          </p:cNvSpPr>
          <p:nvPr>
            <p:ph type="title"/>
          </p:nvPr>
        </p:nvSpPr>
        <p:spPr>
          <a:xfrm>
            <a:off x="1752600" y="533400"/>
            <a:ext cx="8229600" cy="914400"/>
          </a:xfrm>
        </p:spPr>
        <p:txBody>
          <a:bodyPr>
            <a:normAutofit/>
          </a:bodyPr>
          <a:lstStyle/>
          <a:p>
            <a:r>
              <a:rPr lang="en-IN" dirty="0">
                <a:latin typeface="Times New Roman" panose="02020603050405020304" pitchFamily="18" charset="0"/>
                <a:cs typeface="Times New Roman" panose="02020603050405020304" pitchFamily="18" charset="0"/>
              </a:rPr>
              <a:t>Task-Driven Matching</a:t>
            </a:r>
          </a:p>
        </p:txBody>
      </p:sp>
      <p:sp>
        <p:nvSpPr>
          <p:cNvPr id="3" name="Slide Number Placeholder 2">
            <a:extLst>
              <a:ext uri="{FF2B5EF4-FFF2-40B4-BE49-F238E27FC236}">
                <a16:creationId xmlns:a16="http://schemas.microsoft.com/office/drawing/2014/main" id="{C40CB0DB-C518-5A3F-5FB1-34DCEFAE8A91}"/>
              </a:ext>
            </a:extLst>
          </p:cNvPr>
          <p:cNvSpPr>
            <a:spLocks noGrp="1"/>
          </p:cNvSpPr>
          <p:nvPr>
            <p:ph type="sldNum" sz="quarter" idx="12"/>
          </p:nvPr>
        </p:nvSpPr>
        <p:spPr/>
        <p:txBody>
          <a:bodyPr/>
          <a:lstStyle/>
          <a:p>
            <a:fld id="{B6F15528-21DE-4FAA-801E-634DDDAF4B2B}" type="slidenum">
              <a:rPr lang="en-US" smtClean="0"/>
              <a:pPr/>
              <a:t>17</a:t>
            </a:fld>
            <a:endParaRPr lang="en-US"/>
          </a:p>
        </p:txBody>
      </p:sp>
      <p:pic>
        <p:nvPicPr>
          <p:cNvPr id="5" name="Picture 4">
            <a:extLst>
              <a:ext uri="{FF2B5EF4-FFF2-40B4-BE49-F238E27FC236}">
                <a16:creationId xmlns:a16="http://schemas.microsoft.com/office/drawing/2014/main" id="{B7BEACE1-AFEE-BE7D-C393-F2092E5A255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2332" y="1447800"/>
            <a:ext cx="7653867" cy="3768058"/>
          </a:xfrm>
          <a:prstGeom prst="rect">
            <a:avLst/>
          </a:prstGeom>
        </p:spPr>
      </p:pic>
      <p:sp>
        <p:nvSpPr>
          <p:cNvPr id="8" name="TextBox 7">
            <a:extLst>
              <a:ext uri="{FF2B5EF4-FFF2-40B4-BE49-F238E27FC236}">
                <a16:creationId xmlns:a16="http://schemas.microsoft.com/office/drawing/2014/main" id="{12993384-C26F-41A6-6396-C02C7628D880}"/>
              </a:ext>
            </a:extLst>
          </p:cNvPr>
          <p:cNvSpPr txBox="1"/>
          <p:nvPr/>
        </p:nvSpPr>
        <p:spPr>
          <a:xfrm>
            <a:off x="685800" y="5410200"/>
            <a:ext cx="7315200" cy="954107"/>
          </a:xfrm>
          <a:prstGeom prst="rect">
            <a:avLst/>
          </a:prstGeom>
          <a:noFill/>
        </p:spPr>
        <p:txBody>
          <a:bodyPr wrap="square" rtlCol="0">
            <a:spAutoFit/>
          </a:bodyPr>
          <a:lstStyle/>
          <a:p>
            <a:r>
              <a:rPr lang="en-IN" dirty="0"/>
              <a:t>Formula: </a:t>
            </a:r>
            <a:r>
              <a:rPr lang="en-IN" dirty="0" err="1"/>
              <a:t>MatchScore</a:t>
            </a:r>
            <a:r>
              <a:rPr lang="en-IN" dirty="0"/>
              <a:t> = 0.4 T + 0.3 (r/5) + 0.2 sigma + 0.1 (1 - lambda), where r is peer reputation, sigma is historical success rate, lambda is the latency penalty. QUARANTINED or REVOKED agents are forced to 0.000 ("REJECTED BY POLICY") regardless of reputation. Footnote: illustrative benchmark scenario.</a:t>
            </a:r>
          </a:p>
        </p:txBody>
      </p:sp>
    </p:spTree>
    <p:extLst>
      <p:ext uri="{BB962C8B-B14F-4D97-AF65-F5344CB8AC3E}">
        <p14:creationId xmlns:p14="http://schemas.microsoft.com/office/powerpoint/2010/main" val="402463908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4263A5-EB46-346D-7CCE-5460FFA89A3C}"/>
              </a:ext>
            </a:extLst>
          </p:cNvPr>
          <p:cNvSpPr>
            <a:spLocks noGrp="1"/>
          </p:cNvSpPr>
          <p:nvPr>
            <p:ph type="title"/>
          </p:nvPr>
        </p:nvSpPr>
        <p:spPr>
          <a:xfrm>
            <a:off x="3200400" y="515985"/>
            <a:ext cx="5638800" cy="914400"/>
          </a:xfrm>
        </p:spPr>
        <p:txBody>
          <a:bodyPr>
            <a:normAutofit/>
          </a:bodyPr>
          <a:lstStyle/>
          <a:p>
            <a:r>
              <a:rPr lang="en-IN" dirty="0">
                <a:latin typeface="Times New Roman" panose="02020603050405020304" pitchFamily="18" charset="0"/>
                <a:cs typeface="Times New Roman" panose="02020603050405020304" pitchFamily="18" charset="0"/>
              </a:rPr>
              <a:t>Multi-Agent Collaboration</a:t>
            </a:r>
          </a:p>
        </p:txBody>
      </p:sp>
      <p:sp>
        <p:nvSpPr>
          <p:cNvPr id="3" name="Slide Number Placeholder 2">
            <a:extLst>
              <a:ext uri="{FF2B5EF4-FFF2-40B4-BE49-F238E27FC236}">
                <a16:creationId xmlns:a16="http://schemas.microsoft.com/office/drawing/2014/main" id="{C988EE89-8F57-4BEE-35C3-7AE94824DF55}"/>
              </a:ext>
            </a:extLst>
          </p:cNvPr>
          <p:cNvSpPr>
            <a:spLocks noGrp="1"/>
          </p:cNvSpPr>
          <p:nvPr>
            <p:ph type="sldNum" sz="quarter" idx="12"/>
          </p:nvPr>
        </p:nvSpPr>
        <p:spPr/>
        <p:txBody>
          <a:bodyPr/>
          <a:lstStyle/>
          <a:p>
            <a:fld id="{B6F15528-21DE-4FAA-801E-634DDDAF4B2B}" type="slidenum">
              <a:rPr lang="en-US" smtClean="0"/>
              <a:pPr/>
              <a:t>18</a:t>
            </a:fld>
            <a:endParaRPr lang="en-US"/>
          </a:p>
        </p:txBody>
      </p:sp>
      <p:pic>
        <p:nvPicPr>
          <p:cNvPr id="5" name="Picture 4">
            <a:extLst>
              <a:ext uri="{FF2B5EF4-FFF2-40B4-BE49-F238E27FC236}">
                <a16:creationId xmlns:a16="http://schemas.microsoft.com/office/drawing/2014/main" id="{A5EA9267-B839-16C4-73D0-CD31C4DF8594}"/>
              </a:ext>
            </a:extLst>
          </p:cNvPr>
          <p:cNvPicPr>
            <a:picLocks noChangeAspect="1"/>
          </p:cNvPicPr>
          <p:nvPr/>
        </p:nvPicPr>
        <p:blipFill>
          <a:blip r:embed="rId2" cstate="print">
            <a:extLst>
              <a:ext uri="{28A0092B-C50C-407E-A947-70E740481C1C}">
                <a14:useLocalDpi xmlns:a14="http://schemas.microsoft.com/office/drawing/2010/main" val="0"/>
              </a:ext>
            </a:extLst>
          </a:blip>
          <a:srcRect l="5434" r="6523"/>
          <a:stretch>
            <a:fillRect/>
          </a:stretch>
        </p:blipFill>
        <p:spPr>
          <a:xfrm>
            <a:off x="76200" y="1430385"/>
            <a:ext cx="5255952" cy="3979815"/>
          </a:xfrm>
          <a:prstGeom prst="rect">
            <a:avLst/>
          </a:prstGeom>
        </p:spPr>
      </p:pic>
      <p:sp>
        <p:nvSpPr>
          <p:cNvPr id="8" name="TextBox 7">
            <a:extLst>
              <a:ext uri="{FF2B5EF4-FFF2-40B4-BE49-F238E27FC236}">
                <a16:creationId xmlns:a16="http://schemas.microsoft.com/office/drawing/2014/main" id="{15A22A4D-E903-50FE-343C-1EAC2A34FEFE}"/>
              </a:ext>
            </a:extLst>
          </p:cNvPr>
          <p:cNvSpPr txBox="1"/>
          <p:nvPr/>
        </p:nvSpPr>
        <p:spPr>
          <a:xfrm>
            <a:off x="5029200" y="2270879"/>
            <a:ext cx="3812458" cy="3416320"/>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pPr marL="342900" lvl="0" indent="-342900">
              <a:buFont typeface="Wingdings" panose="05000000000000000000" pitchFamily="2" charset="2"/>
              <a:buChar char="§"/>
            </a:pPr>
            <a:r>
              <a:rPr lang="en-IN" sz="1800" dirty="0">
                <a:latin typeface="Times New Roman" panose="02020603050405020304" pitchFamily="18" charset="0"/>
                <a:cs typeface="Times New Roman" panose="02020603050405020304" pitchFamily="18" charset="0"/>
              </a:rPr>
              <a:t>Session states: PENDING, ACTIVE, COMPLETED, TERMINATED.</a:t>
            </a:r>
          </a:p>
          <a:p>
            <a:pPr marL="342900" lvl="0" indent="-342900">
              <a:buFont typeface="Wingdings" panose="05000000000000000000" pitchFamily="2" charset="2"/>
              <a:buChar char="§"/>
            </a:pPr>
            <a:r>
              <a:rPr lang="en-IN" sz="1800" dirty="0">
                <a:latin typeface="Times New Roman" panose="02020603050405020304" pitchFamily="18" charset="0"/>
                <a:cs typeface="Times New Roman" panose="02020603050405020304" pitchFamily="18" charset="0"/>
              </a:rPr>
              <a:t>Both agents must be TRUSTED to activate a session.</a:t>
            </a:r>
          </a:p>
          <a:p>
            <a:pPr marL="342900" lvl="0" indent="-342900">
              <a:buFont typeface="Wingdings" panose="05000000000000000000" pitchFamily="2" charset="2"/>
              <a:buChar char="§"/>
            </a:pPr>
            <a:r>
              <a:rPr lang="en-IN" sz="1800" dirty="0">
                <a:latin typeface="Times New Roman" panose="02020603050405020304" pitchFamily="18" charset="0"/>
                <a:cs typeface="Times New Roman" panose="02020603050405020304" pitchFamily="18" charset="0"/>
              </a:rPr>
              <a:t>Telemetry is recorded after every step of a sequential pipeline (e.g. Planning, Coding, Review); if trust drops below 0.50 mid-session the workflow stops.</a:t>
            </a:r>
          </a:p>
          <a:p>
            <a:pPr marL="342900" lvl="0" indent="-342900">
              <a:buFont typeface="Wingdings" panose="05000000000000000000" pitchFamily="2" charset="2"/>
              <a:buChar char="§"/>
            </a:pPr>
            <a:r>
              <a:rPr lang="en-IN" sz="1800" dirty="0">
                <a:latin typeface="Times New Roman" panose="02020603050405020304" pitchFamily="18" charset="0"/>
                <a:cs typeface="Times New Roman" panose="02020603050405020304" pitchFamily="18" charset="0"/>
              </a:rPr>
              <a:t>Post-task 1-to-5 rating updates agent reputation.</a:t>
            </a:r>
          </a:p>
        </p:txBody>
      </p:sp>
    </p:spTree>
    <p:extLst>
      <p:ext uri="{BB962C8B-B14F-4D97-AF65-F5344CB8AC3E}">
        <p14:creationId xmlns:p14="http://schemas.microsoft.com/office/powerpoint/2010/main" val="32447424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4DA1F8-189D-C1B5-1689-CFFB706AC815}"/>
              </a:ext>
            </a:extLst>
          </p:cNvPr>
          <p:cNvSpPr>
            <a:spLocks noGrp="1"/>
          </p:cNvSpPr>
          <p:nvPr>
            <p:ph type="title"/>
          </p:nvPr>
        </p:nvSpPr>
        <p:spPr>
          <a:xfrm>
            <a:off x="457200" y="1165000"/>
            <a:ext cx="8229600" cy="914400"/>
          </a:xfrm>
        </p:spPr>
        <p:txBody>
          <a:bodyPr>
            <a:normAutofit fontScale="90000"/>
          </a:bodyPr>
          <a:lstStyle/>
          <a:p>
            <a:r>
              <a:rPr lang="en-IN" dirty="0">
                <a:latin typeface="Times New Roman" panose="02020603050405020304" pitchFamily="18" charset="0"/>
                <a:cs typeface="Times New Roman" panose="02020603050405020304" pitchFamily="18" charset="0"/>
              </a:rPr>
              <a:t>Verifiable Data Registry and Audit Trails </a:t>
            </a:r>
          </a:p>
        </p:txBody>
      </p:sp>
      <p:sp>
        <p:nvSpPr>
          <p:cNvPr id="3" name="Slide Number Placeholder 2">
            <a:extLst>
              <a:ext uri="{FF2B5EF4-FFF2-40B4-BE49-F238E27FC236}">
                <a16:creationId xmlns:a16="http://schemas.microsoft.com/office/drawing/2014/main" id="{28C9A365-A308-CB68-D56A-C2F842508A6B}"/>
              </a:ext>
            </a:extLst>
          </p:cNvPr>
          <p:cNvSpPr>
            <a:spLocks noGrp="1"/>
          </p:cNvSpPr>
          <p:nvPr>
            <p:ph type="sldNum" sz="quarter" idx="12"/>
          </p:nvPr>
        </p:nvSpPr>
        <p:spPr/>
        <p:txBody>
          <a:bodyPr/>
          <a:lstStyle/>
          <a:p>
            <a:fld id="{B6F15528-21DE-4FAA-801E-634DDDAF4B2B}" type="slidenum">
              <a:rPr lang="en-US" smtClean="0"/>
              <a:pPr/>
              <a:t>19</a:t>
            </a:fld>
            <a:endParaRPr lang="en-US"/>
          </a:p>
        </p:txBody>
      </p:sp>
      <p:pic>
        <p:nvPicPr>
          <p:cNvPr id="5" name="Picture 4">
            <a:extLst>
              <a:ext uri="{FF2B5EF4-FFF2-40B4-BE49-F238E27FC236}">
                <a16:creationId xmlns:a16="http://schemas.microsoft.com/office/drawing/2014/main" id="{9F5E60CC-5341-692C-00B1-60597B0412D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4581" y="1860936"/>
            <a:ext cx="9144000" cy="4642338"/>
          </a:xfrm>
          <a:prstGeom prst="rect">
            <a:avLst/>
          </a:prstGeom>
        </p:spPr>
      </p:pic>
    </p:spTree>
    <p:extLst>
      <p:ext uri="{BB962C8B-B14F-4D97-AF65-F5344CB8AC3E}">
        <p14:creationId xmlns:p14="http://schemas.microsoft.com/office/powerpoint/2010/main" val="40652215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F29225-AB58-A28F-D472-3A44E7D65D81}"/>
              </a:ext>
            </a:extLst>
          </p:cNvPr>
          <p:cNvSpPr>
            <a:spLocks noGrp="1"/>
          </p:cNvSpPr>
          <p:nvPr>
            <p:ph type="title"/>
          </p:nvPr>
        </p:nvSpPr>
        <p:spPr>
          <a:xfrm>
            <a:off x="457200" y="320040"/>
            <a:ext cx="8229600" cy="685800"/>
          </a:xfrm>
        </p:spPr>
        <p:txBody>
          <a:bodyPr>
            <a:normAutofit/>
          </a:bodyPr>
          <a:lstStyle/>
          <a:p>
            <a:pPr>
              <a:defRPr sz="2200" b="1">
                <a:solidFill>
                  <a:srgbClr val="1F497D"/>
                </a:solidFill>
                <a:latin typeface="Times New Roman"/>
              </a:defRPr>
            </a:pPr>
            <a:r>
              <a:rPr lang="en-IN" dirty="0">
                <a:latin typeface="Times New Roman" panose="02020603050405020304" pitchFamily="18" charset="0"/>
                <a:cs typeface="Times New Roman" panose="02020603050405020304" pitchFamily="18" charset="0"/>
              </a:rPr>
              <a:t>SOC Portal and Investigation Drawer</a:t>
            </a:r>
          </a:p>
        </p:txBody>
      </p:sp>
      <p:sp>
        <p:nvSpPr>
          <p:cNvPr id="3" name="Slide Number Placeholder 2">
            <a:extLst>
              <a:ext uri="{FF2B5EF4-FFF2-40B4-BE49-F238E27FC236}">
                <a16:creationId xmlns:a16="http://schemas.microsoft.com/office/drawing/2014/main" id="{F8413638-5425-3712-110A-7187E8529F88}"/>
              </a:ext>
            </a:extLst>
          </p:cNvPr>
          <p:cNvSpPr>
            <a:spLocks noGrp="1"/>
          </p:cNvSpPr>
          <p:nvPr>
            <p:ph type="sldNum" sz="quarter" idx="12"/>
          </p:nvPr>
        </p:nvSpPr>
        <p:spPr/>
        <p:txBody>
          <a:bodyPr/>
          <a:lstStyle/>
          <a:p>
            <a:fld id="{B6F15528-21DE-4FAA-801E-634DDDAF4B2B}" type="slidenum">
              <a:rPr lang="en-US" smtClean="0"/>
              <a:pPr/>
              <a:t>20</a:t>
            </a:fld>
            <a:endParaRPr lang="en-US"/>
          </a:p>
        </p:txBody>
      </p:sp>
      <p:pic>
        <p:nvPicPr>
          <p:cNvPr id="4" name="Picture 3" descr="zero_trust_policy_matrix.png"/>
          <p:cNvPicPr>
            <a:picLocks noChangeAspect="1"/>
          </p:cNvPicPr>
          <p:nvPr/>
        </p:nvPicPr>
        <p:blipFill>
          <a:blip r:embed="rId2"/>
          <a:stretch>
            <a:fillRect/>
          </a:stretch>
        </p:blipFill>
        <p:spPr>
          <a:xfrm>
            <a:off x="457200" y="1188720"/>
            <a:ext cx="4343400" cy="2441448"/>
          </a:xfrm>
          <a:prstGeom prst="rect">
            <a:avLst/>
          </a:prstGeom>
          <a:ln w="12700">
            <a:solidFill>
              <a:srgbClr val="1F497D"/>
            </a:solidFill>
          </a:ln>
        </p:spPr>
      </p:pic>
      <p:sp>
        <p:nvSpPr>
          <p:cNvPr id="5" name="Rounded Rectangle 4"/>
          <p:cNvSpPr/>
          <p:nvPr/>
        </p:nvSpPr>
        <p:spPr>
          <a:xfrm>
            <a:off x="457200" y="3794760"/>
            <a:ext cx="4343400" cy="2331720"/>
          </a:xfrm>
          <a:prstGeom prst="roundRect">
            <a:avLst/>
          </a:prstGeom>
          <a:solidFill>
            <a:srgbClr val="EFF6FF"/>
          </a:solidFill>
          <a:ln w="12700">
            <a:solidFill>
              <a:srgbClr val="1F497D"/>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a:lstStyle/>
          <a:p>
            <a:pPr algn="ctr">
              <a:spcAft>
                <a:spcPts val="200"/>
              </a:spcAft>
              <a:defRPr sz="1000" b="1">
                <a:solidFill>
                  <a:srgbClr val="1F497D"/>
                </a:solidFill>
                <a:latin typeface="Times New Roman"/>
              </a:defRPr>
            </a:pPr>
            <a:r>
              <a:t>SOC Live Policy Enforcement &amp; Telemetry Stream</a:t>
            </a:r>
          </a:p>
          <a:p>
            <a:pPr>
              <a:spcAft>
                <a:spcPts val="200"/>
              </a:spcAft>
              <a:defRPr sz="800">
                <a:solidFill>
                  <a:srgbClr val="1E293B"/>
                </a:solidFill>
                <a:latin typeface="Times New Roman"/>
              </a:defRPr>
            </a:pPr>
            <a:r>
              <a:t>• Live Zero-Trust Matrix: Real-time visual mapping of agent identities to dynamic policy enforcement levels.</a:t>
            </a:r>
          </a:p>
          <a:p>
            <a:pPr>
              <a:spcAft>
                <a:spcPts val="200"/>
              </a:spcAft>
              <a:defRPr sz="800">
                <a:solidFill>
                  <a:srgbClr val="1E293B"/>
                </a:solidFill>
                <a:latin typeface="Times New Roman"/>
              </a:defRPr>
            </a:pPr>
            <a:r>
              <a:t>• Graduated Enforcement: Demonstrates rate-limiting (100 -&gt; 20 -&gt; 0 req/min) based on dynamic behavioral trust.</a:t>
            </a:r>
          </a:p>
          <a:p>
            <a:pPr>
              <a:spcAft>
                <a:spcPts val="200"/>
              </a:spcAft>
              <a:defRPr sz="800">
                <a:solidFill>
                  <a:srgbClr val="1E293B"/>
                </a:solidFill>
                <a:latin typeface="Times New Roman"/>
              </a:defRPr>
            </a:pPr>
            <a:r>
              <a:t>• Diagnostic Sandbox: Quarantined agents (T &lt; 0.50) are isolated into a sandbox with zero privileged access.</a:t>
            </a:r>
          </a:p>
        </p:txBody>
      </p:sp>
      <p:sp>
        <p:nvSpPr>
          <p:cNvPr id="6" name="Rounded Rectangle 5"/>
          <p:cNvSpPr/>
          <p:nvPr/>
        </p:nvSpPr>
        <p:spPr>
          <a:xfrm>
            <a:off x="4983480" y="1188720"/>
            <a:ext cx="3703320" cy="4937760"/>
          </a:xfrm>
          <a:prstGeom prst="roundRect">
            <a:avLst/>
          </a:prstGeom>
          <a:solidFill>
            <a:srgbClr val="F8FAFC"/>
          </a:solidFill>
          <a:ln w="15240">
            <a:solidFill>
              <a:srgbClr val="1F497D"/>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91440" bIns="73152"/>
          <a:lstStyle/>
          <a:p>
            <a:pPr algn="ctr">
              <a:spcAft>
                <a:spcPts val="400"/>
              </a:spcAft>
              <a:defRPr sz="1100" b="1">
                <a:solidFill>
                  <a:srgbClr val="1F497D"/>
                </a:solidFill>
                <a:latin typeface="Times New Roman"/>
              </a:defRPr>
            </a:pPr>
            <a:r>
              <a:t>SOC Investigation Drawer Capabilities</a:t>
            </a:r>
          </a:p>
          <a:p>
            <a:pPr>
              <a:spcAft>
                <a:spcPts val="250"/>
              </a:spcAft>
              <a:defRPr sz="850">
                <a:latin typeface="Times New Roman"/>
              </a:defRPr>
            </a:pPr>
            <a:r>
              <a:rPr b="1">
                <a:solidFill>
                  <a:srgbClr val="1F497D"/>
                </a:solidFill>
              </a:rPr>
              <a:t>• </a:t>
            </a:r>
            <a:r>
              <a:rPr b="1">
                <a:solidFill>
                  <a:srgbClr val="1E293B"/>
                </a:solidFill>
              </a:rPr>
              <a:t>Centralized Observability: </a:t>
            </a:r>
            <a:r>
              <a:rPr>
                <a:solidFill>
                  <a:srgbClr val="1E293B"/>
                </a:solidFill>
              </a:rPr>
              <a:t>Provides SOC analysts with live visibility into cross-domain agent swarms.</a:t>
            </a:r>
          </a:p>
          <a:p>
            <a:pPr>
              <a:spcAft>
                <a:spcPts val="250"/>
              </a:spcAft>
              <a:defRPr sz="850">
                <a:latin typeface="Times New Roman"/>
              </a:defRPr>
            </a:pPr>
            <a:r>
              <a:rPr b="1">
                <a:solidFill>
                  <a:srgbClr val="1F497D"/>
                </a:solidFill>
              </a:rPr>
              <a:t>• </a:t>
            </a:r>
            <a:r>
              <a:rPr b="1">
                <a:solidFill>
                  <a:srgbClr val="1E293B"/>
                </a:solidFill>
              </a:rPr>
              <a:t>Side-Drawer Investigation Mode: </a:t>
            </a:r>
            <a:r>
              <a:rPr>
                <a:solidFill>
                  <a:srgbClr val="1E293B"/>
                </a:solidFill>
              </a:rPr>
              <a:t>Clicking an agent opens a forensic drawer revealing raw cryptographic credentials, signature proofs, and historical telemetry logs.</a:t>
            </a:r>
          </a:p>
          <a:p>
            <a:pPr>
              <a:spcAft>
                <a:spcPts val="250"/>
              </a:spcAft>
              <a:defRPr sz="850">
                <a:latin typeface="Times New Roman"/>
              </a:defRPr>
            </a:pPr>
            <a:r>
              <a:rPr b="1">
                <a:solidFill>
                  <a:srgbClr val="1F497D"/>
                </a:solidFill>
              </a:rPr>
              <a:t>• </a:t>
            </a:r>
            <a:r>
              <a:rPr b="1">
                <a:solidFill>
                  <a:srgbClr val="1E293B"/>
                </a:solidFill>
              </a:rPr>
              <a:t>Dynamic Behavioral Breakdown: </a:t>
            </a:r>
            <a:r>
              <a:rPr>
                <a:solidFill>
                  <a:srgbClr val="1E293B"/>
                </a:solidFill>
              </a:rPr>
              <a:t>Inspects task success rate (Si), policy compliance rate (Ci), and normalized latency penalty (Li) contributing to the temporal trust score.</a:t>
            </a:r>
          </a:p>
          <a:p>
            <a:pPr>
              <a:spcAft>
                <a:spcPts val="250"/>
              </a:spcAft>
              <a:defRPr sz="850">
                <a:latin typeface="Times New Roman"/>
              </a:defRPr>
            </a:pPr>
            <a:r>
              <a:rPr b="1">
                <a:solidFill>
                  <a:srgbClr val="1F497D"/>
                </a:solidFill>
              </a:rPr>
              <a:t>• </a:t>
            </a:r>
            <a:r>
              <a:rPr b="1">
                <a:solidFill>
                  <a:srgbClr val="1E293B"/>
                </a:solidFill>
              </a:rPr>
              <a:t>Administrative Quarantine Override: </a:t>
            </a:r>
            <a:r>
              <a:rPr>
                <a:solidFill>
                  <a:srgbClr val="1E293B"/>
                </a:solidFill>
              </a:rPr>
              <a:t>Enables security operators (ADMIN role) to manually revoke compromised agent credentials or release false-positive quarantines.</a:t>
            </a:r>
          </a:p>
          <a:p>
            <a:pPr>
              <a:spcAft>
                <a:spcPts val="250"/>
              </a:spcAft>
              <a:defRPr sz="850">
                <a:latin typeface="Times New Roman"/>
              </a:defRPr>
            </a:pPr>
            <a:r>
              <a:rPr b="1">
                <a:solidFill>
                  <a:srgbClr val="1F497D"/>
                </a:solidFill>
              </a:rPr>
              <a:t>• </a:t>
            </a:r>
            <a:r>
              <a:rPr b="1">
                <a:solidFill>
                  <a:srgbClr val="1E293B"/>
                </a:solidFill>
              </a:rPr>
              <a:t>Immutable Audit Traceability: </a:t>
            </a:r>
            <a:r>
              <a:rPr>
                <a:solidFill>
                  <a:srgbClr val="1E293B"/>
                </a:solidFill>
              </a:rPr>
              <a:t>Every investigation query and state modification is appended to the 13-table SQLite WAL audit ledger.</a:t>
            </a:r>
          </a:p>
        </p:txBody>
      </p:sp>
    </p:spTree>
    <p:extLst>
      <p:ext uri="{BB962C8B-B14F-4D97-AF65-F5344CB8AC3E}">
        <p14:creationId xmlns:p14="http://schemas.microsoft.com/office/powerpoint/2010/main" val="425661000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0D2BAC-7261-75A7-981C-B09CD5A25633}"/>
              </a:ext>
            </a:extLst>
          </p:cNvPr>
          <p:cNvSpPr>
            <a:spLocks noGrp="1"/>
          </p:cNvSpPr>
          <p:nvPr>
            <p:ph type="title"/>
          </p:nvPr>
        </p:nvSpPr>
        <p:spPr>
          <a:xfrm>
            <a:off x="457200" y="1178429"/>
            <a:ext cx="8229600" cy="914400"/>
          </a:xfrm>
        </p:spPr>
        <p:txBody>
          <a:bodyPr>
            <a:normAutofit/>
          </a:bodyPr>
          <a:lstStyle/>
          <a:p>
            <a:r>
              <a:rPr lang="en-IN" dirty="0">
                <a:latin typeface="Times New Roman" panose="02020603050405020304" pitchFamily="18" charset="0"/>
                <a:cs typeface="Times New Roman" panose="02020603050405020304" pitchFamily="18" charset="0"/>
              </a:rPr>
              <a:t>Implementation Status</a:t>
            </a:r>
          </a:p>
        </p:txBody>
      </p:sp>
      <p:sp>
        <p:nvSpPr>
          <p:cNvPr id="3" name="Slide Number Placeholder 2">
            <a:extLst>
              <a:ext uri="{FF2B5EF4-FFF2-40B4-BE49-F238E27FC236}">
                <a16:creationId xmlns:a16="http://schemas.microsoft.com/office/drawing/2014/main" id="{D021BD95-1100-C712-EEBF-ABE79C341410}"/>
              </a:ext>
            </a:extLst>
          </p:cNvPr>
          <p:cNvSpPr>
            <a:spLocks noGrp="1"/>
          </p:cNvSpPr>
          <p:nvPr>
            <p:ph type="sldNum" sz="quarter" idx="12"/>
          </p:nvPr>
        </p:nvSpPr>
        <p:spPr/>
        <p:txBody>
          <a:bodyPr/>
          <a:lstStyle/>
          <a:p>
            <a:pPr algn="r">
              <a:defRPr sz="1200">
                <a:solidFill>
                  <a:srgbClr val="64748B"/>
                </a:solidFill>
                <a:latin typeface="Times New Roman"/>
              </a:defRPr>
            </a:pPr>
            <a:r>
              <a:t>23</a:t>
            </a:r>
          </a:p>
        </p:txBody>
      </p:sp>
      <p:graphicFrame>
        <p:nvGraphicFramePr>
          <p:cNvPr id="4" name="Table 3">
            <a:extLst>
              <a:ext uri="{FF2B5EF4-FFF2-40B4-BE49-F238E27FC236}">
                <a16:creationId xmlns:a16="http://schemas.microsoft.com/office/drawing/2014/main" id="{BDAC97AB-0A41-3ACF-F637-0A092577AA6F}"/>
              </a:ext>
            </a:extLst>
          </p:cNvPr>
          <p:cNvGraphicFramePr>
            <a:graphicFrameLocks noGrp="1"/>
          </p:cNvGraphicFramePr>
          <p:nvPr>
            <p:extLst>
              <p:ext uri="{D42A27DB-BD31-4B8C-83A1-F6EECF244321}">
                <p14:modId xmlns:p14="http://schemas.microsoft.com/office/powerpoint/2010/main" val="3758012187"/>
              </p:ext>
            </p:extLst>
          </p:nvPr>
        </p:nvGraphicFramePr>
        <p:xfrm>
          <a:off x="680328" y="1981200"/>
          <a:ext cx="7783344" cy="3778335"/>
        </p:xfrm>
        <a:graphic>
          <a:graphicData uri="http://schemas.openxmlformats.org/drawingml/2006/table">
            <a:tbl>
              <a:tblPr>
                <a:tableStyleId>{2D5ABB26-0587-4C30-8999-92F81FD0307C}</a:tableStyleId>
              </a:tblPr>
              <a:tblGrid>
                <a:gridCol w="2587152">
                  <a:extLst>
                    <a:ext uri="{9D8B030D-6E8A-4147-A177-3AD203B41FA5}">
                      <a16:colId xmlns:a16="http://schemas.microsoft.com/office/drawing/2014/main" val="2915198884"/>
                    </a:ext>
                  </a:extLst>
                </a:gridCol>
                <a:gridCol w="2598096">
                  <a:extLst>
                    <a:ext uri="{9D8B030D-6E8A-4147-A177-3AD203B41FA5}">
                      <a16:colId xmlns:a16="http://schemas.microsoft.com/office/drawing/2014/main" val="2295925442"/>
                    </a:ext>
                  </a:extLst>
                </a:gridCol>
                <a:gridCol w="2598096">
                  <a:extLst>
                    <a:ext uri="{9D8B030D-6E8A-4147-A177-3AD203B41FA5}">
                      <a16:colId xmlns:a16="http://schemas.microsoft.com/office/drawing/2014/main" val="3064566695"/>
                    </a:ext>
                  </a:extLst>
                </a:gridCol>
              </a:tblGrid>
              <a:tr h="288677">
                <a:tc>
                  <a:txBody>
                    <a:bodyPr/>
                    <a:lstStyle/>
                    <a:p>
                      <a:pPr algn="ctr">
                        <a:buNone/>
                      </a:pPr>
                      <a:r>
                        <a:rPr lang="en-IN" sz="1400" b="1" dirty="0">
                          <a:effectLst/>
                          <a:latin typeface="Times New Roman" panose="02020603050405020304" pitchFamily="18" charset="0"/>
                          <a:cs typeface="Times New Roman" panose="02020603050405020304" pitchFamily="18" charset="0"/>
                        </a:rPr>
                        <a:t>Component</a:t>
                      </a:r>
                    </a:p>
                  </a:txBody>
                  <a:tcPr marL="86603" marR="86603" marT="43302" marB="433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75000"/>
                      </a:schemeClr>
                    </a:solidFill>
                  </a:tcPr>
                </a:tc>
                <a:tc>
                  <a:txBody>
                    <a:bodyPr/>
                    <a:lstStyle/>
                    <a:p>
                      <a:pPr algn="ctr">
                        <a:buNone/>
                      </a:pPr>
                      <a:r>
                        <a:rPr lang="en-IN" sz="1400" b="1" dirty="0">
                          <a:effectLst/>
                          <a:latin typeface="Times New Roman" panose="02020603050405020304" pitchFamily="18" charset="0"/>
                          <a:cs typeface="Times New Roman" panose="02020603050405020304" pitchFamily="18" charset="0"/>
                        </a:rPr>
                        <a:t>Status</a:t>
                      </a:r>
                    </a:p>
                  </a:txBody>
                  <a:tcPr marL="86603" marR="86603" marT="43302" marB="433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75000"/>
                      </a:schemeClr>
                    </a:solidFill>
                  </a:tcPr>
                </a:tc>
                <a:tc>
                  <a:txBody>
                    <a:bodyPr/>
                    <a:lstStyle/>
                    <a:p>
                      <a:pPr algn="ctr">
                        <a:buNone/>
                      </a:pPr>
                      <a:r>
                        <a:rPr lang="en-IN" sz="1400" b="1" dirty="0">
                          <a:effectLst/>
                          <a:latin typeface="Times New Roman" panose="02020603050405020304" pitchFamily="18" charset="0"/>
                          <a:cs typeface="Times New Roman" panose="02020603050405020304" pitchFamily="18" charset="0"/>
                        </a:rPr>
                        <a:t>Evidence</a:t>
                      </a:r>
                    </a:p>
                  </a:txBody>
                  <a:tcPr marL="86603" marR="86603" marT="43302" marB="433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75000"/>
                      </a:schemeClr>
                    </a:solidFill>
                  </a:tcPr>
                </a:tc>
                <a:extLst>
                  <a:ext uri="{0D108BD9-81ED-4DB2-BD59-A6C34878D82A}">
                    <a16:rowId xmlns:a16="http://schemas.microsoft.com/office/drawing/2014/main" val="3508395868"/>
                  </a:ext>
                </a:extLst>
              </a:tr>
              <a:tr h="351975">
                <a:tc>
                  <a:txBody>
                    <a:bodyPr/>
                    <a:lstStyle/>
                    <a:p>
                      <a:pPr algn="ctr">
                        <a:buNone/>
                      </a:pPr>
                      <a:r>
                        <a:rPr lang="en-IN" sz="1400">
                          <a:effectLst/>
                          <a:latin typeface="Times New Roman" panose="02020603050405020304" pitchFamily="18" charset="0"/>
                          <a:cs typeface="Times New Roman" panose="02020603050405020304" pitchFamily="18" charset="0"/>
                        </a:rPr>
                        <a:t>did:key identity, Ed25519</a:t>
                      </a:r>
                    </a:p>
                  </a:txBody>
                  <a:tcPr marL="86603" marR="86603" marT="43302" marB="433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400">
                          <a:effectLst/>
                          <a:latin typeface="Times New Roman" panose="02020603050405020304" pitchFamily="18" charset="0"/>
                          <a:cs typeface="Times New Roman" panose="02020603050405020304" pitchFamily="18" charset="0"/>
                        </a:rPr>
                        <a:t>Implemented + tested</a:t>
                      </a:r>
                    </a:p>
                  </a:txBody>
                  <a:tcPr marL="86603" marR="86603" marT="43302" marB="433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400">
                          <a:effectLst/>
                          <a:latin typeface="Times New Roman" panose="02020603050405020304" pitchFamily="18" charset="0"/>
                          <a:cs typeface="Times New Roman" panose="02020603050405020304" pitchFamily="18" charset="0"/>
                        </a:rPr>
                        <a:t>akta/did.py, pytest</a:t>
                      </a:r>
                    </a:p>
                  </a:txBody>
                  <a:tcPr marL="86603" marR="86603" marT="43302" marB="433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51585954"/>
                  </a:ext>
                </a:extLst>
              </a:tr>
              <a:tr h="288677">
                <a:tc>
                  <a:txBody>
                    <a:bodyPr/>
                    <a:lstStyle/>
                    <a:p>
                      <a:pPr algn="ctr">
                        <a:buNone/>
                      </a:pPr>
                      <a:r>
                        <a:rPr lang="en-IN" sz="1400">
                          <a:effectLst/>
                          <a:latin typeface="Times New Roman" panose="02020603050405020304" pitchFamily="18" charset="0"/>
                          <a:cs typeface="Times New Roman" panose="02020603050405020304" pitchFamily="18" charset="0"/>
                        </a:rPr>
                        <a:t>VC issuance and verification</a:t>
                      </a:r>
                    </a:p>
                  </a:txBody>
                  <a:tcPr marL="86603" marR="86603" marT="43302" marB="433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400" dirty="0">
                          <a:effectLst/>
                          <a:latin typeface="Times New Roman" panose="02020603050405020304" pitchFamily="18" charset="0"/>
                          <a:cs typeface="Times New Roman" panose="02020603050405020304" pitchFamily="18" charset="0"/>
                        </a:rPr>
                        <a:t>Implemented + tested</a:t>
                      </a:r>
                    </a:p>
                  </a:txBody>
                  <a:tcPr marL="86603" marR="86603" marT="43302" marB="433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400">
                          <a:effectLst/>
                          <a:latin typeface="Times New Roman" panose="02020603050405020304" pitchFamily="18" charset="0"/>
                          <a:cs typeface="Times New Roman" panose="02020603050405020304" pitchFamily="18" charset="0"/>
                        </a:rPr>
                        <a:t>akta/vc.py, pytest</a:t>
                      </a:r>
                    </a:p>
                  </a:txBody>
                  <a:tcPr marL="86603" marR="86603" marT="43302" marB="433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20125379"/>
                  </a:ext>
                </a:extLst>
              </a:tr>
              <a:tr h="288677">
                <a:tc>
                  <a:txBody>
                    <a:bodyPr/>
                    <a:lstStyle/>
                    <a:p>
                      <a:pPr algn="ctr">
                        <a:buNone/>
                      </a:pPr>
                      <a:r>
                        <a:rPr lang="en-IN" sz="1400">
                          <a:effectLst/>
                          <a:latin typeface="Times New Roman" panose="02020603050405020304" pitchFamily="18" charset="0"/>
                          <a:cs typeface="Times New Roman" panose="02020603050405020304" pitchFamily="18" charset="0"/>
                        </a:rPr>
                        <a:t>Telemetry, trust engine, states</a:t>
                      </a:r>
                    </a:p>
                  </a:txBody>
                  <a:tcPr marL="86603" marR="86603" marT="43302" marB="433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400">
                          <a:effectLst/>
                          <a:latin typeface="Times New Roman" panose="02020603050405020304" pitchFamily="18" charset="0"/>
                          <a:cs typeface="Times New Roman" panose="02020603050405020304" pitchFamily="18" charset="0"/>
                        </a:rPr>
                        <a:t>Fully implemented</a:t>
                      </a:r>
                    </a:p>
                  </a:txBody>
                  <a:tcPr marL="86603" marR="86603" marT="43302" marB="433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400">
                          <a:effectLst/>
                          <a:latin typeface="Times New Roman" panose="02020603050405020304" pitchFamily="18" charset="0"/>
                          <a:cs typeface="Times New Roman" panose="02020603050405020304" pitchFamily="18" charset="0"/>
                        </a:rPr>
                        <a:t>akta/trust_engine.py</a:t>
                      </a:r>
                    </a:p>
                  </a:txBody>
                  <a:tcPr marL="86603" marR="86603" marT="43302" marB="433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6235819"/>
                  </a:ext>
                </a:extLst>
              </a:tr>
              <a:tr h="288677">
                <a:tc>
                  <a:txBody>
                    <a:bodyPr/>
                    <a:lstStyle/>
                    <a:p>
                      <a:pPr algn="ctr">
                        <a:buNone/>
                      </a:pPr>
                      <a:r>
                        <a:rPr lang="en-IN" sz="1400">
                          <a:effectLst/>
                          <a:latin typeface="Times New Roman" panose="02020603050405020304" pitchFamily="18" charset="0"/>
                          <a:cs typeface="Times New Roman" panose="02020603050405020304" pitchFamily="18" charset="0"/>
                        </a:rPr>
                        <a:t>Adaptive policy gateway</a:t>
                      </a:r>
                    </a:p>
                  </a:txBody>
                  <a:tcPr marL="86603" marR="86603" marT="43302" marB="433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400">
                          <a:effectLst/>
                          <a:latin typeface="Times New Roman" panose="02020603050405020304" pitchFamily="18" charset="0"/>
                          <a:cs typeface="Times New Roman" panose="02020603050405020304" pitchFamily="18" charset="0"/>
                        </a:rPr>
                        <a:t>Implemented + tested</a:t>
                      </a:r>
                    </a:p>
                  </a:txBody>
                  <a:tcPr marL="86603" marR="86603" marT="43302" marB="433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400">
                          <a:effectLst/>
                          <a:latin typeface="Times New Roman" panose="02020603050405020304" pitchFamily="18" charset="0"/>
                          <a:cs typeface="Times New Roman" panose="02020603050405020304" pitchFamily="18" charset="0"/>
                        </a:rPr>
                        <a:t>akta/adaptive_auth.py</a:t>
                      </a:r>
                    </a:p>
                  </a:txBody>
                  <a:tcPr marL="86603" marR="86603" marT="43302" marB="433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02439713"/>
                  </a:ext>
                </a:extLst>
              </a:tr>
              <a:tr h="288677">
                <a:tc>
                  <a:txBody>
                    <a:bodyPr/>
                    <a:lstStyle/>
                    <a:p>
                      <a:pPr algn="ctr">
                        <a:buNone/>
                      </a:pPr>
                      <a:r>
                        <a:rPr lang="en-IN" sz="1400">
                          <a:effectLst/>
                          <a:latin typeface="Times New Roman" panose="02020603050405020304" pitchFamily="18" charset="0"/>
                          <a:cs typeface="Times New Roman" panose="02020603050405020304" pitchFamily="18" charset="0"/>
                        </a:rPr>
                        <a:t>Revocation, audit trail</a:t>
                      </a:r>
                    </a:p>
                  </a:txBody>
                  <a:tcPr marL="86603" marR="86603" marT="43302" marB="433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400">
                          <a:effectLst/>
                          <a:latin typeface="Times New Roman" panose="02020603050405020304" pitchFamily="18" charset="0"/>
                          <a:cs typeface="Times New Roman" panose="02020603050405020304" pitchFamily="18" charset="0"/>
                        </a:rPr>
                        <a:t>Fully implemented</a:t>
                      </a:r>
                    </a:p>
                  </a:txBody>
                  <a:tcPr marL="86603" marR="86603" marT="43302" marB="433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400">
                          <a:effectLst/>
                          <a:latin typeface="Times New Roman" panose="02020603050405020304" pitchFamily="18" charset="0"/>
                          <a:cs typeface="Times New Roman" panose="02020603050405020304" pitchFamily="18" charset="0"/>
                        </a:rPr>
                        <a:t>/trust/revoke, trust_audit_trails</a:t>
                      </a:r>
                    </a:p>
                  </a:txBody>
                  <a:tcPr marL="86603" marR="86603" marT="43302" marB="433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05174405"/>
                  </a:ext>
                </a:extLst>
              </a:tr>
              <a:tr h="288677">
                <a:tc>
                  <a:txBody>
                    <a:bodyPr/>
                    <a:lstStyle/>
                    <a:p>
                      <a:pPr algn="ctr">
                        <a:buNone/>
                      </a:pPr>
                      <a:r>
                        <a:rPr lang="en-IN" sz="1400">
                          <a:effectLst/>
                          <a:latin typeface="Times New Roman" panose="02020603050405020304" pitchFamily="18" charset="0"/>
                          <a:cs typeface="Times New Roman" panose="02020603050405020304" pitchFamily="18" charset="0"/>
                        </a:rPr>
                        <a:t>Discovery, matching</a:t>
                      </a:r>
                    </a:p>
                  </a:txBody>
                  <a:tcPr marL="86603" marR="86603" marT="43302" marB="433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400">
                          <a:effectLst/>
                          <a:latin typeface="Times New Roman" panose="02020603050405020304" pitchFamily="18" charset="0"/>
                          <a:cs typeface="Times New Roman" panose="02020603050405020304" pitchFamily="18" charset="0"/>
                        </a:rPr>
                        <a:t>Implemented + tested</a:t>
                      </a:r>
                    </a:p>
                  </a:txBody>
                  <a:tcPr marL="86603" marR="86603" marT="43302" marB="433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400">
                          <a:effectLst/>
                          <a:latin typeface="Times New Roman" panose="02020603050405020304" pitchFamily="18" charset="0"/>
                          <a:cs typeface="Times New Roman" panose="02020603050405020304" pitchFamily="18" charset="0"/>
                        </a:rPr>
                        <a:t>registry_crud.py</a:t>
                      </a:r>
                    </a:p>
                  </a:txBody>
                  <a:tcPr marL="86603" marR="86603" marT="43302" marB="433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42432269"/>
                  </a:ext>
                </a:extLst>
              </a:tr>
              <a:tr h="490751">
                <a:tc>
                  <a:txBody>
                    <a:bodyPr/>
                    <a:lstStyle/>
                    <a:p>
                      <a:pPr algn="ctr">
                        <a:buNone/>
                      </a:pPr>
                      <a:r>
                        <a:rPr lang="en-IN" sz="1400">
                          <a:effectLst/>
                          <a:latin typeface="Times New Roman" panose="02020603050405020304" pitchFamily="18" charset="0"/>
                          <a:cs typeface="Times New Roman" panose="02020603050405020304" pitchFamily="18" charset="0"/>
                        </a:rPr>
                        <a:t>Collaboration sessions, workflows</a:t>
                      </a:r>
                    </a:p>
                  </a:txBody>
                  <a:tcPr marL="86603" marR="86603" marT="43302" marB="433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400">
                          <a:effectLst/>
                          <a:latin typeface="Times New Roman" panose="02020603050405020304" pitchFamily="18" charset="0"/>
                          <a:cs typeface="Times New Roman" panose="02020603050405020304" pitchFamily="18" charset="0"/>
                        </a:rPr>
                        <a:t>Implemented + tested</a:t>
                      </a:r>
                    </a:p>
                  </a:txBody>
                  <a:tcPr marL="86603" marR="86603" marT="43302" marB="433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400">
                          <a:effectLst/>
                          <a:latin typeface="Times New Roman" panose="02020603050405020304" pitchFamily="18" charset="0"/>
                          <a:cs typeface="Times New Roman" panose="02020603050405020304" pitchFamily="18" charset="0"/>
                        </a:rPr>
                        <a:t>collaboration tables, tests</a:t>
                      </a:r>
                    </a:p>
                  </a:txBody>
                  <a:tcPr marL="86603" marR="86603" marT="43302" marB="433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18886231"/>
                  </a:ext>
                </a:extLst>
              </a:tr>
              <a:tr h="288677">
                <a:tc>
                  <a:txBody>
                    <a:bodyPr/>
                    <a:lstStyle/>
                    <a:p>
                      <a:pPr algn="ctr">
                        <a:buNone/>
                      </a:pPr>
                      <a:r>
                        <a:rPr lang="en-IN" sz="1400">
                          <a:effectLst/>
                          <a:latin typeface="Times New Roman" panose="02020603050405020304" pitchFamily="18" charset="0"/>
                          <a:cs typeface="Times New Roman" panose="02020603050405020304" pitchFamily="18" charset="0"/>
                        </a:rPr>
                        <a:t>Authentication and RBAC</a:t>
                      </a:r>
                    </a:p>
                  </a:txBody>
                  <a:tcPr marL="86603" marR="86603" marT="43302" marB="433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400">
                          <a:effectLst/>
                          <a:latin typeface="Times New Roman" panose="02020603050405020304" pitchFamily="18" charset="0"/>
                          <a:cs typeface="Times New Roman" panose="02020603050405020304" pitchFamily="18" charset="0"/>
                        </a:rPr>
                        <a:t>Implemented + tested</a:t>
                      </a:r>
                    </a:p>
                  </a:txBody>
                  <a:tcPr marL="86603" marR="86603" marT="43302" marB="433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400">
                          <a:effectLst/>
                          <a:latin typeface="Times New Roman" panose="02020603050405020304" pitchFamily="18" charset="0"/>
                          <a:cs typeface="Times New Roman" panose="02020603050405020304" pitchFamily="18" charset="0"/>
                        </a:rPr>
                        <a:t>akta/auth/, pytest</a:t>
                      </a:r>
                    </a:p>
                  </a:txBody>
                  <a:tcPr marL="86603" marR="86603" marT="43302" marB="433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68694709"/>
                  </a:ext>
                </a:extLst>
              </a:tr>
              <a:tr h="288677">
                <a:tc>
                  <a:txBody>
                    <a:bodyPr/>
                    <a:lstStyle/>
                    <a:p>
                      <a:pPr algn="ctr">
                        <a:buNone/>
                      </a:pPr>
                      <a:r>
                        <a:rPr lang="en-IN" sz="1400">
                          <a:effectLst/>
                          <a:latin typeface="Times New Roman" panose="02020603050405020304" pitchFamily="18" charset="0"/>
                          <a:cs typeface="Times New Roman" panose="02020603050405020304" pitchFamily="18" charset="0"/>
                        </a:rPr>
                        <a:t>SQLite WAL VDR (13 tables)</a:t>
                      </a:r>
                    </a:p>
                  </a:txBody>
                  <a:tcPr marL="86603" marR="86603" marT="43302" marB="433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400">
                          <a:effectLst/>
                          <a:latin typeface="Times New Roman" panose="02020603050405020304" pitchFamily="18" charset="0"/>
                          <a:cs typeface="Times New Roman" panose="02020603050405020304" pitchFamily="18" charset="0"/>
                        </a:rPr>
                        <a:t>Fully implemented</a:t>
                      </a:r>
                    </a:p>
                  </a:txBody>
                  <a:tcPr marL="86603" marR="86603" marT="43302" marB="433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400">
                          <a:effectLst/>
                          <a:latin typeface="Times New Roman" panose="02020603050405020304" pitchFamily="18" charset="0"/>
                          <a:cs typeface="Times New Roman" panose="02020603050405020304" pitchFamily="18" charset="0"/>
                        </a:rPr>
                        <a:t>akta/vdr/</a:t>
                      </a:r>
                    </a:p>
                  </a:txBody>
                  <a:tcPr marL="86603" marR="86603" marT="43302" marB="433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20620659"/>
                  </a:ext>
                </a:extLst>
              </a:tr>
              <a:tr h="490751">
                <a:tc>
                  <a:txBody>
                    <a:bodyPr/>
                    <a:lstStyle/>
                    <a:p>
                      <a:pPr algn="ctr">
                        <a:buNone/>
                      </a:pPr>
                      <a:r>
                        <a:rPr lang="en-IN" sz="1400">
                          <a:effectLst/>
                          <a:latin typeface="Times New Roman" panose="02020603050405020304" pitchFamily="18" charset="0"/>
                          <a:cs typeface="Times New Roman" panose="02020603050405020304" pitchFamily="18" charset="0"/>
                        </a:rPr>
                        <a:t>FastAPI backend, React portal, CLI</a:t>
                      </a:r>
                    </a:p>
                  </a:txBody>
                  <a:tcPr marL="86603" marR="86603" marT="43302" marB="433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400">
                          <a:effectLst/>
                          <a:latin typeface="Times New Roman" panose="02020603050405020304" pitchFamily="18" charset="0"/>
                          <a:cs typeface="Times New Roman" panose="02020603050405020304" pitchFamily="18" charset="0"/>
                        </a:rPr>
                        <a:t>Fully implemented</a:t>
                      </a:r>
                    </a:p>
                  </a:txBody>
                  <a:tcPr marL="86603" marR="86603" marT="43302" marB="433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400" dirty="0" err="1">
                          <a:effectLst/>
                          <a:latin typeface="Times New Roman" panose="02020603050405020304" pitchFamily="18" charset="0"/>
                          <a:cs typeface="Times New Roman" panose="02020603050405020304" pitchFamily="18" charset="0"/>
                        </a:rPr>
                        <a:t>akta</a:t>
                      </a:r>
                      <a:r>
                        <a:rPr lang="en-IN" sz="1400" dirty="0">
                          <a:effectLst/>
                          <a:latin typeface="Times New Roman" panose="02020603050405020304" pitchFamily="18" charset="0"/>
                          <a:cs typeface="Times New Roman" panose="02020603050405020304" pitchFamily="18" charset="0"/>
                        </a:rPr>
                        <a:t>/server.py, frontend/</a:t>
                      </a:r>
                    </a:p>
                  </a:txBody>
                  <a:tcPr marL="86603" marR="86603" marT="43302" marB="433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46821148"/>
                  </a:ext>
                </a:extLst>
              </a:tr>
            </a:tbl>
          </a:graphicData>
        </a:graphic>
      </p:graphicFrame>
    </p:spTree>
    <p:extLst>
      <p:ext uri="{BB962C8B-B14F-4D97-AF65-F5344CB8AC3E}">
        <p14:creationId xmlns:p14="http://schemas.microsoft.com/office/powerpoint/2010/main" val="222214437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00F0CA6-4F16-601B-4D42-2968DE180FB8}"/>
              </a:ext>
            </a:extLst>
          </p:cNvPr>
          <p:cNvSpPr>
            <a:spLocks noGrp="1"/>
          </p:cNvSpPr>
          <p:nvPr>
            <p:ph type="sldNum" sz="quarter" idx="12"/>
          </p:nvPr>
        </p:nvSpPr>
        <p:spPr/>
        <p:txBody>
          <a:bodyPr/>
          <a:lstStyle/>
          <a:p>
            <a:pPr algn="r">
              <a:defRPr sz="1200">
                <a:solidFill>
                  <a:srgbClr val="64748B"/>
                </a:solidFill>
                <a:latin typeface="Times New Roman"/>
              </a:defRPr>
            </a:pPr>
            <a:r>
              <a:t>24</a:t>
            </a:r>
          </a:p>
        </p:txBody>
      </p:sp>
      <p:sp>
        <p:nvSpPr>
          <p:cNvPr id="4" name="TextBox 3">
            <a:extLst>
              <a:ext uri="{FF2B5EF4-FFF2-40B4-BE49-F238E27FC236}">
                <a16:creationId xmlns:a16="http://schemas.microsoft.com/office/drawing/2014/main" id="{26F2832E-617D-92C7-1672-0DB46E3A972F}"/>
              </a:ext>
            </a:extLst>
          </p:cNvPr>
          <p:cNvSpPr txBox="1"/>
          <p:nvPr/>
        </p:nvSpPr>
        <p:spPr>
          <a:xfrm>
            <a:off x="1246425" y="2057400"/>
            <a:ext cx="7477246" cy="3539430"/>
          </a:xfrm>
          <a:prstGeom prst="rect">
            <a:avLst/>
          </a:prstGeom>
          <a:noFill/>
        </p:spPr>
        <p:txBody>
          <a:bodyPr wrap="square">
            <a:spAutoFit/>
          </a:bodyPr>
          <a:lstStyle/>
          <a:p>
            <a:pPr marL="342900" lvl="0" indent="-342900" algn="just">
              <a:buFont typeface="+mj-lt"/>
              <a:buAutoNum type="arabicPeriod"/>
            </a:pPr>
            <a:r>
              <a:rPr lang="en-IN" sz="1600" b="1" dirty="0">
                <a:latin typeface="Times New Roman" panose="02020603050405020304" pitchFamily="18" charset="0"/>
                <a:cs typeface="Times New Roman" panose="02020603050405020304" pitchFamily="18" charset="0"/>
              </a:rPr>
              <a:t>Decentralized AI Identity:</a:t>
            </a:r>
            <a:r>
              <a:rPr lang="en-IN" sz="1600" dirty="0">
                <a:latin typeface="Times New Roman" panose="02020603050405020304" pitchFamily="18" charset="0"/>
                <a:cs typeface="Times New Roman" panose="02020603050405020304" pitchFamily="18" charset="0"/>
              </a:rPr>
              <a:t> Assigns each AI agent a unique W3C DID for secure and self-sovereign digital identity. </a:t>
            </a:r>
          </a:p>
          <a:p>
            <a:pPr marL="342900" lvl="0" indent="-342900" algn="just">
              <a:buFont typeface="+mj-lt"/>
              <a:buAutoNum type="arabicPeriod"/>
            </a:pPr>
            <a:r>
              <a:rPr lang="en-IN" sz="1600" b="1" dirty="0">
                <a:latin typeface="Times New Roman" panose="02020603050405020304" pitchFamily="18" charset="0"/>
                <a:cs typeface="Times New Roman" panose="02020603050405020304" pitchFamily="18" charset="0"/>
              </a:rPr>
              <a:t>Verifiable Credential Authentication:</a:t>
            </a:r>
            <a:r>
              <a:rPr lang="en-IN" sz="1600" dirty="0">
                <a:latin typeface="Times New Roman" panose="02020603050405020304" pitchFamily="18" charset="0"/>
                <a:cs typeface="Times New Roman" panose="02020603050405020304" pitchFamily="18" charset="0"/>
              </a:rPr>
              <a:t> Authenticates AI agents using trusted Verifiable Credentials (VCs) before collaboration. </a:t>
            </a:r>
          </a:p>
          <a:p>
            <a:pPr marL="342900" lvl="0" indent="-342900" algn="just">
              <a:buFont typeface="+mj-lt"/>
              <a:buAutoNum type="arabicPeriod"/>
            </a:pPr>
            <a:r>
              <a:rPr lang="en-IN" sz="1600" b="1" dirty="0">
                <a:latin typeface="Times New Roman" panose="02020603050405020304" pitchFamily="18" charset="0"/>
                <a:cs typeface="Times New Roman" panose="02020603050405020304" pitchFamily="18" charset="0"/>
              </a:rPr>
              <a:t>Blockchain-Based Trust Ledger:</a:t>
            </a:r>
            <a:r>
              <a:rPr lang="en-IN" sz="1600" dirty="0">
                <a:latin typeface="Times New Roman" panose="02020603050405020304" pitchFamily="18" charset="0"/>
                <a:cs typeface="Times New Roman" panose="02020603050405020304" pitchFamily="18" charset="0"/>
              </a:rPr>
              <a:t> Stores identity, trust records, and audit logs in a tamper-proof blockchain. </a:t>
            </a:r>
          </a:p>
          <a:p>
            <a:pPr marL="342900" lvl="0" indent="-342900" algn="just">
              <a:buFont typeface="+mj-lt"/>
              <a:buAutoNum type="arabicPeriod"/>
            </a:pPr>
            <a:r>
              <a:rPr lang="en-IN" sz="1600" b="1" dirty="0">
                <a:latin typeface="Times New Roman" panose="02020603050405020304" pitchFamily="18" charset="0"/>
                <a:cs typeface="Times New Roman" panose="02020603050405020304" pitchFamily="18" charset="0"/>
              </a:rPr>
              <a:t>Dynamic Trust Intelligence Engine:</a:t>
            </a:r>
            <a:r>
              <a:rPr lang="en-IN" sz="1600" dirty="0">
                <a:latin typeface="Times New Roman" panose="02020603050405020304" pitchFamily="18" charset="0"/>
                <a:cs typeface="Times New Roman" panose="02020603050405020304" pitchFamily="18" charset="0"/>
              </a:rPr>
              <a:t> Continuously calculates trust scores using credentials, reputation, and agent behaviour. </a:t>
            </a:r>
          </a:p>
          <a:p>
            <a:pPr marL="342900" lvl="0" indent="-342900" algn="just">
              <a:buFont typeface="+mj-lt"/>
              <a:buAutoNum type="arabicPeriod"/>
            </a:pPr>
            <a:r>
              <a:rPr lang="en-IN" sz="1600" b="1" dirty="0">
                <a:latin typeface="Times New Roman" panose="02020603050405020304" pitchFamily="18" charset="0"/>
                <a:cs typeface="Times New Roman" panose="02020603050405020304" pitchFamily="18" charset="0"/>
              </a:rPr>
              <a:t>Reputation &amp; Malicious Agent Detection:</a:t>
            </a:r>
            <a:r>
              <a:rPr lang="en-IN" sz="1600" dirty="0">
                <a:latin typeface="Times New Roman" panose="02020603050405020304" pitchFamily="18" charset="0"/>
                <a:cs typeface="Times New Roman" panose="02020603050405020304" pitchFamily="18" charset="0"/>
              </a:rPr>
              <a:t> Evaluates agent reliability and identifies compromised or suspicious AI agents. </a:t>
            </a:r>
          </a:p>
          <a:p>
            <a:pPr marL="342900" lvl="0" indent="-342900" algn="just">
              <a:buFont typeface="+mj-lt"/>
              <a:buAutoNum type="arabicPeriod"/>
            </a:pPr>
            <a:r>
              <a:rPr lang="en-IN" sz="1600" b="1" dirty="0">
                <a:latin typeface="Times New Roman" panose="02020603050405020304" pitchFamily="18" charset="0"/>
                <a:cs typeface="Times New Roman" panose="02020603050405020304" pitchFamily="18" charset="0"/>
              </a:rPr>
              <a:t>Adaptive Trust-Based Collaboration:</a:t>
            </a:r>
            <a:r>
              <a:rPr lang="en-IN" sz="1600" dirty="0">
                <a:latin typeface="Times New Roman" panose="02020603050405020304" pitchFamily="18" charset="0"/>
                <a:cs typeface="Times New Roman" panose="02020603050405020304" pitchFamily="18" charset="0"/>
              </a:rPr>
              <a:t> Enables secure cross-domain collaboration through intelligent authorization and privacy-preserving credential sharing. </a:t>
            </a:r>
          </a:p>
          <a:p>
            <a:pPr marL="342900" lvl="0" indent="-342900" algn="just">
              <a:buFont typeface="+mj-lt"/>
              <a:buAutoNum type="arabicPeriod"/>
            </a:pPr>
            <a:r>
              <a:rPr lang="en-IN" sz="1600" b="1" dirty="0">
                <a:latin typeface="Times New Roman" panose="02020603050405020304" pitchFamily="18" charset="0"/>
                <a:cs typeface="Times New Roman" panose="02020603050405020304" pitchFamily="18" charset="0"/>
              </a:rPr>
              <a:t>Continuous Monitoring &amp; Audit Trail:</a:t>
            </a:r>
            <a:r>
              <a:rPr lang="en-IN" sz="1600" dirty="0">
                <a:latin typeface="Times New Roman" panose="02020603050405020304" pitchFamily="18" charset="0"/>
                <a:cs typeface="Times New Roman" panose="02020603050405020304" pitchFamily="18" charset="0"/>
              </a:rPr>
              <a:t> Tracks agent activities, trust updates, and security events to ensure transparency and accountability.</a:t>
            </a:r>
          </a:p>
        </p:txBody>
      </p:sp>
      <p:sp>
        <p:nvSpPr>
          <p:cNvPr id="5" name="TextBox 4">
            <a:extLst>
              <a:ext uri="{FF2B5EF4-FFF2-40B4-BE49-F238E27FC236}">
                <a16:creationId xmlns:a16="http://schemas.microsoft.com/office/drawing/2014/main" id="{12502CE6-9A42-6726-5227-E195AB7F06A1}"/>
              </a:ext>
            </a:extLst>
          </p:cNvPr>
          <p:cNvSpPr txBox="1"/>
          <p:nvPr/>
        </p:nvSpPr>
        <p:spPr>
          <a:xfrm>
            <a:off x="2209800" y="1295400"/>
            <a:ext cx="3844724" cy="984885"/>
          </a:xfrm>
          <a:prstGeom prst="rect">
            <a:avLst/>
          </a:prstGeom>
          <a:noFill/>
        </p:spPr>
        <p:txBody>
          <a:bodyPr wrap="square" rtlCol="0">
            <a:spAutoFit/>
          </a:bodyPr>
          <a:lstStyle/>
          <a:p>
            <a:r>
              <a:rPr lang="en-IN" sz="4000" b="1" dirty="0"/>
              <a:t>Key Features</a:t>
            </a:r>
          </a:p>
          <a:p>
            <a:endParaRPr lang="en-IN" dirty="0"/>
          </a:p>
        </p:txBody>
      </p:sp>
    </p:spTree>
    <p:extLst>
      <p:ext uri="{BB962C8B-B14F-4D97-AF65-F5344CB8AC3E}">
        <p14:creationId xmlns:p14="http://schemas.microsoft.com/office/powerpoint/2010/main" val="62971128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7F925F8-9580-393F-C994-DE1F376C8049}"/>
              </a:ext>
            </a:extLst>
          </p:cNvPr>
          <p:cNvSpPr>
            <a:spLocks noGrp="1"/>
          </p:cNvSpPr>
          <p:nvPr>
            <p:ph type="sldNum" sz="quarter" idx="12"/>
          </p:nvPr>
        </p:nvSpPr>
        <p:spPr/>
        <p:txBody>
          <a:bodyPr/>
          <a:lstStyle/>
          <a:p>
            <a:pPr algn="r">
              <a:defRPr sz="1200">
                <a:solidFill>
                  <a:srgbClr val="64748B"/>
                </a:solidFill>
                <a:latin typeface="Times New Roman"/>
              </a:defRPr>
            </a:pPr>
            <a:r>
              <a:t>25</a:t>
            </a:r>
          </a:p>
        </p:txBody>
      </p:sp>
      <p:sp>
        <p:nvSpPr>
          <p:cNvPr id="4" name="TextBox 3">
            <a:extLst>
              <a:ext uri="{FF2B5EF4-FFF2-40B4-BE49-F238E27FC236}">
                <a16:creationId xmlns:a16="http://schemas.microsoft.com/office/drawing/2014/main" id="{60EF30C3-8AAC-A26E-614A-FBAABF60836B}"/>
              </a:ext>
            </a:extLst>
          </p:cNvPr>
          <p:cNvSpPr txBox="1"/>
          <p:nvPr/>
        </p:nvSpPr>
        <p:spPr>
          <a:xfrm>
            <a:off x="805178" y="1308486"/>
            <a:ext cx="7840608" cy="646331"/>
          </a:xfrm>
          <a:prstGeom prst="rect">
            <a:avLst/>
          </a:prstGeom>
          <a:noFill/>
        </p:spPr>
        <p:txBody>
          <a:bodyPr wrap="none" rtlCol="0">
            <a:spAutoFit/>
          </a:bodyPr>
          <a:lstStyle/>
          <a:p>
            <a:pPr algn="ctr"/>
            <a:r>
              <a:rPr lang="en-IN" sz="3600" b="1" dirty="0">
                <a:latin typeface="Times New Roman" pitchFamily="18" charset="0"/>
                <a:cs typeface="Times New Roman" pitchFamily="18" charset="0"/>
              </a:rPr>
              <a:t>Software and Hardware </a:t>
            </a:r>
            <a:r>
              <a:rPr lang="en-US" sz="3600" b="1" dirty="0">
                <a:latin typeface="Times New Roman" pitchFamily="18" charset="0"/>
                <a:cs typeface="Times New Roman" pitchFamily="18" charset="0"/>
              </a:rPr>
              <a:t>Requirements</a:t>
            </a:r>
            <a:endParaRPr lang="en-IN" sz="3600" b="1" dirty="0">
              <a:latin typeface="Times New Roman" pitchFamily="18" charset="0"/>
              <a:cs typeface="Times New Roman" pitchFamily="18" charset="0"/>
            </a:endParaRPr>
          </a:p>
        </p:txBody>
      </p:sp>
      <p:sp>
        <p:nvSpPr>
          <p:cNvPr id="6" name="TextBox 5">
            <a:extLst>
              <a:ext uri="{FF2B5EF4-FFF2-40B4-BE49-F238E27FC236}">
                <a16:creationId xmlns:a16="http://schemas.microsoft.com/office/drawing/2014/main" id="{9D27A15D-70C3-5A15-1325-B9F71076D62E}"/>
              </a:ext>
            </a:extLst>
          </p:cNvPr>
          <p:cNvSpPr txBox="1"/>
          <p:nvPr/>
        </p:nvSpPr>
        <p:spPr>
          <a:xfrm>
            <a:off x="609600" y="2057400"/>
            <a:ext cx="7391400" cy="3970318"/>
          </a:xfrm>
          <a:prstGeom prst="rect">
            <a:avLst/>
          </a:prstGeom>
          <a:noFill/>
        </p:spPr>
        <p:txBody>
          <a:bodyPr wrap="square">
            <a:spAutoFit/>
          </a:bodyPr>
          <a:lstStyle/>
          <a:p>
            <a:pPr algn="just">
              <a:buNone/>
            </a:pPr>
            <a:r>
              <a:rPr lang="en-IN" b="1" dirty="0">
                <a:latin typeface="Times New Roman" panose="02020603050405020304" pitchFamily="18" charset="0"/>
                <a:cs typeface="Times New Roman" panose="02020603050405020304" pitchFamily="18" charset="0"/>
              </a:rPr>
              <a:t>Hardware Requirements</a:t>
            </a:r>
          </a:p>
          <a:p>
            <a:pPr marL="342900" lvl="0" indent="-342900" algn="just">
              <a:buFont typeface="Arial" panose="020B0604020202020204" pitchFamily="34" charset="0"/>
              <a:buChar char="•"/>
            </a:pPr>
            <a:r>
              <a:rPr lang="en-IN" b="1" dirty="0">
                <a:latin typeface="Times New Roman" panose="02020603050405020304" pitchFamily="18" charset="0"/>
                <a:cs typeface="Times New Roman" panose="02020603050405020304" pitchFamily="18" charset="0"/>
              </a:rPr>
              <a:t>Processor:</a:t>
            </a:r>
            <a:r>
              <a:rPr lang="en-IN" dirty="0">
                <a:latin typeface="Times New Roman" panose="02020603050405020304" pitchFamily="18" charset="0"/>
                <a:cs typeface="Times New Roman" panose="02020603050405020304" pitchFamily="18" charset="0"/>
              </a:rPr>
              <a:t> Intel Core i5 (10th Gen or higher) / AMD </a:t>
            </a:r>
            <a:r>
              <a:rPr lang="en-IN" dirty="0" err="1">
                <a:latin typeface="Times New Roman" panose="02020603050405020304" pitchFamily="18" charset="0"/>
                <a:cs typeface="Times New Roman" panose="02020603050405020304" pitchFamily="18" charset="0"/>
              </a:rPr>
              <a:t>Ryzen</a:t>
            </a:r>
            <a:r>
              <a:rPr lang="en-IN" dirty="0">
                <a:latin typeface="Times New Roman" panose="02020603050405020304" pitchFamily="18" charset="0"/>
                <a:cs typeface="Times New Roman" panose="02020603050405020304" pitchFamily="18" charset="0"/>
              </a:rPr>
              <a:t> 5 or higher </a:t>
            </a:r>
          </a:p>
          <a:p>
            <a:pPr marL="342900" lvl="0" indent="-342900" algn="just">
              <a:buFont typeface="Arial" panose="020B0604020202020204" pitchFamily="34" charset="0"/>
              <a:buChar char="•"/>
            </a:pPr>
            <a:r>
              <a:rPr lang="en-IN" b="1" dirty="0">
                <a:latin typeface="Times New Roman" panose="02020603050405020304" pitchFamily="18" charset="0"/>
                <a:cs typeface="Times New Roman" panose="02020603050405020304" pitchFamily="18" charset="0"/>
              </a:rPr>
              <a:t>RAM:</a:t>
            </a:r>
            <a:r>
              <a:rPr lang="en-IN" dirty="0">
                <a:latin typeface="Times New Roman" panose="02020603050405020304" pitchFamily="18" charset="0"/>
                <a:cs typeface="Times New Roman" panose="02020603050405020304" pitchFamily="18" charset="0"/>
              </a:rPr>
              <a:t> Minimum 8 GB (16 GB Recommended) </a:t>
            </a:r>
          </a:p>
          <a:p>
            <a:pPr marL="342900" lvl="0" indent="-342900" algn="just">
              <a:buFont typeface="Arial" panose="020B0604020202020204" pitchFamily="34" charset="0"/>
              <a:buChar char="•"/>
            </a:pPr>
            <a:r>
              <a:rPr lang="en-IN" b="1" dirty="0">
                <a:latin typeface="Times New Roman" panose="02020603050405020304" pitchFamily="18" charset="0"/>
                <a:cs typeface="Times New Roman" panose="02020603050405020304" pitchFamily="18" charset="0"/>
              </a:rPr>
              <a:t>Storage:</a:t>
            </a:r>
            <a:r>
              <a:rPr lang="en-IN" dirty="0">
                <a:latin typeface="Times New Roman" panose="02020603050405020304" pitchFamily="18" charset="0"/>
                <a:cs typeface="Times New Roman" panose="02020603050405020304" pitchFamily="18" charset="0"/>
              </a:rPr>
              <a:t> 256 GB SSD or higher </a:t>
            </a:r>
          </a:p>
          <a:p>
            <a:pPr marL="342900" lvl="0" indent="-342900" algn="just">
              <a:buFont typeface="Arial" panose="020B0604020202020204" pitchFamily="34" charset="0"/>
              <a:buChar char="•"/>
            </a:pPr>
            <a:r>
              <a:rPr lang="en-IN" b="1" dirty="0">
                <a:latin typeface="Times New Roman" panose="02020603050405020304" pitchFamily="18" charset="0"/>
                <a:cs typeface="Times New Roman" panose="02020603050405020304" pitchFamily="18" charset="0"/>
              </a:rPr>
              <a:t>Graphics:</a:t>
            </a:r>
            <a:r>
              <a:rPr lang="en-IN" dirty="0">
                <a:latin typeface="Times New Roman" panose="02020603050405020304" pitchFamily="18" charset="0"/>
                <a:cs typeface="Times New Roman" panose="02020603050405020304" pitchFamily="18" charset="0"/>
              </a:rPr>
              <a:t> NVIDIA GTX 1650 / RTX 2050 or equivalent</a:t>
            </a:r>
          </a:p>
          <a:p>
            <a:pPr marL="342900" lvl="0" indent="-342900" algn="just">
              <a:buFont typeface="Arial" panose="020B0604020202020204" pitchFamily="34" charset="0"/>
              <a:buChar char="•"/>
            </a:pPr>
            <a:r>
              <a:rPr lang="en-IN" b="1" dirty="0">
                <a:latin typeface="Times New Roman" panose="02020603050405020304" pitchFamily="18" charset="0"/>
                <a:cs typeface="Times New Roman" panose="02020603050405020304" pitchFamily="18" charset="0"/>
              </a:rPr>
              <a:t>Internet:</a:t>
            </a:r>
            <a:r>
              <a:rPr lang="en-IN" dirty="0">
                <a:latin typeface="Times New Roman" panose="02020603050405020304" pitchFamily="18" charset="0"/>
                <a:cs typeface="Times New Roman" panose="02020603050405020304" pitchFamily="18" charset="0"/>
              </a:rPr>
              <a:t> Stable broadband connection </a:t>
            </a:r>
          </a:p>
          <a:p>
            <a:pPr algn="just">
              <a:buNone/>
            </a:pPr>
            <a:endParaRPr lang="en-IN" dirty="0">
              <a:latin typeface="Times New Roman" panose="02020603050405020304" pitchFamily="18" charset="0"/>
              <a:cs typeface="Times New Roman" panose="02020603050405020304" pitchFamily="18" charset="0"/>
            </a:endParaRPr>
          </a:p>
          <a:p>
            <a:pPr algn="just">
              <a:buNone/>
            </a:pPr>
            <a:r>
              <a:rPr lang="en-IN" b="1" dirty="0">
                <a:latin typeface="Times New Roman" panose="02020603050405020304" pitchFamily="18" charset="0"/>
                <a:cs typeface="Times New Roman" panose="02020603050405020304" pitchFamily="18" charset="0"/>
              </a:rPr>
              <a:t>Software Requirements</a:t>
            </a:r>
          </a:p>
          <a:p>
            <a:pPr marL="342900" lvl="0" indent="-342900" algn="just">
              <a:buFont typeface="Arial" panose="020B0604020202020204" pitchFamily="34" charset="0"/>
              <a:buChar char="•"/>
            </a:pPr>
            <a:r>
              <a:rPr lang="en-IN" b="1" dirty="0">
                <a:latin typeface="Times New Roman" panose="02020603050405020304" pitchFamily="18" charset="0"/>
                <a:cs typeface="Times New Roman" panose="02020603050405020304" pitchFamily="18" charset="0"/>
              </a:rPr>
              <a:t>Operating System:</a:t>
            </a:r>
            <a:r>
              <a:rPr lang="en-IN" dirty="0">
                <a:latin typeface="Times New Roman" panose="02020603050405020304" pitchFamily="18" charset="0"/>
                <a:cs typeface="Times New Roman" panose="02020603050405020304" pitchFamily="18" charset="0"/>
              </a:rPr>
              <a:t> Windows 10/11, Ubuntu 22.04 LTS, or macOS </a:t>
            </a:r>
          </a:p>
          <a:p>
            <a:pPr marL="342900" lvl="0" indent="-342900" algn="just">
              <a:buFont typeface="Arial" panose="020B0604020202020204" pitchFamily="34" charset="0"/>
              <a:buChar char="•"/>
            </a:pPr>
            <a:r>
              <a:rPr lang="en-IN" b="1" dirty="0">
                <a:latin typeface="Times New Roman" panose="02020603050405020304" pitchFamily="18" charset="0"/>
                <a:cs typeface="Times New Roman" panose="02020603050405020304" pitchFamily="18" charset="0"/>
              </a:rPr>
              <a:t>Programming Language:</a:t>
            </a:r>
            <a:r>
              <a:rPr lang="en-IN" dirty="0">
                <a:latin typeface="Times New Roman" panose="02020603050405020304" pitchFamily="18" charset="0"/>
                <a:cs typeface="Times New Roman" panose="02020603050405020304" pitchFamily="18" charset="0"/>
              </a:rPr>
              <a:t> Python 3.12+ </a:t>
            </a:r>
          </a:p>
          <a:p>
            <a:pPr marL="342900" lvl="0" indent="-342900" algn="just">
              <a:buFont typeface="Arial" panose="020B0604020202020204" pitchFamily="34" charset="0"/>
              <a:buChar char="•"/>
            </a:pPr>
            <a:r>
              <a:rPr lang="en-IN" b="1" dirty="0">
                <a:latin typeface="Times New Roman" panose="02020603050405020304" pitchFamily="18" charset="0"/>
                <a:cs typeface="Times New Roman" panose="02020603050405020304" pitchFamily="18" charset="0"/>
              </a:rPr>
              <a:t>Development Environment:</a:t>
            </a:r>
            <a:r>
              <a:rPr lang="en-IN" dirty="0">
                <a:latin typeface="Times New Roman" panose="02020603050405020304" pitchFamily="18" charset="0"/>
                <a:cs typeface="Times New Roman" panose="02020603050405020304" pitchFamily="18" charset="0"/>
              </a:rPr>
              <a:t> </a:t>
            </a:r>
            <a:r>
              <a:rPr lang="en-IN" dirty="0"/>
              <a:t>Visual Studio Code / PyCharm</a:t>
            </a:r>
          </a:p>
          <a:p>
            <a:pPr marL="342900" indent="-342900" algn="just">
              <a:buFont typeface="Arial" panose="020B0604020202020204" pitchFamily="34" charset="0"/>
              <a:buChar char="•"/>
            </a:pPr>
            <a:r>
              <a:rPr lang="en-IN" b="1" dirty="0"/>
              <a:t>Frontend Framework:</a:t>
            </a:r>
            <a:r>
              <a:rPr lang="en-IN" dirty="0"/>
              <a:t> React.js, Tailwind CSS </a:t>
            </a:r>
          </a:p>
          <a:p>
            <a:pPr marL="342900" indent="-342900" algn="just">
              <a:buFont typeface="Arial" panose="020B0604020202020204" pitchFamily="34" charset="0"/>
              <a:buChar char="•"/>
            </a:pPr>
            <a:r>
              <a:rPr lang="en-IN" b="1" dirty="0"/>
              <a:t>Backend Framework:</a:t>
            </a:r>
            <a:r>
              <a:rPr lang="en-IN" dirty="0"/>
              <a:t> </a:t>
            </a:r>
            <a:r>
              <a:rPr lang="en-IN" dirty="0" err="1"/>
              <a:t>FastAPI</a:t>
            </a:r>
            <a:r>
              <a:rPr lang="en-IN" dirty="0"/>
              <a:t> / Flask </a:t>
            </a:r>
          </a:p>
          <a:p>
            <a:pPr marL="342900" indent="-342900" algn="just">
              <a:buFont typeface="Arial" panose="020B0604020202020204" pitchFamily="34" charset="0"/>
              <a:buChar char="•"/>
            </a:pPr>
            <a:r>
              <a:rPr lang="en-IN" b="1" dirty="0"/>
              <a:t>Database:</a:t>
            </a:r>
            <a:r>
              <a:rPr lang="en-IN" dirty="0"/>
              <a:t> MongoDB / SQLite</a:t>
            </a:r>
            <a:endParaRPr lang="en-IN" dirty="0">
              <a:latin typeface="Times New Roman" panose="02020603050405020304" pitchFamily="18" charset="0"/>
              <a:cs typeface="Times New Roman" panose="02020603050405020304" pitchFamily="18" charset="0"/>
            </a:endParaRPr>
          </a:p>
          <a:p>
            <a:pPr marL="342900" lvl="0" indent="-342900" algn="just">
              <a:buFont typeface="Arial" panose="020B0604020202020204" pitchFamily="34" charset="0"/>
              <a:buChar char="•"/>
            </a:pPr>
            <a:r>
              <a:rPr lang="en-IN" b="1" dirty="0">
                <a:latin typeface="Times New Roman" panose="02020603050405020304" pitchFamily="18" charset="0"/>
                <a:cs typeface="Times New Roman" panose="02020603050405020304" pitchFamily="18" charset="0"/>
              </a:rPr>
              <a:t>Blockchain Framework:</a:t>
            </a:r>
            <a:r>
              <a:rPr lang="en-IN" dirty="0">
                <a:latin typeface="Times New Roman" panose="02020603050405020304" pitchFamily="18" charset="0"/>
                <a:cs typeface="Times New Roman" panose="02020603050405020304" pitchFamily="18" charset="0"/>
              </a:rPr>
              <a:t> Hyperledger Fabric or Ethereum (Ganache for testing) </a:t>
            </a:r>
          </a:p>
          <a:p>
            <a:pPr marL="342900" lvl="0" indent="-342900" algn="just">
              <a:buFont typeface="Arial" panose="020B0604020202020204" pitchFamily="34" charset="0"/>
              <a:buChar char="•"/>
            </a:pPr>
            <a:r>
              <a:rPr lang="en-IN" b="1" dirty="0">
                <a:latin typeface="Times New Roman" panose="02020603050405020304" pitchFamily="18" charset="0"/>
                <a:cs typeface="Times New Roman" panose="02020603050405020304" pitchFamily="18" charset="0"/>
              </a:rPr>
              <a:t>Libraries &amp; Frameworks:</a:t>
            </a:r>
            <a:r>
              <a:rPr lang="en-IN" dirty="0">
                <a:latin typeface="Times New Roman" panose="02020603050405020304" pitchFamily="18" charset="0"/>
                <a:cs typeface="Times New Roman" panose="02020603050405020304" pitchFamily="18" charset="0"/>
              </a:rPr>
              <a:t> </a:t>
            </a:r>
            <a:r>
              <a:rPr lang="en-IN" dirty="0" err="1">
                <a:latin typeface="Times New Roman" panose="02020603050405020304" pitchFamily="18" charset="0"/>
                <a:cs typeface="Times New Roman" panose="02020603050405020304" pitchFamily="18" charset="0"/>
              </a:rPr>
              <a:t>FastAPI</a:t>
            </a:r>
            <a:r>
              <a:rPr lang="en-IN" dirty="0">
                <a:latin typeface="Times New Roman" panose="02020603050405020304" pitchFamily="18" charset="0"/>
                <a:cs typeface="Times New Roman" panose="02020603050405020304" pitchFamily="18" charset="0"/>
              </a:rPr>
              <a:t>/Flask, Web3.py, NumPy, Pandas, Scikit-learn </a:t>
            </a:r>
          </a:p>
          <a:p>
            <a:pPr marL="342900" lvl="0" indent="-342900" algn="just">
              <a:buFont typeface="Arial" panose="020B0604020202020204" pitchFamily="34" charset="0"/>
              <a:buChar char="•"/>
            </a:pPr>
            <a:r>
              <a:rPr lang="en-IN" b="1" dirty="0">
                <a:latin typeface="Times New Roman" panose="02020603050405020304" pitchFamily="18" charset="0"/>
                <a:cs typeface="Times New Roman" panose="02020603050405020304" pitchFamily="18" charset="0"/>
              </a:rPr>
              <a:t>Version Control:</a:t>
            </a:r>
            <a:r>
              <a:rPr lang="en-IN" dirty="0">
                <a:latin typeface="Times New Roman" panose="02020603050405020304" pitchFamily="18" charset="0"/>
                <a:cs typeface="Times New Roman" panose="02020603050405020304" pitchFamily="18" charset="0"/>
              </a:rPr>
              <a:t> Git &amp; GitHub </a:t>
            </a:r>
          </a:p>
          <a:p>
            <a:pPr marL="342900" lvl="0" indent="-342900" algn="just">
              <a:buFont typeface="Arial" panose="020B0604020202020204" pitchFamily="34" charset="0"/>
              <a:buChar char="•"/>
            </a:pPr>
            <a:r>
              <a:rPr lang="en-IN" b="1" dirty="0">
                <a:latin typeface="Times New Roman" panose="02020603050405020304" pitchFamily="18" charset="0"/>
                <a:cs typeface="Times New Roman" panose="02020603050405020304" pitchFamily="18" charset="0"/>
              </a:rPr>
              <a:t>API Testing:</a:t>
            </a:r>
            <a:r>
              <a:rPr lang="en-IN" dirty="0">
                <a:latin typeface="Times New Roman" panose="02020603050405020304" pitchFamily="18" charset="0"/>
                <a:cs typeface="Times New Roman" panose="02020603050405020304" pitchFamily="18" charset="0"/>
              </a:rPr>
              <a:t> Postman </a:t>
            </a:r>
          </a:p>
        </p:txBody>
      </p:sp>
    </p:spTree>
    <p:extLst>
      <p:ext uri="{BB962C8B-B14F-4D97-AF65-F5344CB8AC3E}">
        <p14:creationId xmlns:p14="http://schemas.microsoft.com/office/powerpoint/2010/main" val="354023256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BF753BA-DD16-4FD9-9F93-ADF283A8631D}"/>
              </a:ext>
            </a:extLst>
          </p:cNvPr>
          <p:cNvSpPr>
            <a:spLocks noGrp="1"/>
          </p:cNvSpPr>
          <p:nvPr>
            <p:ph type="sldNum" sz="quarter" idx="12"/>
          </p:nvPr>
        </p:nvSpPr>
        <p:spPr/>
        <p:txBody>
          <a:bodyPr/>
          <a:lstStyle/>
          <a:p>
            <a:pPr algn="r">
              <a:defRPr sz="1200">
                <a:solidFill>
                  <a:srgbClr val="64748B"/>
                </a:solidFill>
                <a:latin typeface="Times New Roman"/>
              </a:defRPr>
            </a:pPr>
            <a:r>
              <a:t>26</a:t>
            </a:r>
          </a:p>
        </p:txBody>
      </p:sp>
      <p:sp>
        <p:nvSpPr>
          <p:cNvPr id="3" name="TextBox 2">
            <a:extLst>
              <a:ext uri="{FF2B5EF4-FFF2-40B4-BE49-F238E27FC236}">
                <a16:creationId xmlns:a16="http://schemas.microsoft.com/office/drawing/2014/main" id="{F5410EFC-64B3-FBB8-BE89-3F2B44115311}"/>
              </a:ext>
            </a:extLst>
          </p:cNvPr>
          <p:cNvSpPr txBox="1"/>
          <p:nvPr/>
        </p:nvSpPr>
        <p:spPr>
          <a:xfrm>
            <a:off x="381000" y="739914"/>
            <a:ext cx="9144000" cy="707886"/>
          </a:xfrm>
          <a:prstGeom prst="rect">
            <a:avLst/>
          </a:prstGeom>
          <a:noFill/>
        </p:spPr>
        <p:txBody>
          <a:bodyPr wrap="square" rtlCol="0">
            <a:spAutoFit/>
          </a:bodyPr>
          <a:lstStyle/>
          <a:p>
            <a:pPr algn="ctr"/>
            <a:r>
              <a:rPr lang="en-IN" sz="4000" b="1" dirty="0">
                <a:latin typeface="Times New Roman" pitchFamily="18" charset="0"/>
                <a:cs typeface="Times New Roman" pitchFamily="18" charset="0"/>
              </a:rPr>
              <a:t>Gantt Chart</a:t>
            </a:r>
          </a:p>
        </p:txBody>
      </p:sp>
      <p:pic>
        <p:nvPicPr>
          <p:cNvPr id="6" name="Picture 5">
            <a:extLst>
              <a:ext uri="{FF2B5EF4-FFF2-40B4-BE49-F238E27FC236}">
                <a16:creationId xmlns:a16="http://schemas.microsoft.com/office/drawing/2014/main" id="{84A9032A-5F12-6A32-62E2-4B87BCB79201}"/>
              </a:ext>
            </a:extLst>
          </p:cNvPr>
          <p:cNvPicPr>
            <a:picLocks noChangeAspect="1"/>
          </p:cNvPicPr>
          <p:nvPr/>
        </p:nvPicPr>
        <p:blipFill>
          <a:blip r:embed="rId3"/>
          <a:stretch>
            <a:fillRect/>
          </a:stretch>
        </p:blipFill>
        <p:spPr>
          <a:xfrm>
            <a:off x="114300" y="1447800"/>
            <a:ext cx="8915400" cy="5105400"/>
          </a:xfrm>
          <a:prstGeom prst="rect">
            <a:avLst/>
          </a:prstGeom>
        </p:spPr>
      </p:pic>
    </p:spTree>
    <p:extLst>
      <p:ext uri="{BB962C8B-B14F-4D97-AF65-F5344CB8AC3E}">
        <p14:creationId xmlns:p14="http://schemas.microsoft.com/office/powerpoint/2010/main" val="3974793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6573F37-0C5B-9177-8935-CF5CD82924DA}"/>
              </a:ext>
            </a:extLst>
          </p:cNvPr>
          <p:cNvSpPr>
            <a:spLocks noGrp="1"/>
          </p:cNvSpPr>
          <p:nvPr>
            <p:ph type="sldNum" sz="quarter" idx="12"/>
          </p:nvPr>
        </p:nvSpPr>
        <p:spPr/>
        <p:txBody>
          <a:bodyPr/>
          <a:lstStyle/>
          <a:p>
            <a:fld id="{B6F15528-21DE-4FAA-801E-634DDDAF4B2B}" type="slidenum">
              <a:rPr lang="en-US" smtClean="0"/>
              <a:pPr/>
              <a:t>25</a:t>
            </a:fld>
            <a:endParaRPr lang="en-US"/>
          </a:p>
        </p:txBody>
      </p:sp>
    </p:spTree>
    <p:extLst>
      <p:ext uri="{BB962C8B-B14F-4D97-AF65-F5344CB8AC3E}">
        <p14:creationId xmlns:p14="http://schemas.microsoft.com/office/powerpoint/2010/main" val="413505495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AA0FF13-D040-D2A3-3A43-4DC3A64F90BC}"/>
              </a:ext>
            </a:extLst>
          </p:cNvPr>
          <p:cNvSpPr>
            <a:spLocks noGrp="1"/>
          </p:cNvSpPr>
          <p:nvPr>
            <p:ph type="sldNum" sz="quarter" idx="12"/>
          </p:nvPr>
        </p:nvSpPr>
        <p:spPr/>
        <p:txBody>
          <a:bodyPr/>
          <a:lstStyle/>
          <a:p>
            <a:pPr algn="r">
              <a:defRPr sz="1200">
                <a:solidFill>
                  <a:srgbClr val="64748B"/>
                </a:solidFill>
                <a:latin typeface="Times New Roman"/>
              </a:defRPr>
            </a:pPr>
            <a:r>
              <a:t>30</a:t>
            </a:r>
          </a:p>
        </p:txBody>
      </p:sp>
      <p:sp>
        <p:nvSpPr>
          <p:cNvPr id="4" name="TextBox 3">
            <a:extLst>
              <a:ext uri="{FF2B5EF4-FFF2-40B4-BE49-F238E27FC236}">
                <a16:creationId xmlns:a16="http://schemas.microsoft.com/office/drawing/2014/main" id="{020B35A6-6951-E700-7148-AD2F5D4E893B}"/>
              </a:ext>
            </a:extLst>
          </p:cNvPr>
          <p:cNvSpPr txBox="1"/>
          <p:nvPr/>
        </p:nvSpPr>
        <p:spPr>
          <a:xfrm>
            <a:off x="2667000" y="1219200"/>
            <a:ext cx="2568652" cy="707886"/>
          </a:xfrm>
          <a:prstGeom prst="rect">
            <a:avLst/>
          </a:prstGeom>
          <a:noFill/>
        </p:spPr>
        <p:txBody>
          <a:bodyPr wrap="none" rtlCol="0">
            <a:spAutoFit/>
          </a:bodyPr>
          <a:lstStyle/>
          <a:p>
            <a:pPr algn="ctr"/>
            <a:r>
              <a:rPr lang="en-US" sz="4000" b="1" dirty="0">
                <a:latin typeface="Times New Roman" pitchFamily="18" charset="0"/>
                <a:cs typeface="Times New Roman" pitchFamily="18" charset="0"/>
              </a:rPr>
              <a:t>References</a:t>
            </a:r>
            <a:endParaRPr lang="en-IN" sz="4000" b="1" dirty="0">
              <a:latin typeface="Times New Roman" pitchFamily="18" charset="0"/>
              <a:cs typeface="Times New Roman" pitchFamily="18" charset="0"/>
            </a:endParaRPr>
          </a:p>
        </p:txBody>
      </p:sp>
      <p:sp>
        <p:nvSpPr>
          <p:cNvPr id="6" name="TextBox 5">
            <a:extLst>
              <a:ext uri="{FF2B5EF4-FFF2-40B4-BE49-F238E27FC236}">
                <a16:creationId xmlns:a16="http://schemas.microsoft.com/office/drawing/2014/main" id="{168FBB36-5DDA-7520-4867-1B2A3432764E}"/>
              </a:ext>
            </a:extLst>
          </p:cNvPr>
          <p:cNvSpPr txBox="1"/>
          <p:nvPr/>
        </p:nvSpPr>
        <p:spPr>
          <a:xfrm>
            <a:off x="533400" y="1956583"/>
            <a:ext cx="8077200" cy="3977997"/>
          </a:xfrm>
          <a:prstGeom prst="rect">
            <a:avLst/>
          </a:prstGeom>
          <a:noFill/>
        </p:spPr>
        <p:txBody>
          <a:bodyPr wrap="square">
            <a:spAutoFit/>
          </a:bodyPr>
          <a:lstStyle/>
          <a:p>
            <a:pPr algn="just"/>
            <a:r>
              <a:rPr lang="en-IN" dirty="0">
                <a:latin typeface="Times New Roman" panose="02020603050405020304" pitchFamily="18" charset="0"/>
                <a:cs typeface="Times New Roman" panose="02020603050405020304" pitchFamily="18" charset="0"/>
              </a:rPr>
              <a:t>[1] S. Rodriguez Garzon, A. </a:t>
            </a:r>
            <a:r>
              <a:rPr lang="en-IN" dirty="0" err="1">
                <a:latin typeface="Times New Roman" panose="02020603050405020304" pitchFamily="18" charset="0"/>
                <a:cs typeface="Times New Roman" panose="02020603050405020304" pitchFamily="18" charset="0"/>
              </a:rPr>
              <a:t>Vaziry</a:t>
            </a:r>
            <a:r>
              <a:rPr lang="en-IN" dirty="0">
                <a:latin typeface="Times New Roman" panose="02020603050405020304" pitchFamily="18" charset="0"/>
                <a:cs typeface="Times New Roman" panose="02020603050405020304" pitchFamily="18" charset="0"/>
              </a:rPr>
              <a:t>, E. M. Kuzu, D. E. Gehrmann, B. </a:t>
            </a:r>
            <a:r>
              <a:rPr lang="en-IN" dirty="0" err="1">
                <a:latin typeface="Times New Roman" panose="02020603050405020304" pitchFamily="18" charset="0"/>
                <a:cs typeface="Times New Roman" panose="02020603050405020304" pitchFamily="18" charset="0"/>
              </a:rPr>
              <a:t>Varkan</a:t>
            </a:r>
            <a:r>
              <a:rPr lang="en-IN" dirty="0">
                <a:latin typeface="Times New Roman" panose="02020603050405020304" pitchFamily="18" charset="0"/>
                <a:cs typeface="Times New Roman" panose="02020603050405020304" pitchFamily="18" charset="0"/>
              </a:rPr>
              <a:t>, A. Gaballa, and A. Küpper, "AI Agents with Decentralized Identifiers and Verifiable Credentials," </a:t>
            </a:r>
            <a:r>
              <a:rPr lang="en-IN" i="1" dirty="0" err="1">
                <a:latin typeface="Times New Roman" panose="02020603050405020304" pitchFamily="18" charset="0"/>
                <a:cs typeface="Times New Roman" panose="02020603050405020304" pitchFamily="18" charset="0"/>
              </a:rPr>
              <a:t>arXiv</a:t>
            </a:r>
            <a:r>
              <a:rPr lang="en-IN" i="1" dirty="0">
                <a:latin typeface="Times New Roman" panose="02020603050405020304" pitchFamily="18" charset="0"/>
                <a:cs typeface="Times New Roman" panose="02020603050405020304" pitchFamily="18" charset="0"/>
              </a:rPr>
              <a:t> preprint</a:t>
            </a:r>
            <a:r>
              <a:rPr lang="en-IN" dirty="0">
                <a:latin typeface="Times New Roman" panose="02020603050405020304" pitchFamily="18" charset="0"/>
                <a:cs typeface="Times New Roman" panose="02020603050405020304" pitchFamily="18" charset="0"/>
              </a:rPr>
              <a:t>, 2025.</a:t>
            </a:r>
          </a:p>
          <a:p>
            <a:pPr algn="just"/>
            <a:r>
              <a:rPr lang="en-IN" dirty="0">
                <a:latin typeface="Times New Roman" panose="02020603050405020304" pitchFamily="18" charset="0"/>
                <a:cs typeface="Times New Roman" panose="02020603050405020304" pitchFamily="18" charset="0"/>
              </a:rPr>
              <a:t>[2] R. Ranjan, S. Gupta, and S. N. Singh, "LOKA Protocol: A Decentralized Framework for Trustworthy and Ethical AI Agent Ecosystems," </a:t>
            </a:r>
            <a:r>
              <a:rPr lang="en-IN" i="1" dirty="0" err="1">
                <a:latin typeface="Times New Roman" panose="02020603050405020304" pitchFamily="18" charset="0"/>
                <a:cs typeface="Times New Roman" panose="02020603050405020304" pitchFamily="18" charset="0"/>
              </a:rPr>
              <a:t>arXiv</a:t>
            </a:r>
            <a:r>
              <a:rPr lang="en-IN" i="1" dirty="0">
                <a:latin typeface="Times New Roman" panose="02020603050405020304" pitchFamily="18" charset="0"/>
                <a:cs typeface="Times New Roman" panose="02020603050405020304" pitchFamily="18" charset="0"/>
              </a:rPr>
              <a:t> preprint</a:t>
            </a:r>
            <a:r>
              <a:rPr lang="en-IN" dirty="0">
                <a:latin typeface="Times New Roman" panose="02020603050405020304" pitchFamily="18" charset="0"/>
                <a:cs typeface="Times New Roman" panose="02020603050405020304" pitchFamily="18" charset="0"/>
              </a:rPr>
              <a:t>, 2025.</a:t>
            </a:r>
          </a:p>
          <a:p>
            <a:pPr algn="just"/>
            <a:r>
              <a:rPr lang="en-IN" dirty="0">
                <a:latin typeface="Times New Roman" panose="02020603050405020304" pitchFamily="18" charset="0"/>
                <a:cs typeface="Times New Roman" panose="02020603050405020304" pitchFamily="18" charset="0"/>
              </a:rPr>
              <a:t>[3] World Wide Web Consortium (W3C), "Verifiable Credentials Data Model Version 2.0," Recommendation, 2024.</a:t>
            </a:r>
          </a:p>
          <a:p>
            <a:pPr algn="just"/>
            <a:r>
              <a:rPr lang="en-IN" dirty="0">
                <a:latin typeface="Times New Roman" panose="02020603050405020304" pitchFamily="18" charset="0"/>
                <a:cs typeface="Times New Roman" panose="02020603050405020304" pitchFamily="18" charset="0"/>
              </a:rPr>
              <a:t>[4] K. J. </a:t>
            </a:r>
            <a:r>
              <a:rPr lang="en-IN" dirty="0" err="1">
                <a:latin typeface="Times New Roman" panose="02020603050405020304" pitchFamily="18" charset="0"/>
                <a:cs typeface="Times New Roman" panose="02020603050405020304" pitchFamily="18" charset="0"/>
              </a:rPr>
              <a:t>Eer</a:t>
            </a:r>
            <a:r>
              <a:rPr lang="en-IN" dirty="0">
                <a:latin typeface="Times New Roman" panose="02020603050405020304" pitchFamily="18" charset="0"/>
                <a:cs typeface="Times New Roman" panose="02020603050405020304" pitchFamily="18" charset="0"/>
              </a:rPr>
              <a:t>, J. Diaz, and M. </a:t>
            </a:r>
            <a:r>
              <a:rPr lang="en-IN" dirty="0" err="1">
                <a:latin typeface="Times New Roman" panose="02020603050405020304" pitchFamily="18" charset="0"/>
                <a:cs typeface="Times New Roman" panose="02020603050405020304" pitchFamily="18" charset="0"/>
              </a:rPr>
              <a:t>Kohlweiss</a:t>
            </a:r>
            <a:r>
              <a:rPr lang="en-IN" dirty="0">
                <a:latin typeface="Times New Roman" panose="02020603050405020304" pitchFamily="18" charset="0"/>
                <a:cs typeface="Times New Roman" panose="02020603050405020304" pitchFamily="18" charset="0"/>
              </a:rPr>
              <a:t>, "Bottom-up Trust Registry in Self-Sovereign Identity," </a:t>
            </a:r>
            <a:r>
              <a:rPr lang="en-IN" i="1" dirty="0" err="1">
                <a:latin typeface="Times New Roman" panose="02020603050405020304" pitchFamily="18" charset="0"/>
                <a:cs typeface="Times New Roman" panose="02020603050405020304" pitchFamily="18" charset="0"/>
              </a:rPr>
              <a:t>arXiv</a:t>
            </a:r>
            <a:r>
              <a:rPr lang="en-IN" i="1" dirty="0">
                <a:latin typeface="Times New Roman" panose="02020603050405020304" pitchFamily="18" charset="0"/>
                <a:cs typeface="Times New Roman" panose="02020603050405020304" pitchFamily="18" charset="0"/>
              </a:rPr>
              <a:t> preprint</a:t>
            </a:r>
            <a:r>
              <a:rPr lang="en-IN" dirty="0">
                <a:latin typeface="Times New Roman" panose="02020603050405020304" pitchFamily="18" charset="0"/>
                <a:cs typeface="Times New Roman" panose="02020603050405020304" pitchFamily="18" charset="0"/>
              </a:rPr>
              <a:t>, 2022.</a:t>
            </a:r>
          </a:p>
          <a:p>
            <a:pPr algn="just"/>
            <a:r>
              <a:rPr lang="en-IN" dirty="0">
                <a:latin typeface="Times New Roman" panose="02020603050405020304" pitchFamily="18" charset="0"/>
                <a:cs typeface="Times New Roman" panose="02020603050405020304" pitchFamily="18" charset="0"/>
              </a:rPr>
              <a:t>[5] C. Allen, "The Path to Self-Sovereign Identity," 2016.</a:t>
            </a:r>
          </a:p>
          <a:p>
            <a:pPr algn="just"/>
            <a:r>
              <a:rPr lang="en-IN" dirty="0">
                <a:latin typeface="Times New Roman" panose="02020603050405020304" pitchFamily="18" charset="0"/>
                <a:cs typeface="Times New Roman" panose="02020603050405020304" pitchFamily="18" charset="0"/>
              </a:rPr>
              <a:t>[6] World Wide Web Consortium (W3C), "Decentralized Identifiers (DID) Version 1.0," Recommendation, 2022.</a:t>
            </a:r>
          </a:p>
          <a:p>
            <a:pPr algn="just"/>
            <a:r>
              <a:rPr lang="en-IN" dirty="0">
                <a:latin typeface="Times New Roman" panose="02020603050405020304" pitchFamily="18" charset="0"/>
                <a:cs typeface="Times New Roman" panose="02020603050405020304" pitchFamily="18" charset="0"/>
              </a:rPr>
              <a:t>[7] J. Kim, Y. Lee, and D. Choi, "Key-Audit Chain (KAC): A Resilient and Reliable Key Management Framework for DID-Based Decentralized Environments," </a:t>
            </a:r>
            <a:r>
              <a:rPr lang="en-IN" i="1" dirty="0">
                <a:latin typeface="Times New Roman" panose="02020603050405020304" pitchFamily="18" charset="0"/>
                <a:cs typeface="Times New Roman" panose="02020603050405020304" pitchFamily="18" charset="0"/>
              </a:rPr>
              <a:t>IEEE Access</a:t>
            </a:r>
            <a:r>
              <a:rPr lang="en-IN" dirty="0">
                <a:latin typeface="Times New Roman" panose="02020603050405020304" pitchFamily="18" charset="0"/>
                <a:cs typeface="Times New Roman" panose="02020603050405020304" pitchFamily="18" charset="0"/>
              </a:rPr>
              <a:t>, 2025.</a:t>
            </a:r>
          </a:p>
          <a:p>
            <a:pPr algn="just"/>
            <a:r>
              <a:rPr lang="en-IN" dirty="0">
                <a:latin typeface="Times New Roman" panose="02020603050405020304" pitchFamily="18" charset="0"/>
                <a:cs typeface="Times New Roman" panose="02020603050405020304" pitchFamily="18" charset="0"/>
              </a:rPr>
              <a:t>[8] R. Mukta </a:t>
            </a:r>
            <a:r>
              <a:rPr lang="en-IN" i="1" dirty="0">
                <a:latin typeface="Times New Roman" panose="02020603050405020304" pitchFamily="18" charset="0"/>
                <a:cs typeface="Times New Roman" panose="02020603050405020304" pitchFamily="18" charset="0"/>
              </a:rPr>
              <a:t>et al.</a:t>
            </a:r>
            <a:r>
              <a:rPr lang="en-IN" dirty="0">
                <a:latin typeface="Times New Roman" panose="02020603050405020304" pitchFamily="18" charset="0"/>
                <a:cs typeface="Times New Roman" panose="02020603050405020304" pitchFamily="18" charset="0"/>
              </a:rPr>
              <a:t>, "VCTP: A Verifiable Credential-based Trust Propagation Protocol for Personal Issuers in Self-Sovereign Identity Platforms," </a:t>
            </a:r>
            <a:r>
              <a:rPr lang="en-IN" i="1" dirty="0" err="1">
                <a:latin typeface="Times New Roman" panose="02020603050405020304" pitchFamily="18" charset="0"/>
                <a:cs typeface="Times New Roman" panose="02020603050405020304" pitchFamily="18" charset="0"/>
              </a:rPr>
              <a:t>arXiv</a:t>
            </a:r>
            <a:r>
              <a:rPr lang="en-IN" i="1" dirty="0">
                <a:latin typeface="Times New Roman" panose="02020603050405020304" pitchFamily="18" charset="0"/>
                <a:cs typeface="Times New Roman" panose="02020603050405020304" pitchFamily="18" charset="0"/>
              </a:rPr>
              <a:t> preprint</a:t>
            </a:r>
            <a:r>
              <a:rPr lang="en-IN" dirty="0">
                <a:latin typeface="Times New Roman" panose="02020603050405020304" pitchFamily="18" charset="0"/>
                <a:cs typeface="Times New Roman" panose="02020603050405020304" pitchFamily="18" charset="0"/>
              </a:rPr>
              <a:t>, 2023.</a:t>
            </a:r>
          </a:p>
          <a:p>
            <a:pPr algn="just"/>
            <a:r>
              <a:rPr lang="en-IN" dirty="0">
                <a:latin typeface="Times New Roman" panose="02020603050405020304" pitchFamily="18" charset="0"/>
                <a:cs typeface="Times New Roman" panose="02020603050405020304" pitchFamily="18" charset="0"/>
              </a:rPr>
              <a:t>[9] Y. Lee </a:t>
            </a:r>
            <a:r>
              <a:rPr lang="en-IN" i="1" dirty="0">
                <a:latin typeface="Times New Roman" panose="02020603050405020304" pitchFamily="18" charset="0"/>
                <a:cs typeface="Times New Roman" panose="02020603050405020304" pitchFamily="18" charset="0"/>
              </a:rPr>
              <a:t>et al.</a:t>
            </a:r>
            <a:r>
              <a:rPr lang="en-IN" dirty="0">
                <a:latin typeface="Times New Roman" panose="02020603050405020304" pitchFamily="18" charset="0"/>
                <a:cs typeface="Times New Roman" panose="02020603050405020304" pitchFamily="18" charset="0"/>
              </a:rPr>
              <a:t>, "Transition of Self-Sovereign Identity to Post-Quantum Cryptography," </a:t>
            </a:r>
            <a:r>
              <a:rPr lang="en-IN" i="1" dirty="0">
                <a:latin typeface="Times New Roman" panose="02020603050405020304" pitchFamily="18" charset="0"/>
                <a:cs typeface="Times New Roman" panose="02020603050405020304" pitchFamily="18" charset="0"/>
              </a:rPr>
              <a:t>IEEE Quantum Week</a:t>
            </a:r>
            <a:r>
              <a:rPr lang="en-IN" dirty="0">
                <a:latin typeface="Times New Roman" panose="02020603050405020304" pitchFamily="18" charset="0"/>
                <a:cs typeface="Times New Roman" panose="02020603050405020304" pitchFamily="18" charset="0"/>
              </a:rPr>
              <a:t>, 2025.</a:t>
            </a:r>
          </a:p>
          <a:p>
            <a:pPr algn="just"/>
            <a:r>
              <a:rPr lang="en-IN" dirty="0">
                <a:latin typeface="Times New Roman" panose="02020603050405020304" pitchFamily="18" charset="0"/>
                <a:cs typeface="Times New Roman" panose="02020603050405020304" pitchFamily="18" charset="0"/>
              </a:rPr>
              <a:t>[10] W. Kim </a:t>
            </a:r>
            <a:r>
              <a:rPr lang="en-IN" i="1" dirty="0">
                <a:latin typeface="Times New Roman" panose="02020603050405020304" pitchFamily="18" charset="0"/>
                <a:cs typeface="Times New Roman" panose="02020603050405020304" pitchFamily="18" charset="0"/>
              </a:rPr>
              <a:t>et al.</a:t>
            </a:r>
            <a:r>
              <a:rPr lang="en-IN" dirty="0">
                <a:latin typeface="Times New Roman" panose="02020603050405020304" pitchFamily="18" charset="0"/>
                <a:cs typeface="Times New Roman" panose="02020603050405020304" pitchFamily="18" charset="0"/>
              </a:rPr>
              <a:t>, "Threat Analysis for Self-Sovereign Identity Systems," 2024.</a:t>
            </a:r>
          </a:p>
        </p:txBody>
      </p:sp>
    </p:spTree>
    <p:extLst>
      <p:ext uri="{BB962C8B-B14F-4D97-AF65-F5344CB8AC3E}">
        <p14:creationId xmlns:p14="http://schemas.microsoft.com/office/powerpoint/2010/main" val="74339634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A2D9B8-B8CF-7C17-0D88-051E2D9802D6}"/>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77C7AC5-03C5-474B-4037-E32F5C000C50}"/>
              </a:ext>
            </a:extLst>
          </p:cNvPr>
          <p:cNvSpPr>
            <a:spLocks noGrp="1"/>
          </p:cNvSpPr>
          <p:nvPr>
            <p:ph type="sldNum" sz="quarter" idx="12"/>
          </p:nvPr>
        </p:nvSpPr>
        <p:spPr/>
        <p:txBody>
          <a:bodyPr/>
          <a:lstStyle/>
          <a:p>
            <a:pPr algn="r">
              <a:defRPr sz="1200">
                <a:solidFill>
                  <a:srgbClr val="64748B"/>
                </a:solidFill>
                <a:latin typeface="Times New Roman"/>
              </a:defRPr>
            </a:pPr>
            <a:r>
              <a:t>31</a:t>
            </a:r>
          </a:p>
        </p:txBody>
      </p:sp>
      <p:sp>
        <p:nvSpPr>
          <p:cNvPr id="4" name="TextBox 3">
            <a:extLst>
              <a:ext uri="{FF2B5EF4-FFF2-40B4-BE49-F238E27FC236}">
                <a16:creationId xmlns:a16="http://schemas.microsoft.com/office/drawing/2014/main" id="{9DFBB310-73FD-9224-2240-EA4B4A1E1AC3}"/>
              </a:ext>
            </a:extLst>
          </p:cNvPr>
          <p:cNvSpPr txBox="1"/>
          <p:nvPr/>
        </p:nvSpPr>
        <p:spPr>
          <a:xfrm>
            <a:off x="2667000" y="1219200"/>
            <a:ext cx="2568652" cy="707886"/>
          </a:xfrm>
          <a:prstGeom prst="rect">
            <a:avLst/>
          </a:prstGeom>
          <a:noFill/>
        </p:spPr>
        <p:txBody>
          <a:bodyPr wrap="none" rtlCol="0">
            <a:spAutoFit/>
          </a:bodyPr>
          <a:lstStyle/>
          <a:p>
            <a:pPr algn="ctr"/>
            <a:r>
              <a:rPr lang="en-US" sz="4000" b="1" dirty="0">
                <a:latin typeface="Times New Roman" pitchFamily="18" charset="0"/>
                <a:cs typeface="Times New Roman" pitchFamily="18" charset="0"/>
              </a:rPr>
              <a:t>References</a:t>
            </a:r>
            <a:endParaRPr lang="en-IN" sz="4000" b="1" dirty="0">
              <a:latin typeface="Times New Roman" pitchFamily="18" charset="0"/>
              <a:cs typeface="Times New Roman" pitchFamily="18" charset="0"/>
            </a:endParaRPr>
          </a:p>
        </p:txBody>
      </p:sp>
      <p:sp>
        <p:nvSpPr>
          <p:cNvPr id="6" name="TextBox 5">
            <a:extLst>
              <a:ext uri="{FF2B5EF4-FFF2-40B4-BE49-F238E27FC236}">
                <a16:creationId xmlns:a16="http://schemas.microsoft.com/office/drawing/2014/main" id="{C1CB57E2-989F-643D-E85B-F37BC77C59E7}"/>
              </a:ext>
            </a:extLst>
          </p:cNvPr>
          <p:cNvSpPr txBox="1"/>
          <p:nvPr/>
        </p:nvSpPr>
        <p:spPr>
          <a:xfrm>
            <a:off x="533400" y="1956583"/>
            <a:ext cx="8077200" cy="3977997"/>
          </a:xfrm>
          <a:prstGeom prst="rect">
            <a:avLst/>
          </a:prstGeom>
          <a:noFill/>
        </p:spPr>
        <p:txBody>
          <a:bodyPr wrap="square">
            <a:spAutoFit/>
          </a:bodyPr>
          <a:lstStyle/>
          <a:p>
            <a:pPr algn="just"/>
            <a:r>
              <a:rPr lang="en-IN" dirty="0">
                <a:latin typeface="Times New Roman" panose="02020603050405020304" pitchFamily="18" charset="0"/>
                <a:cs typeface="Times New Roman" panose="02020603050405020304" pitchFamily="18" charset="0"/>
              </a:rPr>
              <a:t>[11] H. Huang </a:t>
            </a:r>
            <a:r>
              <a:rPr lang="en-IN" i="1" dirty="0">
                <a:latin typeface="Times New Roman" panose="02020603050405020304" pitchFamily="18" charset="0"/>
                <a:cs typeface="Times New Roman" panose="02020603050405020304" pitchFamily="18" charset="0"/>
              </a:rPr>
              <a:t>et al.</a:t>
            </a:r>
            <a:r>
              <a:rPr lang="en-IN" dirty="0">
                <a:latin typeface="Times New Roman" panose="02020603050405020304" pitchFamily="18" charset="0"/>
                <a:cs typeface="Times New Roman" panose="02020603050405020304" pitchFamily="18" charset="0"/>
              </a:rPr>
              <a:t>, "A Novel Zero-Trust Identity Framework for Agentic AI: Decentralized Authentication and Fine-Grained Access Control," </a:t>
            </a:r>
            <a:r>
              <a:rPr lang="en-IN" i="1" dirty="0">
                <a:latin typeface="Times New Roman" panose="02020603050405020304" pitchFamily="18" charset="0"/>
                <a:cs typeface="Times New Roman" panose="02020603050405020304" pitchFamily="18" charset="0"/>
              </a:rPr>
              <a:t>arXiv preprint</a:t>
            </a:r>
            <a:r>
              <a:rPr lang="en-IN" dirty="0">
                <a:latin typeface="Times New Roman" panose="02020603050405020304" pitchFamily="18" charset="0"/>
                <a:cs typeface="Times New Roman" panose="02020603050405020304" pitchFamily="18" charset="0"/>
              </a:rPr>
              <a:t>, 2025.</a:t>
            </a:r>
          </a:p>
          <a:p>
            <a:pPr algn="just"/>
            <a:r>
              <a:rPr lang="en-IN" dirty="0">
                <a:latin typeface="Times New Roman" panose="02020603050405020304" pitchFamily="18" charset="0"/>
                <a:cs typeface="Times New Roman" panose="02020603050405020304" pitchFamily="18" charset="0"/>
              </a:rPr>
              <a:t>[12] R. Raza </a:t>
            </a:r>
            <a:r>
              <a:rPr lang="en-IN" i="1" dirty="0">
                <a:latin typeface="Times New Roman" panose="02020603050405020304" pitchFamily="18" charset="0"/>
                <a:cs typeface="Times New Roman" panose="02020603050405020304" pitchFamily="18" charset="0"/>
              </a:rPr>
              <a:t>et al.</a:t>
            </a:r>
            <a:r>
              <a:rPr lang="en-IN" dirty="0">
                <a:latin typeface="Times New Roman" panose="02020603050405020304" pitchFamily="18" charset="0"/>
                <a:cs typeface="Times New Roman" panose="02020603050405020304" pitchFamily="18" charset="0"/>
              </a:rPr>
              <a:t>, "</a:t>
            </a:r>
            <a:r>
              <a:rPr lang="en-IN" dirty="0" err="1">
                <a:latin typeface="Times New Roman" panose="02020603050405020304" pitchFamily="18" charset="0"/>
                <a:cs typeface="Times New Roman" panose="02020603050405020304" pitchFamily="18" charset="0"/>
              </a:rPr>
              <a:t>TRiSM</a:t>
            </a:r>
            <a:r>
              <a:rPr lang="en-IN" dirty="0">
                <a:latin typeface="Times New Roman" panose="02020603050405020304" pitchFamily="18" charset="0"/>
                <a:cs typeface="Times New Roman" panose="02020603050405020304" pitchFamily="18" charset="0"/>
              </a:rPr>
              <a:t> for Agentic AI: A Review of Trust, Risk, and Security Management in LLM-based Agentic Multi-Agent Systems," </a:t>
            </a:r>
            <a:r>
              <a:rPr lang="en-IN" i="1" dirty="0">
                <a:latin typeface="Times New Roman" panose="02020603050405020304" pitchFamily="18" charset="0"/>
                <a:cs typeface="Times New Roman" panose="02020603050405020304" pitchFamily="18" charset="0"/>
              </a:rPr>
              <a:t>arXiv preprint</a:t>
            </a:r>
            <a:r>
              <a:rPr lang="en-IN" dirty="0">
                <a:latin typeface="Times New Roman" panose="02020603050405020304" pitchFamily="18" charset="0"/>
                <a:cs typeface="Times New Roman" panose="02020603050405020304" pitchFamily="18" charset="0"/>
              </a:rPr>
              <a:t>, 2025.</a:t>
            </a:r>
          </a:p>
          <a:p>
            <a:pPr algn="just"/>
            <a:r>
              <a:rPr lang="en-IN" dirty="0">
                <a:latin typeface="Times New Roman" panose="02020603050405020304" pitchFamily="18" charset="0"/>
                <a:cs typeface="Times New Roman" panose="02020603050405020304" pitchFamily="18" charset="0"/>
              </a:rPr>
              <a:t>[13] D. Kong </a:t>
            </a:r>
            <a:r>
              <a:rPr lang="en-IN" i="1" dirty="0">
                <a:latin typeface="Times New Roman" panose="02020603050405020304" pitchFamily="18" charset="0"/>
                <a:cs typeface="Times New Roman" panose="02020603050405020304" pitchFamily="18" charset="0"/>
              </a:rPr>
              <a:t>et al.</a:t>
            </a:r>
            <a:r>
              <a:rPr lang="en-IN" dirty="0">
                <a:latin typeface="Times New Roman" panose="02020603050405020304" pitchFamily="18" charset="0"/>
                <a:cs typeface="Times New Roman" panose="02020603050405020304" pitchFamily="18" charset="0"/>
              </a:rPr>
              <a:t>, "A Survey of LLM-Driven AI Agent Communication: Protocols, Security Risks, and </a:t>
            </a:r>
            <a:r>
              <a:rPr lang="en-IN" dirty="0" err="1">
                <a:latin typeface="Times New Roman" panose="02020603050405020304" pitchFamily="18" charset="0"/>
                <a:cs typeface="Times New Roman" panose="02020603050405020304" pitchFamily="18" charset="0"/>
              </a:rPr>
              <a:t>Defense</a:t>
            </a:r>
            <a:r>
              <a:rPr lang="en-IN" dirty="0">
                <a:latin typeface="Times New Roman" panose="02020603050405020304" pitchFamily="18" charset="0"/>
                <a:cs typeface="Times New Roman" panose="02020603050405020304" pitchFamily="18" charset="0"/>
              </a:rPr>
              <a:t> Countermeasures," </a:t>
            </a:r>
            <a:r>
              <a:rPr lang="en-IN" i="1" dirty="0">
                <a:latin typeface="Times New Roman" panose="02020603050405020304" pitchFamily="18" charset="0"/>
                <a:cs typeface="Times New Roman" panose="02020603050405020304" pitchFamily="18" charset="0"/>
              </a:rPr>
              <a:t>arXiv preprint</a:t>
            </a:r>
            <a:r>
              <a:rPr lang="en-IN" dirty="0">
                <a:latin typeface="Times New Roman" panose="02020603050405020304" pitchFamily="18" charset="0"/>
                <a:cs typeface="Times New Roman" panose="02020603050405020304" pitchFamily="18" charset="0"/>
              </a:rPr>
              <a:t>, 2025.</a:t>
            </a:r>
          </a:p>
          <a:p>
            <a:pPr algn="just"/>
            <a:r>
              <a:rPr lang="en-IN" dirty="0">
                <a:latin typeface="Times New Roman" panose="02020603050405020304" pitchFamily="18" charset="0"/>
                <a:cs typeface="Times New Roman" panose="02020603050405020304" pitchFamily="18" charset="0"/>
              </a:rPr>
              <a:t>[14] R. Sharma </a:t>
            </a:r>
            <a:r>
              <a:rPr lang="en-IN" i="1" dirty="0">
                <a:latin typeface="Times New Roman" panose="02020603050405020304" pitchFamily="18" charset="0"/>
                <a:cs typeface="Times New Roman" panose="02020603050405020304" pitchFamily="18" charset="0"/>
              </a:rPr>
              <a:t>et al.</a:t>
            </a:r>
            <a:r>
              <a:rPr lang="en-IN" dirty="0">
                <a:latin typeface="Times New Roman" panose="02020603050405020304" pitchFamily="18" charset="0"/>
                <a:cs typeface="Times New Roman" panose="02020603050405020304" pitchFamily="18" charset="0"/>
              </a:rPr>
              <a:t>, "Collaborative Agentic AI Needs Interoperability Across Ecosystems," </a:t>
            </a:r>
            <a:r>
              <a:rPr lang="en-IN" i="1" dirty="0">
                <a:latin typeface="Times New Roman" panose="02020603050405020304" pitchFamily="18" charset="0"/>
                <a:cs typeface="Times New Roman" panose="02020603050405020304" pitchFamily="18" charset="0"/>
              </a:rPr>
              <a:t>arXiv preprint</a:t>
            </a:r>
            <a:r>
              <a:rPr lang="en-IN" dirty="0">
                <a:latin typeface="Times New Roman" panose="02020603050405020304" pitchFamily="18" charset="0"/>
                <a:cs typeface="Times New Roman" panose="02020603050405020304" pitchFamily="18" charset="0"/>
              </a:rPr>
              <a:t>, 2025.</a:t>
            </a:r>
          </a:p>
          <a:p>
            <a:pPr algn="just"/>
            <a:r>
              <a:rPr lang="en-IN" dirty="0">
                <a:latin typeface="Times New Roman" panose="02020603050405020304" pitchFamily="18" charset="0"/>
                <a:cs typeface="Times New Roman" panose="02020603050405020304" pitchFamily="18" charset="0"/>
              </a:rPr>
              <a:t>[15] T. South </a:t>
            </a:r>
            <a:r>
              <a:rPr lang="en-IN" i="1" dirty="0">
                <a:latin typeface="Times New Roman" panose="02020603050405020304" pitchFamily="18" charset="0"/>
                <a:cs typeface="Times New Roman" panose="02020603050405020304" pitchFamily="18" charset="0"/>
              </a:rPr>
              <a:t>et al.</a:t>
            </a:r>
            <a:r>
              <a:rPr lang="en-IN" dirty="0">
                <a:latin typeface="Times New Roman" panose="02020603050405020304" pitchFamily="18" charset="0"/>
                <a:cs typeface="Times New Roman" panose="02020603050405020304" pitchFamily="18" charset="0"/>
              </a:rPr>
              <a:t>, "Authenticated Delegation and Authorized AI Agents," </a:t>
            </a:r>
            <a:r>
              <a:rPr lang="en-IN" i="1" dirty="0">
                <a:latin typeface="Times New Roman" panose="02020603050405020304" pitchFamily="18" charset="0"/>
                <a:cs typeface="Times New Roman" panose="02020603050405020304" pitchFamily="18" charset="0"/>
              </a:rPr>
              <a:t>arXiv preprint</a:t>
            </a:r>
            <a:r>
              <a:rPr lang="en-IN" dirty="0">
                <a:latin typeface="Times New Roman" panose="02020603050405020304" pitchFamily="18" charset="0"/>
                <a:cs typeface="Times New Roman" panose="02020603050405020304" pitchFamily="18" charset="0"/>
              </a:rPr>
              <a:t>, 2025.</a:t>
            </a:r>
          </a:p>
          <a:p>
            <a:pPr algn="just"/>
            <a:r>
              <a:rPr lang="en-IN" dirty="0">
                <a:latin typeface="Times New Roman" panose="02020603050405020304" pitchFamily="18" charset="0"/>
                <a:cs typeface="Times New Roman" panose="02020603050405020304" pitchFamily="18" charset="0"/>
              </a:rPr>
              <a:t>[16] National Institute of Standards and Technology (NIST), "Artificial Intelligence Risk Management Framework (AI RMF 1.0)," 2023.</a:t>
            </a:r>
          </a:p>
          <a:p>
            <a:pPr algn="just"/>
            <a:r>
              <a:rPr lang="en-IN" dirty="0">
                <a:latin typeface="Times New Roman" panose="02020603050405020304" pitchFamily="18" charset="0"/>
                <a:cs typeface="Times New Roman" panose="02020603050405020304" pitchFamily="18" charset="0"/>
              </a:rPr>
              <a:t>[17] National Institute of Standards and Technology (NIST), "Module-Lattice-Based Digital Signature Standard (FIPS 204)," 2024.</a:t>
            </a:r>
          </a:p>
          <a:p>
            <a:pPr algn="just"/>
            <a:r>
              <a:rPr lang="en-IN" dirty="0">
                <a:latin typeface="Times New Roman" panose="02020603050405020304" pitchFamily="18" charset="0"/>
                <a:cs typeface="Times New Roman" panose="02020603050405020304" pitchFamily="18" charset="0"/>
              </a:rPr>
              <a:t>[18] National Institute of Standards and Technology (NIST), "Module-Lattice-Based Key-Encapsulation Mechanism Standard (FIPS 203)," 2024.</a:t>
            </a:r>
          </a:p>
          <a:p>
            <a:pPr algn="just"/>
            <a:r>
              <a:rPr lang="en-IN" dirty="0">
                <a:latin typeface="Times New Roman" panose="02020603050405020304" pitchFamily="18" charset="0"/>
                <a:cs typeface="Times New Roman" panose="02020603050405020304" pitchFamily="18" charset="0"/>
              </a:rPr>
              <a:t>[19] M. Wooldridge, "An Introduction to </a:t>
            </a:r>
            <a:r>
              <a:rPr lang="en-IN" dirty="0" err="1">
                <a:latin typeface="Times New Roman" panose="02020603050405020304" pitchFamily="18" charset="0"/>
                <a:cs typeface="Times New Roman" panose="02020603050405020304" pitchFamily="18" charset="0"/>
              </a:rPr>
              <a:t>MultiAgent</a:t>
            </a:r>
            <a:r>
              <a:rPr lang="en-IN" dirty="0">
                <a:latin typeface="Times New Roman" panose="02020603050405020304" pitchFamily="18" charset="0"/>
                <a:cs typeface="Times New Roman" panose="02020603050405020304" pitchFamily="18" charset="0"/>
              </a:rPr>
              <a:t> Systems," 2nd Edition, John Wiley &amp; Sons, 2009.</a:t>
            </a:r>
          </a:p>
          <a:p>
            <a:pPr algn="just"/>
            <a:r>
              <a:rPr lang="en-IN" dirty="0">
                <a:latin typeface="Times New Roman" panose="02020603050405020304" pitchFamily="18" charset="0"/>
                <a:cs typeface="Times New Roman" panose="02020603050405020304" pitchFamily="18" charset="0"/>
              </a:rPr>
              <a:t>[20] F. L. Lewis, H. Zhang, K. </a:t>
            </a:r>
            <a:r>
              <a:rPr lang="en-IN" dirty="0" err="1">
                <a:latin typeface="Times New Roman" panose="02020603050405020304" pitchFamily="18" charset="0"/>
                <a:cs typeface="Times New Roman" panose="02020603050405020304" pitchFamily="18" charset="0"/>
              </a:rPr>
              <a:t>Hengster-Movrić</a:t>
            </a:r>
            <a:r>
              <a:rPr lang="en-IN" dirty="0">
                <a:latin typeface="Times New Roman" panose="02020603050405020304" pitchFamily="18" charset="0"/>
                <a:cs typeface="Times New Roman" panose="02020603050405020304" pitchFamily="18" charset="0"/>
              </a:rPr>
              <a:t>, and A. Das, "Cooperative Control of Multi-Agent Systems: Optimal and Adaptive Design Approaches," Springer, 2014.</a:t>
            </a:r>
          </a:p>
        </p:txBody>
      </p:sp>
    </p:spTree>
    <p:extLst>
      <p:ext uri="{BB962C8B-B14F-4D97-AF65-F5344CB8AC3E}">
        <p14:creationId xmlns:p14="http://schemas.microsoft.com/office/powerpoint/2010/main" val="2820989790"/>
      </p:ext>
    </p:extLst>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02920"/>
          </a:xfrm>
          <a:prstGeom prst="rect">
            <a:avLst/>
          </a:prstGeom>
          <a:noFill/>
        </p:spPr>
        <p:txBody>
          <a:bodyPr wrap="square" lIns="0" tIns="0" rIns="0" bIns="0">
            <a:spAutoFit/>
          </a:bodyPr>
          <a:lstStyle/>
          <a:p>
            <a:pPr>
              <a:defRPr sz="2200" b="1">
                <a:solidFill>
                  <a:srgbClr val="1F497D"/>
                </a:solidFill>
                <a:latin typeface="Times New Roman"/>
              </a:defRPr>
            </a:pPr>
            <a:r>
              <a:t>Actual Project Screenshots: Security Dashboard &amp; Decentralized Identity</a:t>
            </a:r>
          </a:p>
        </p:txBody>
      </p:sp>
      <p:sp>
        <p:nvSpPr>
          <p:cNvPr id="3" name="TextBox 2"/>
          <p:cNvSpPr txBox="1"/>
          <p:nvPr/>
        </p:nvSpPr>
        <p:spPr>
          <a:xfrm>
            <a:off x="457200" y="804672"/>
            <a:ext cx="8229600" cy="256032"/>
          </a:xfrm>
          <a:prstGeom prst="rect">
            <a:avLst/>
          </a:prstGeom>
          <a:noFill/>
        </p:spPr>
        <p:txBody>
          <a:bodyPr wrap="square" lIns="0" tIns="0" rIns="0" bIns="0">
            <a:spAutoFit/>
          </a:bodyPr>
          <a:lstStyle/>
          <a:p>
            <a:pPr>
              <a:defRPr sz="1000" i="1">
                <a:solidFill>
                  <a:srgbClr val="64748B"/>
                </a:solidFill>
                <a:latin typeface="Times New Roman"/>
              </a:defRPr>
            </a:pPr>
            <a:r>
              <a:t>Real-Time Telemetry Monitoring • Dynamic Trust Degradation Curves • W3C DID &amp; VC Cryptographic Proofs</a:t>
            </a:r>
          </a:p>
        </p:txBody>
      </p:sp>
      <p:sp>
        <p:nvSpPr>
          <p:cNvPr id="4" name="TextBox 3"/>
          <p:cNvSpPr txBox="1"/>
          <p:nvPr/>
        </p:nvSpPr>
        <p:spPr>
          <a:xfrm>
            <a:off x="6547104" y="6355080"/>
            <a:ext cx="2130552" cy="320040"/>
          </a:xfrm>
          <a:prstGeom prst="rect">
            <a:avLst/>
          </a:prstGeom>
          <a:noFill/>
        </p:spPr>
        <p:txBody>
          <a:bodyPr wrap="none" lIns="0" tIns="0" rIns="0" bIns="0">
            <a:spAutoFit/>
          </a:bodyPr>
          <a:lstStyle/>
          <a:p>
            <a:pPr algn="r">
              <a:defRPr sz="1200">
                <a:solidFill>
                  <a:srgbClr val="64748B"/>
                </a:solidFill>
                <a:latin typeface="Times New Roman"/>
              </a:defRPr>
            </a:pPr>
            <a:r>
              <a:t>21</a:t>
            </a:r>
          </a:p>
        </p:txBody>
      </p:sp>
      <p:sp>
        <p:nvSpPr>
          <p:cNvPr id="5" name="Rounded Rectangle 4"/>
          <p:cNvSpPr/>
          <p:nvPr/>
        </p:nvSpPr>
        <p:spPr>
          <a:xfrm>
            <a:off x="457200" y="1115568"/>
            <a:ext cx="3977639" cy="5120640"/>
          </a:xfrm>
          <a:prstGeom prst="roundRect">
            <a:avLst/>
          </a:prstGeom>
          <a:solidFill>
            <a:srgbClr val="F8FAFC"/>
          </a:solidFill>
          <a:ln w="15240">
            <a:solidFill>
              <a:srgbClr val="1F497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188720"/>
            <a:ext cx="3794759" cy="320040"/>
          </a:xfrm>
          <a:prstGeom prst="rect">
            <a:avLst/>
          </a:prstGeom>
          <a:noFill/>
        </p:spPr>
        <p:txBody>
          <a:bodyPr wrap="square">
            <a:spAutoFit/>
          </a:bodyPr>
          <a:lstStyle/>
          <a:p>
            <a:pPr>
              <a:defRPr sz="1050" b="1">
                <a:solidFill>
                  <a:srgbClr val="1F497D"/>
                </a:solidFill>
                <a:latin typeface="Times New Roman"/>
              </a:defRPr>
            </a:pPr>
            <a:r>
              <a:t>1. Security Operations Dashboard &amp; Trust Analytics</a:t>
            </a:r>
          </a:p>
        </p:txBody>
      </p:sp>
      <p:pic>
        <p:nvPicPr>
          <p:cNvPr id="7" name="Picture 6" descr="trust_degradation_dashboard.png"/>
          <p:cNvPicPr>
            <a:picLocks noChangeAspect="1"/>
          </p:cNvPicPr>
          <p:nvPr/>
        </p:nvPicPr>
        <p:blipFill>
          <a:blip r:embed="rId2"/>
          <a:stretch>
            <a:fillRect/>
          </a:stretch>
        </p:blipFill>
        <p:spPr>
          <a:xfrm>
            <a:off x="566928" y="1527048"/>
            <a:ext cx="3758183" cy="2240280"/>
          </a:xfrm>
          <a:prstGeom prst="rect">
            <a:avLst/>
          </a:prstGeom>
          <a:ln w="9525">
            <a:solidFill>
              <a:srgbClr val="94A3B8"/>
            </a:solidFill>
          </a:ln>
        </p:spPr>
      </p:pic>
      <p:sp>
        <p:nvSpPr>
          <p:cNvPr id="8" name="TextBox 7"/>
          <p:cNvSpPr txBox="1"/>
          <p:nvPr/>
        </p:nvSpPr>
        <p:spPr>
          <a:xfrm>
            <a:off x="566928" y="3858768"/>
            <a:ext cx="3758183" cy="2240280"/>
          </a:xfrm>
          <a:prstGeom prst="rect">
            <a:avLst/>
          </a:prstGeom>
          <a:noFill/>
        </p:spPr>
        <p:txBody>
          <a:bodyPr wrap="square" lIns="0" tIns="0" rIns="0" bIns="0">
            <a:spAutoFit/>
          </a:bodyPr>
          <a:lstStyle/>
          <a:p>
            <a:pPr>
              <a:spcAft>
                <a:spcPts val="250"/>
              </a:spcAft>
              <a:defRPr sz="800">
                <a:latin typeface="Times New Roman"/>
              </a:defRPr>
            </a:pPr>
            <a:r>
              <a:rPr b="1">
                <a:solidFill>
                  <a:srgbClr val="1F497D"/>
                </a:solidFill>
              </a:rPr>
              <a:t>• </a:t>
            </a:r>
            <a:r>
              <a:rPr b="1">
                <a:solidFill>
                  <a:srgbClr val="1E293B"/>
                </a:solidFill>
              </a:rPr>
              <a:t>Live Telemetry Stream: </a:t>
            </a:r>
            <a:r>
              <a:rPr>
                <a:solidFill>
                  <a:srgbClr val="1E293B"/>
                </a:solidFill>
              </a:rPr>
              <a:t>Ingests Task Success (Si), Policy Compliance (Ci), and Latency penalty (Li) at runtime.</a:t>
            </a:r>
          </a:p>
          <a:p>
            <a:pPr>
              <a:spcAft>
                <a:spcPts val="250"/>
              </a:spcAft>
              <a:defRPr sz="800">
                <a:latin typeface="Times New Roman"/>
              </a:defRPr>
            </a:pPr>
            <a:r>
              <a:rPr b="1">
                <a:solidFill>
                  <a:srgbClr val="1F497D"/>
                </a:solidFill>
              </a:rPr>
              <a:t>• </a:t>
            </a:r>
            <a:r>
              <a:rPr b="1">
                <a:solidFill>
                  <a:srgbClr val="1E293B"/>
                </a:solidFill>
              </a:rPr>
              <a:t>Dynamic Trust Curve: </a:t>
            </a:r>
            <a:r>
              <a:rPr>
                <a:solidFill>
                  <a:srgbClr val="1E293B"/>
                </a:solidFill>
              </a:rPr>
              <a:t>Visualizes temporal EMA smoothing (Ti(t) = 0.70 Ti(t-1) + 0.30 Pi(t)) over consecutive interactions.</a:t>
            </a:r>
          </a:p>
          <a:p>
            <a:pPr>
              <a:spcAft>
                <a:spcPts val="250"/>
              </a:spcAft>
              <a:defRPr sz="800">
                <a:latin typeface="Times New Roman"/>
              </a:defRPr>
            </a:pPr>
            <a:r>
              <a:rPr b="1">
                <a:solidFill>
                  <a:srgbClr val="1F497D"/>
                </a:solidFill>
              </a:rPr>
              <a:t>• </a:t>
            </a:r>
            <a:r>
              <a:rPr b="1">
                <a:solidFill>
                  <a:srgbClr val="1E293B"/>
                </a:solidFill>
              </a:rPr>
              <a:t>Operational State Indicators: </a:t>
            </a:r>
            <a:r>
              <a:rPr>
                <a:solidFill>
                  <a:srgbClr val="1E293B"/>
                </a:solidFill>
              </a:rPr>
              <a:t>Real-time badges display active counts of TRUSTED, SUSPICIOUS, and QUARANTINED agents.</a:t>
            </a:r>
          </a:p>
          <a:p>
            <a:pPr>
              <a:spcAft>
                <a:spcPts val="250"/>
              </a:spcAft>
              <a:defRPr sz="800">
                <a:latin typeface="Times New Roman"/>
              </a:defRPr>
            </a:pPr>
            <a:r>
              <a:rPr b="1">
                <a:solidFill>
                  <a:srgbClr val="1F497D"/>
                </a:solidFill>
              </a:rPr>
              <a:t>• </a:t>
            </a:r>
            <a:r>
              <a:rPr b="1">
                <a:solidFill>
                  <a:srgbClr val="1E293B"/>
                </a:solidFill>
              </a:rPr>
              <a:t>Automated Quarantine Response: </a:t>
            </a:r>
            <a:r>
              <a:rPr>
                <a:solidFill>
                  <a:srgbClr val="1E293B"/>
                </a:solidFill>
              </a:rPr>
              <a:t>Injected latency or compliance anomalies immediately trigger automated access restriction alerts.</a:t>
            </a:r>
          </a:p>
        </p:txBody>
      </p:sp>
      <p:sp>
        <p:nvSpPr>
          <p:cNvPr id="9" name="Rounded Rectangle 8"/>
          <p:cNvSpPr/>
          <p:nvPr/>
        </p:nvSpPr>
        <p:spPr>
          <a:xfrm>
            <a:off x="4709160" y="1115568"/>
            <a:ext cx="3977639" cy="5120640"/>
          </a:xfrm>
          <a:prstGeom prst="roundRect">
            <a:avLst/>
          </a:prstGeom>
          <a:solidFill>
            <a:srgbClr val="F8FAFC"/>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00600" y="1188720"/>
            <a:ext cx="3794759" cy="320040"/>
          </a:xfrm>
          <a:prstGeom prst="rect">
            <a:avLst/>
          </a:prstGeom>
          <a:noFill/>
        </p:spPr>
        <p:txBody>
          <a:bodyPr wrap="square">
            <a:spAutoFit/>
          </a:bodyPr>
          <a:lstStyle/>
          <a:p>
            <a:pPr>
              <a:defRPr sz="1050" b="1">
                <a:solidFill>
                  <a:srgbClr val="15803D"/>
                </a:solidFill>
                <a:latin typeface="Times New Roman"/>
              </a:defRPr>
            </a:pPr>
            <a:r>
              <a:t>2. Agent Explorer, W3C DID &amp; Verifiable Credentials</a:t>
            </a:r>
          </a:p>
        </p:txBody>
      </p:sp>
      <p:pic>
        <p:nvPicPr>
          <p:cNvPr id="11" name="Picture 10" descr="agent_identity_vc.png"/>
          <p:cNvPicPr>
            <a:picLocks noChangeAspect="1"/>
          </p:cNvPicPr>
          <p:nvPr/>
        </p:nvPicPr>
        <p:blipFill>
          <a:blip r:embed="rId3"/>
          <a:stretch>
            <a:fillRect/>
          </a:stretch>
        </p:blipFill>
        <p:spPr>
          <a:xfrm>
            <a:off x="4818888" y="1527048"/>
            <a:ext cx="3758183" cy="2240280"/>
          </a:xfrm>
          <a:prstGeom prst="rect">
            <a:avLst/>
          </a:prstGeom>
          <a:ln w="9525">
            <a:solidFill>
              <a:srgbClr val="94A3B8"/>
            </a:solidFill>
          </a:ln>
        </p:spPr>
      </p:pic>
      <p:sp>
        <p:nvSpPr>
          <p:cNvPr id="12" name="TextBox 11"/>
          <p:cNvSpPr txBox="1"/>
          <p:nvPr/>
        </p:nvSpPr>
        <p:spPr>
          <a:xfrm>
            <a:off x="4818888" y="3858768"/>
            <a:ext cx="3758183" cy="2240280"/>
          </a:xfrm>
          <a:prstGeom prst="rect">
            <a:avLst/>
          </a:prstGeom>
          <a:noFill/>
        </p:spPr>
        <p:txBody>
          <a:bodyPr wrap="square" lIns="0" tIns="0" rIns="0" bIns="0">
            <a:spAutoFit/>
          </a:bodyPr>
          <a:lstStyle/>
          <a:p>
            <a:pPr>
              <a:spcAft>
                <a:spcPts val="250"/>
              </a:spcAft>
              <a:defRPr sz="800">
                <a:latin typeface="Times New Roman"/>
              </a:defRPr>
            </a:pPr>
            <a:r>
              <a:rPr b="1">
                <a:solidFill>
                  <a:srgbClr val="15803D"/>
                </a:solidFill>
              </a:rPr>
              <a:t>• </a:t>
            </a:r>
            <a:r>
              <a:rPr b="1">
                <a:solidFill>
                  <a:srgbClr val="1E293B"/>
                </a:solidFill>
              </a:rPr>
              <a:t>W3C did: </a:t>
            </a:r>
            <a:r>
              <a:rPr>
                <a:solidFill>
                  <a:srgbClr val="1E293B"/>
                </a:solidFill>
              </a:rPr>
              <a:t>key Resolution: Agent identity derived using Ed25519 multicodec prefix 0xed01 and Base58 encoding.</a:t>
            </a:r>
          </a:p>
          <a:p>
            <a:pPr>
              <a:spcAft>
                <a:spcPts val="250"/>
              </a:spcAft>
              <a:defRPr sz="800">
                <a:latin typeface="Times New Roman"/>
              </a:defRPr>
            </a:pPr>
            <a:r>
              <a:rPr b="1">
                <a:solidFill>
                  <a:srgbClr val="15803D"/>
                </a:solidFill>
              </a:rPr>
              <a:t>• </a:t>
            </a:r>
            <a:r>
              <a:rPr b="1">
                <a:solidFill>
                  <a:srgbClr val="1E293B"/>
                </a:solidFill>
              </a:rPr>
              <a:t>RFC 8032 Cryptography: </a:t>
            </a:r>
            <a:r>
              <a:rPr>
                <a:solidFill>
                  <a:srgbClr val="1E293B"/>
                </a:solidFill>
              </a:rPr>
              <a:t>Displays 256-bit elliptic-curve public keys and verifies asymmetric digital signatures.</a:t>
            </a:r>
          </a:p>
          <a:p>
            <a:pPr>
              <a:spcAft>
                <a:spcPts val="250"/>
              </a:spcAft>
              <a:defRPr sz="800">
                <a:latin typeface="Times New Roman"/>
              </a:defRPr>
            </a:pPr>
            <a:r>
              <a:rPr b="1">
                <a:solidFill>
                  <a:srgbClr val="15803D"/>
                </a:solidFill>
              </a:rPr>
              <a:t>• </a:t>
            </a:r>
            <a:r>
              <a:rPr b="1">
                <a:solidFill>
                  <a:srgbClr val="1E293B"/>
                </a:solidFill>
              </a:rPr>
              <a:t>W3C VC 2.0 Credential Inspection: </a:t>
            </a:r>
            <a:r>
              <a:rPr>
                <a:solidFill>
                  <a:srgbClr val="1E293B"/>
                </a:solidFill>
              </a:rPr>
              <a:t>Validates JSON-LD claims, issuer DID signature, and issuance timestamp.</a:t>
            </a:r>
          </a:p>
          <a:p>
            <a:pPr>
              <a:spcAft>
                <a:spcPts val="250"/>
              </a:spcAft>
              <a:defRPr sz="800">
                <a:latin typeface="Times New Roman"/>
              </a:defRPr>
            </a:pPr>
            <a:r>
              <a:rPr b="1">
                <a:solidFill>
                  <a:srgbClr val="15803D"/>
                </a:solidFill>
              </a:rPr>
              <a:t>• </a:t>
            </a:r>
            <a:r>
              <a:rPr b="1">
                <a:solidFill>
                  <a:srgbClr val="1E293B"/>
                </a:solidFill>
              </a:rPr>
              <a:t>Tamper-Evident Integrity: </a:t>
            </a:r>
            <a:r>
              <a:rPr>
                <a:solidFill>
                  <a:srgbClr val="1E293B"/>
                </a:solidFill>
              </a:rPr>
              <a:t>Computes SHA-256 integrity hash across credential claims to detect payload tampering.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02920"/>
          </a:xfrm>
          <a:prstGeom prst="rect">
            <a:avLst/>
          </a:prstGeom>
          <a:noFill/>
        </p:spPr>
        <p:txBody>
          <a:bodyPr wrap="square" lIns="0" tIns="0" rIns="0" bIns="0">
            <a:spAutoFit/>
          </a:bodyPr>
          <a:lstStyle/>
          <a:p>
            <a:pPr>
              <a:defRPr sz="2200" b="1">
                <a:solidFill>
                  <a:srgbClr val="1F497D"/>
                </a:solidFill>
                <a:latin typeface="Times New Roman"/>
              </a:defRPr>
            </a:pPr>
            <a:r>
              <a:t>Actual Project Screenshots: Discovery, Matching &amp; Multi-Agent Collaboration</a:t>
            </a:r>
          </a:p>
        </p:txBody>
      </p:sp>
      <p:sp>
        <p:nvSpPr>
          <p:cNvPr id="3" name="TextBox 2"/>
          <p:cNvSpPr txBox="1"/>
          <p:nvPr/>
        </p:nvSpPr>
        <p:spPr>
          <a:xfrm>
            <a:off x="457200" y="804672"/>
            <a:ext cx="8229600" cy="256032"/>
          </a:xfrm>
          <a:prstGeom prst="rect">
            <a:avLst/>
          </a:prstGeom>
          <a:noFill/>
        </p:spPr>
        <p:txBody>
          <a:bodyPr wrap="square" lIns="0" tIns="0" rIns="0" bIns="0">
            <a:spAutoFit/>
          </a:bodyPr>
          <a:lstStyle/>
          <a:p>
            <a:pPr>
              <a:defRPr sz="1000" i="1">
                <a:solidFill>
                  <a:srgbClr val="64748B"/>
                </a:solidFill>
                <a:latin typeface="Times New Roman"/>
              </a:defRPr>
            </a:pPr>
            <a:r>
              <a:t>Multi-Attribute Capability Filtering • Weighted MatchScore Optimization • Sequential Pipeline Workflows</a:t>
            </a:r>
          </a:p>
        </p:txBody>
      </p:sp>
      <p:sp>
        <p:nvSpPr>
          <p:cNvPr id="4" name="TextBox 3"/>
          <p:cNvSpPr txBox="1"/>
          <p:nvPr/>
        </p:nvSpPr>
        <p:spPr>
          <a:xfrm>
            <a:off x="6547104" y="6355080"/>
            <a:ext cx="2130552" cy="320040"/>
          </a:xfrm>
          <a:prstGeom prst="rect">
            <a:avLst/>
          </a:prstGeom>
          <a:noFill/>
        </p:spPr>
        <p:txBody>
          <a:bodyPr wrap="none" lIns="0" tIns="0" rIns="0" bIns="0">
            <a:spAutoFit/>
          </a:bodyPr>
          <a:lstStyle/>
          <a:p>
            <a:pPr algn="r">
              <a:defRPr sz="1200">
                <a:solidFill>
                  <a:srgbClr val="64748B"/>
                </a:solidFill>
                <a:latin typeface="Times New Roman"/>
              </a:defRPr>
            </a:pPr>
            <a:r>
              <a:t>22</a:t>
            </a:r>
          </a:p>
        </p:txBody>
      </p:sp>
      <p:sp>
        <p:nvSpPr>
          <p:cNvPr id="5" name="Rounded Rectangle 4"/>
          <p:cNvSpPr/>
          <p:nvPr/>
        </p:nvSpPr>
        <p:spPr>
          <a:xfrm>
            <a:off x="457200" y="1115568"/>
            <a:ext cx="3977639" cy="5120640"/>
          </a:xfrm>
          <a:prstGeom prst="roundRect">
            <a:avLst/>
          </a:prstGeom>
          <a:solidFill>
            <a:srgbClr val="F8FAFC"/>
          </a:solidFill>
          <a:ln w="15240">
            <a:solidFill>
              <a:srgbClr val="0369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188720"/>
            <a:ext cx="3794759" cy="320040"/>
          </a:xfrm>
          <a:prstGeom prst="rect">
            <a:avLst/>
          </a:prstGeom>
          <a:noFill/>
        </p:spPr>
        <p:txBody>
          <a:bodyPr wrap="square">
            <a:spAutoFit/>
          </a:bodyPr>
          <a:lstStyle/>
          <a:p>
            <a:pPr>
              <a:defRPr sz="1050" b="1">
                <a:solidFill>
                  <a:srgbClr val="0369A1"/>
                </a:solidFill>
                <a:latin typeface="Times New Roman"/>
              </a:defRPr>
            </a:pPr>
            <a:r>
              <a:t>1. Agent Discovery &amp; Task-Driven Algorithmic Matching</a:t>
            </a:r>
          </a:p>
        </p:txBody>
      </p:sp>
      <p:pic>
        <p:nvPicPr>
          <p:cNvPr id="7" name="Picture 6" descr="agent_matching_view.png"/>
          <p:cNvPicPr>
            <a:picLocks noChangeAspect="1"/>
          </p:cNvPicPr>
          <p:nvPr/>
        </p:nvPicPr>
        <p:blipFill>
          <a:blip r:embed="rId2"/>
          <a:stretch>
            <a:fillRect/>
          </a:stretch>
        </p:blipFill>
        <p:spPr>
          <a:xfrm>
            <a:off x="566928" y="1527048"/>
            <a:ext cx="3758183" cy="2240280"/>
          </a:xfrm>
          <a:prstGeom prst="rect">
            <a:avLst/>
          </a:prstGeom>
          <a:ln w="9525">
            <a:solidFill>
              <a:srgbClr val="94A3B8"/>
            </a:solidFill>
          </a:ln>
        </p:spPr>
      </p:pic>
      <p:sp>
        <p:nvSpPr>
          <p:cNvPr id="8" name="TextBox 7"/>
          <p:cNvSpPr txBox="1"/>
          <p:nvPr/>
        </p:nvSpPr>
        <p:spPr>
          <a:xfrm>
            <a:off x="566928" y="3858768"/>
            <a:ext cx="3758183" cy="2240280"/>
          </a:xfrm>
          <a:prstGeom prst="rect">
            <a:avLst/>
          </a:prstGeom>
          <a:noFill/>
        </p:spPr>
        <p:txBody>
          <a:bodyPr wrap="square" lIns="0" tIns="0" rIns="0" bIns="0">
            <a:spAutoFit/>
          </a:bodyPr>
          <a:lstStyle/>
          <a:p>
            <a:pPr>
              <a:spcAft>
                <a:spcPts val="250"/>
              </a:spcAft>
              <a:defRPr sz="800">
                <a:latin typeface="Times New Roman"/>
              </a:defRPr>
            </a:pPr>
            <a:r>
              <a:rPr b="1">
                <a:solidFill>
                  <a:srgbClr val="0369A1"/>
                </a:solidFill>
              </a:rPr>
              <a:t>• </a:t>
            </a:r>
            <a:r>
              <a:rPr b="1">
                <a:solidFill>
                  <a:srgbClr val="1E293B"/>
                </a:solidFill>
              </a:rPr>
              <a:t>Two-Phase Delegation: </a:t>
            </a:r>
            <a:r>
              <a:rPr>
                <a:solidFill>
                  <a:srgbClr val="1E293B"/>
                </a:solidFill>
              </a:rPr>
              <a:t>Combines boolean capability search with multi-objective weighted ranking.</a:t>
            </a:r>
          </a:p>
          <a:p>
            <a:pPr>
              <a:spcAft>
                <a:spcPts val="250"/>
              </a:spcAft>
              <a:defRPr sz="800">
                <a:latin typeface="Times New Roman"/>
              </a:defRPr>
            </a:pPr>
            <a:r>
              <a:rPr b="1">
                <a:solidFill>
                  <a:srgbClr val="0369A1"/>
                </a:solidFill>
              </a:rPr>
              <a:t>• </a:t>
            </a:r>
            <a:r>
              <a:rPr b="1">
                <a:solidFill>
                  <a:srgbClr val="1E293B"/>
                </a:solidFill>
              </a:rPr>
              <a:t>Discovery Filters: </a:t>
            </a:r>
            <a:r>
              <a:rPr>
                <a:solidFill>
                  <a:srgbClr val="1E293B"/>
                </a:solidFill>
              </a:rPr>
              <a:t>Tag matching, min-trust threshold slider (0.00-1.00), availability, and HTTP 200 health probe.</a:t>
            </a:r>
          </a:p>
          <a:p>
            <a:pPr>
              <a:spcAft>
                <a:spcPts val="250"/>
              </a:spcAft>
              <a:defRPr sz="800">
                <a:latin typeface="Times New Roman"/>
              </a:defRPr>
            </a:pPr>
            <a:r>
              <a:rPr b="1">
                <a:solidFill>
                  <a:srgbClr val="0369A1"/>
                </a:solidFill>
              </a:rPr>
              <a:t>• </a:t>
            </a:r>
            <a:r>
              <a:rPr b="1">
                <a:solidFill>
                  <a:srgbClr val="1E293B"/>
                </a:solidFill>
              </a:rPr>
              <a:t>Explainable Exclusion: </a:t>
            </a:r>
            <a:r>
              <a:rPr>
                <a:solidFill>
                  <a:srgbClr val="1E293B"/>
                </a:solidFill>
              </a:rPr>
              <a:t>Displays transparent rejection rationale (e.g. 'Trust 0.42 &lt; requested 0.80').</a:t>
            </a:r>
          </a:p>
          <a:p>
            <a:pPr>
              <a:spcAft>
                <a:spcPts val="250"/>
              </a:spcAft>
              <a:defRPr sz="800">
                <a:latin typeface="Times New Roman"/>
              </a:defRPr>
            </a:pPr>
            <a:r>
              <a:rPr b="1">
                <a:solidFill>
                  <a:srgbClr val="0369A1"/>
                </a:solidFill>
              </a:rPr>
              <a:t>• </a:t>
            </a:r>
            <a:r>
              <a:rPr b="1">
                <a:solidFill>
                  <a:srgbClr val="1E293B"/>
                </a:solidFill>
              </a:rPr>
              <a:t>Weighted MatchScore: </a:t>
            </a:r>
            <a:r>
              <a:rPr>
                <a:solidFill>
                  <a:srgbClr val="1E293B"/>
                </a:solidFill>
              </a:rPr>
              <a:t>MatchScore = 0.40 T + 0.30 (r/5) + 0.20 sigma + 0.10 (1 - lambda); quarantined capped to 0.000.</a:t>
            </a:r>
          </a:p>
        </p:txBody>
      </p:sp>
      <p:sp>
        <p:nvSpPr>
          <p:cNvPr id="9" name="Rounded Rectangle 8"/>
          <p:cNvSpPr/>
          <p:nvPr/>
        </p:nvSpPr>
        <p:spPr>
          <a:xfrm>
            <a:off x="4709160" y="1115568"/>
            <a:ext cx="3977639" cy="5120640"/>
          </a:xfrm>
          <a:prstGeom prst="roundRect">
            <a:avLst/>
          </a:prstGeom>
          <a:solidFill>
            <a:srgbClr val="F8FAFC"/>
          </a:solidFill>
          <a:ln w="1524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00600" y="1188720"/>
            <a:ext cx="3794759" cy="320040"/>
          </a:xfrm>
          <a:prstGeom prst="rect">
            <a:avLst/>
          </a:prstGeom>
          <a:noFill/>
        </p:spPr>
        <p:txBody>
          <a:bodyPr wrap="square">
            <a:spAutoFit/>
          </a:bodyPr>
          <a:lstStyle/>
          <a:p>
            <a:pPr>
              <a:defRPr sz="1050" b="1">
                <a:solidFill>
                  <a:srgbClr val="B45309"/>
                </a:solidFill>
                <a:latin typeface="Times New Roman"/>
              </a:defRPr>
            </a:pPr>
            <a:r>
              <a:t>2. Multi-Agent Collaboration Sessions &amp; Sequential Workflows</a:t>
            </a:r>
          </a:p>
        </p:txBody>
      </p:sp>
      <p:pic>
        <p:nvPicPr>
          <p:cNvPr id="11" name="Picture 10" descr="collaboration_workflows.png"/>
          <p:cNvPicPr>
            <a:picLocks noChangeAspect="1"/>
          </p:cNvPicPr>
          <p:nvPr/>
        </p:nvPicPr>
        <p:blipFill>
          <a:blip r:embed="rId3"/>
          <a:stretch>
            <a:fillRect/>
          </a:stretch>
        </p:blipFill>
        <p:spPr>
          <a:xfrm>
            <a:off x="4818888" y="1527048"/>
            <a:ext cx="3758183" cy="2240280"/>
          </a:xfrm>
          <a:prstGeom prst="rect">
            <a:avLst/>
          </a:prstGeom>
          <a:ln w="9525">
            <a:solidFill>
              <a:srgbClr val="94A3B8"/>
            </a:solidFill>
          </a:ln>
        </p:spPr>
      </p:pic>
      <p:sp>
        <p:nvSpPr>
          <p:cNvPr id="12" name="TextBox 11"/>
          <p:cNvSpPr txBox="1"/>
          <p:nvPr/>
        </p:nvSpPr>
        <p:spPr>
          <a:xfrm>
            <a:off x="4818888" y="3858768"/>
            <a:ext cx="3758183" cy="2240280"/>
          </a:xfrm>
          <a:prstGeom prst="rect">
            <a:avLst/>
          </a:prstGeom>
          <a:noFill/>
        </p:spPr>
        <p:txBody>
          <a:bodyPr wrap="square" lIns="0" tIns="0" rIns="0" bIns="0">
            <a:spAutoFit/>
          </a:bodyPr>
          <a:lstStyle/>
          <a:p>
            <a:pPr>
              <a:spcAft>
                <a:spcPts val="250"/>
              </a:spcAft>
              <a:defRPr sz="800">
                <a:latin typeface="Times New Roman"/>
              </a:defRPr>
            </a:pPr>
            <a:r>
              <a:rPr b="1">
                <a:solidFill>
                  <a:srgbClr val="B45309"/>
                </a:solidFill>
              </a:rPr>
              <a:t>• </a:t>
            </a:r>
            <a:r>
              <a:rPr b="1">
                <a:solidFill>
                  <a:srgbClr val="1E293B"/>
                </a:solidFill>
              </a:rPr>
              <a:t>Session State Lifecycle: </a:t>
            </a:r>
            <a:r>
              <a:rPr>
                <a:solidFill>
                  <a:srgbClr val="1E293B"/>
                </a:solidFill>
              </a:rPr>
              <a:t>Stateful tracking across PENDING -&gt; ACTIVE -&gt; COMPLETED / TERMINATED.</a:t>
            </a:r>
          </a:p>
          <a:p>
            <a:pPr>
              <a:spcAft>
                <a:spcPts val="250"/>
              </a:spcAft>
              <a:defRPr sz="800">
                <a:latin typeface="Times New Roman"/>
              </a:defRPr>
            </a:pPr>
            <a:r>
              <a:rPr b="1">
                <a:solidFill>
                  <a:srgbClr val="B45309"/>
                </a:solidFill>
              </a:rPr>
              <a:t>• </a:t>
            </a:r>
            <a:r>
              <a:rPr b="1">
                <a:solidFill>
                  <a:srgbClr val="1E293B"/>
                </a:solidFill>
              </a:rPr>
              <a:t>Sequential Pipeline Execution: </a:t>
            </a:r>
            <a:r>
              <a:rPr>
                <a:solidFill>
                  <a:srgbClr val="1E293B"/>
                </a:solidFill>
              </a:rPr>
              <a:t>Multi-stage workflow runner (Stage 1: Planning -&gt; Stage 2: Coding -&gt; Stage 3: Review).</a:t>
            </a:r>
          </a:p>
          <a:p>
            <a:pPr>
              <a:spcAft>
                <a:spcPts val="250"/>
              </a:spcAft>
              <a:defRPr sz="800">
                <a:latin typeface="Times New Roman"/>
              </a:defRPr>
            </a:pPr>
            <a:r>
              <a:rPr b="1">
                <a:solidFill>
                  <a:srgbClr val="B45309"/>
                </a:solidFill>
              </a:rPr>
              <a:t>• </a:t>
            </a:r>
            <a:r>
              <a:rPr b="1">
                <a:solidFill>
                  <a:srgbClr val="1E293B"/>
                </a:solidFill>
              </a:rPr>
              <a:t>Per-Step Telemetry Persistence: </a:t>
            </a:r>
            <a:r>
              <a:rPr>
                <a:solidFill>
                  <a:srgbClr val="1E293B"/>
                </a:solidFill>
              </a:rPr>
              <a:t>Intermediate metrics recorded to SQLite WAL ledger at each pipeline transition.</a:t>
            </a:r>
          </a:p>
          <a:p>
            <a:pPr>
              <a:spcAft>
                <a:spcPts val="250"/>
              </a:spcAft>
              <a:defRPr sz="800">
                <a:latin typeface="Times New Roman"/>
              </a:defRPr>
            </a:pPr>
            <a:r>
              <a:rPr b="1">
                <a:solidFill>
                  <a:srgbClr val="B45309"/>
                </a:solidFill>
              </a:rPr>
              <a:t>• </a:t>
            </a:r>
            <a:r>
              <a:rPr b="1">
                <a:solidFill>
                  <a:srgbClr val="1E293B"/>
                </a:solidFill>
              </a:rPr>
              <a:t>Mid-Execution Trust Abort: </a:t>
            </a:r>
            <a:r>
              <a:rPr>
                <a:solidFill>
                  <a:srgbClr val="1E293B"/>
                </a:solidFill>
              </a:rPr>
              <a:t>If agent trust drops below 0.50 mid-task, session is terminated immediately to contain damage.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02920"/>
          </a:xfrm>
          <a:prstGeom prst="rect">
            <a:avLst/>
          </a:prstGeom>
          <a:noFill/>
        </p:spPr>
        <p:txBody>
          <a:bodyPr wrap="square" lIns="0" tIns="0" rIns="0" bIns="0">
            <a:spAutoFit/>
          </a:bodyPr>
          <a:lstStyle/>
          <a:p>
            <a:pPr>
              <a:defRPr sz="2200" b="1">
                <a:solidFill>
                  <a:srgbClr val="1F497D"/>
                </a:solidFill>
                <a:latin typeface="Times New Roman"/>
              </a:defRPr>
            </a:pPr>
            <a:r>
              <a:t>Implementation &amp; Technical Validation</a:t>
            </a:r>
          </a:p>
        </p:txBody>
      </p:sp>
      <p:sp>
        <p:nvSpPr>
          <p:cNvPr id="3" name="TextBox 2"/>
          <p:cNvSpPr txBox="1"/>
          <p:nvPr/>
        </p:nvSpPr>
        <p:spPr>
          <a:xfrm>
            <a:off x="457200" y="804672"/>
            <a:ext cx="8229600" cy="256032"/>
          </a:xfrm>
          <a:prstGeom prst="rect">
            <a:avLst/>
          </a:prstGeom>
          <a:noFill/>
        </p:spPr>
        <p:txBody>
          <a:bodyPr wrap="square" lIns="0" tIns="0" rIns="0" bIns="0">
            <a:spAutoFit/>
          </a:bodyPr>
          <a:lstStyle/>
          <a:p>
            <a:pPr>
              <a:defRPr sz="1000" i="1">
                <a:solidFill>
                  <a:srgbClr val="64748B"/>
                </a:solidFill>
                <a:latin typeface="Times New Roman"/>
              </a:defRPr>
            </a:pPr>
            <a:r>
              <a:t>Module Implementation • Cryptographic Integrity • Automated CI/CD &amp; Build Evidence</a:t>
            </a:r>
          </a:p>
        </p:txBody>
      </p:sp>
      <p:sp>
        <p:nvSpPr>
          <p:cNvPr id="4" name="TextBox 3"/>
          <p:cNvSpPr txBox="1"/>
          <p:nvPr/>
        </p:nvSpPr>
        <p:spPr>
          <a:xfrm>
            <a:off x="6547104" y="6355080"/>
            <a:ext cx="2130552" cy="320040"/>
          </a:xfrm>
          <a:prstGeom prst="rect">
            <a:avLst/>
          </a:prstGeom>
          <a:noFill/>
        </p:spPr>
        <p:txBody>
          <a:bodyPr wrap="none" lIns="0" tIns="0" rIns="0" bIns="0">
            <a:spAutoFit/>
          </a:bodyPr>
          <a:lstStyle/>
          <a:p>
            <a:pPr algn="r">
              <a:defRPr sz="1200">
                <a:solidFill>
                  <a:srgbClr val="64748B"/>
                </a:solidFill>
                <a:latin typeface="Times New Roman"/>
              </a:defRPr>
            </a:pPr>
            <a:r>
              <a:t>27</a:t>
            </a:r>
          </a:p>
        </p:txBody>
      </p:sp>
      <p:pic>
        <p:nvPicPr>
          <p:cNvPr id="5" name="Picture 4" descr="test_results_chart.png"/>
          <p:cNvPicPr>
            <a:picLocks noChangeAspect="1"/>
          </p:cNvPicPr>
          <p:nvPr/>
        </p:nvPicPr>
        <p:blipFill>
          <a:blip r:embed="rId2"/>
          <a:stretch>
            <a:fillRect/>
          </a:stretch>
        </p:blipFill>
        <p:spPr>
          <a:xfrm>
            <a:off x="457200" y="1115568"/>
            <a:ext cx="4005072" cy="1691640"/>
          </a:xfrm>
          <a:prstGeom prst="rect">
            <a:avLst/>
          </a:prstGeom>
          <a:ln w="12700">
            <a:solidFill>
              <a:srgbClr val="1F497D"/>
            </a:solidFill>
          </a:ln>
        </p:spPr>
      </p:pic>
      <p:pic>
        <p:nvPicPr>
          <p:cNvPr id="6" name="Picture 5" descr="test_suite_verification.png"/>
          <p:cNvPicPr>
            <a:picLocks noChangeAspect="1"/>
          </p:cNvPicPr>
          <p:nvPr/>
        </p:nvPicPr>
        <p:blipFill>
          <a:blip r:embed="rId3"/>
          <a:stretch>
            <a:fillRect/>
          </a:stretch>
        </p:blipFill>
        <p:spPr>
          <a:xfrm>
            <a:off x="4681728" y="1115568"/>
            <a:ext cx="4005072" cy="1691640"/>
          </a:xfrm>
          <a:prstGeom prst="rect">
            <a:avLst/>
          </a:prstGeom>
          <a:ln w="12700">
            <a:solidFill>
              <a:srgbClr val="1F497D"/>
            </a:solidFill>
          </a:ln>
        </p:spPr>
      </p:pic>
      <p:sp>
        <p:nvSpPr>
          <p:cNvPr id="7" name="Rounded Rectangle 6"/>
          <p:cNvSpPr/>
          <p:nvPr/>
        </p:nvSpPr>
        <p:spPr>
          <a:xfrm>
            <a:off x="457200" y="2907792"/>
            <a:ext cx="1947672" cy="2011680"/>
          </a:xfrm>
          <a:prstGeom prst="roundRect">
            <a:avLst/>
          </a:prstGeom>
          <a:solidFill>
            <a:srgbClr val="EFF6FF"/>
          </a:solidFill>
          <a:ln w="1524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91440" bIns="73152"/>
          <a:lstStyle/>
          <a:p>
            <a:pPr algn="ctr">
              <a:spcAft>
                <a:spcPts val="400"/>
              </a:spcAft>
              <a:defRPr sz="1100" b="1">
                <a:solidFill>
                  <a:srgbClr val="1F497D"/>
                </a:solidFill>
                <a:latin typeface="Times New Roman"/>
              </a:defRPr>
            </a:pPr>
            <a:r>
              <a:t>1. Identity &amp; Cryptography</a:t>
            </a:r>
          </a:p>
          <a:p>
            <a:pPr>
              <a:spcAft>
                <a:spcPts val="250"/>
              </a:spcAft>
              <a:defRPr sz="720">
                <a:latin typeface="Times New Roman"/>
              </a:defRPr>
            </a:pPr>
            <a:r>
              <a:rPr b="1">
                <a:solidFill>
                  <a:srgbClr val="1F497D"/>
                </a:solidFill>
              </a:rPr>
              <a:t>• </a:t>
            </a:r>
            <a:r>
              <a:rPr b="1">
                <a:solidFill>
                  <a:srgbClr val="1E293B"/>
                </a:solidFill>
              </a:rPr>
              <a:t>W3C DID: </a:t>
            </a:r>
            <a:r>
              <a:rPr>
                <a:solidFill>
                  <a:srgbClr val="1E293B"/>
                </a:solidFill>
              </a:rPr>
              <a:t>did:key with 0xed01 multicodec prefix.</a:t>
            </a:r>
          </a:p>
          <a:p>
            <a:pPr>
              <a:spcAft>
                <a:spcPts val="250"/>
              </a:spcAft>
              <a:defRPr sz="720">
                <a:latin typeface="Times New Roman"/>
              </a:defRPr>
            </a:pPr>
            <a:r>
              <a:rPr b="1">
                <a:solidFill>
                  <a:srgbClr val="1F497D"/>
                </a:solidFill>
              </a:rPr>
              <a:t>• </a:t>
            </a:r>
            <a:r>
              <a:rPr b="1">
                <a:solidFill>
                  <a:srgbClr val="1E293B"/>
                </a:solidFill>
              </a:rPr>
              <a:t>Ed25519: </a:t>
            </a:r>
            <a:r>
              <a:rPr>
                <a:solidFill>
                  <a:srgbClr val="1E293B"/>
                </a:solidFill>
              </a:rPr>
              <a:t>RFC 8032 asymmetric signing &amp; verification.</a:t>
            </a:r>
          </a:p>
          <a:p>
            <a:pPr>
              <a:spcAft>
                <a:spcPts val="250"/>
              </a:spcAft>
              <a:defRPr sz="720">
                <a:latin typeface="Times New Roman"/>
              </a:defRPr>
            </a:pPr>
            <a:r>
              <a:rPr b="1">
                <a:solidFill>
                  <a:srgbClr val="1F497D"/>
                </a:solidFill>
              </a:rPr>
              <a:t>• </a:t>
            </a:r>
            <a:r>
              <a:rPr b="1">
                <a:solidFill>
                  <a:srgbClr val="1E293B"/>
                </a:solidFill>
              </a:rPr>
              <a:t>Verifiable Credentials: </a:t>
            </a:r>
            <a:r>
              <a:rPr>
                <a:solidFill>
                  <a:srgbClr val="1E293B"/>
                </a:solidFill>
              </a:rPr>
              <a:t>W3C VC 2.0 with SHA-256 hashes.</a:t>
            </a:r>
          </a:p>
          <a:p>
            <a:pPr>
              <a:spcAft>
                <a:spcPts val="250"/>
              </a:spcAft>
              <a:defRPr sz="720">
                <a:latin typeface="Times New Roman"/>
              </a:defRPr>
            </a:pPr>
            <a:r>
              <a:rPr b="1">
                <a:solidFill>
                  <a:srgbClr val="1F497D"/>
                </a:solidFill>
              </a:rPr>
              <a:t>• </a:t>
            </a:r>
            <a:r>
              <a:rPr b="1">
                <a:solidFill>
                  <a:srgbClr val="1E293B"/>
                </a:solidFill>
              </a:rPr>
              <a:t>Human Auth: </a:t>
            </a:r>
            <a:r>
              <a:rPr>
                <a:solidFill>
                  <a:srgbClr val="1E293B"/>
                </a:solidFill>
              </a:rPr>
              <a:t>Argon2id, 5-strike lockout, JWT, 3-tier RBAC.</a:t>
            </a:r>
          </a:p>
        </p:txBody>
      </p:sp>
      <p:sp>
        <p:nvSpPr>
          <p:cNvPr id="8" name="Rounded Rectangle 7"/>
          <p:cNvSpPr/>
          <p:nvPr/>
        </p:nvSpPr>
        <p:spPr>
          <a:xfrm>
            <a:off x="2551176" y="2907792"/>
            <a:ext cx="1947672" cy="2011680"/>
          </a:xfrm>
          <a:prstGeom prst="roundRect">
            <a:avLst/>
          </a:prstGeom>
          <a:solidFill>
            <a:srgbClr val="F0FDF4"/>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91440" bIns="73152"/>
          <a:lstStyle/>
          <a:p>
            <a:pPr algn="ctr">
              <a:spcAft>
                <a:spcPts val="400"/>
              </a:spcAft>
              <a:defRPr sz="1100" b="1">
                <a:solidFill>
                  <a:srgbClr val="15803D"/>
                </a:solidFill>
                <a:latin typeface="Times New Roman"/>
              </a:defRPr>
            </a:pPr>
            <a:r>
              <a:t>2. Trust Intelligence Engine</a:t>
            </a:r>
          </a:p>
          <a:p>
            <a:pPr>
              <a:spcAft>
                <a:spcPts val="250"/>
              </a:spcAft>
              <a:defRPr sz="720">
                <a:latin typeface="Times New Roman"/>
              </a:defRPr>
            </a:pPr>
            <a:r>
              <a:rPr b="1">
                <a:solidFill>
                  <a:srgbClr val="15803D"/>
                </a:solidFill>
              </a:rPr>
              <a:t>• </a:t>
            </a:r>
            <a:r>
              <a:rPr b="1">
                <a:solidFill>
                  <a:srgbClr val="1E293B"/>
                </a:solidFill>
              </a:rPr>
              <a:t>Telemetry: </a:t>
            </a:r>
            <a:r>
              <a:rPr>
                <a:solidFill>
                  <a:srgbClr val="1E293B"/>
                </a:solidFill>
              </a:rPr>
              <a:t>Real-time recording of Si, Ci, and Li.</a:t>
            </a:r>
          </a:p>
          <a:p>
            <a:pPr>
              <a:spcAft>
                <a:spcPts val="250"/>
              </a:spcAft>
              <a:defRPr sz="720">
                <a:latin typeface="Times New Roman"/>
              </a:defRPr>
            </a:pPr>
            <a:r>
              <a:rPr b="1">
                <a:solidFill>
                  <a:srgbClr val="15803D"/>
                </a:solidFill>
              </a:rPr>
              <a:t>• </a:t>
            </a:r>
            <a:r>
              <a:rPr b="1">
                <a:solidFill>
                  <a:srgbClr val="1E293B"/>
                </a:solidFill>
              </a:rPr>
              <a:t>Single-Period: </a:t>
            </a:r>
            <a:r>
              <a:rPr>
                <a:solidFill>
                  <a:srgbClr val="1E293B"/>
                </a:solidFill>
              </a:rPr>
              <a:t>Pi(t) = 0.6 Si + 0.3 Ci + 0.1(1 - Li).</a:t>
            </a:r>
          </a:p>
          <a:p>
            <a:pPr>
              <a:spcAft>
                <a:spcPts val="250"/>
              </a:spcAft>
              <a:defRPr sz="720">
                <a:latin typeface="Times New Roman"/>
              </a:defRPr>
            </a:pPr>
            <a:r>
              <a:rPr b="1">
                <a:solidFill>
                  <a:srgbClr val="15803D"/>
                </a:solidFill>
              </a:rPr>
              <a:t>• </a:t>
            </a:r>
            <a:r>
              <a:rPr b="1">
                <a:solidFill>
                  <a:srgbClr val="1E293B"/>
                </a:solidFill>
              </a:rPr>
              <a:t>Temporal EMA: </a:t>
            </a:r>
            <a:r>
              <a:rPr>
                <a:solidFill>
                  <a:srgbClr val="1E293B"/>
                </a:solidFill>
              </a:rPr>
              <a:t>Ti(t) = 0.70 Ti(t-1) + 0.30 Pi(t).</a:t>
            </a:r>
          </a:p>
          <a:p>
            <a:pPr>
              <a:spcAft>
                <a:spcPts val="250"/>
              </a:spcAft>
              <a:defRPr sz="720">
                <a:latin typeface="Times New Roman"/>
              </a:defRPr>
            </a:pPr>
            <a:r>
              <a:rPr b="1">
                <a:solidFill>
                  <a:srgbClr val="15803D"/>
                </a:solidFill>
              </a:rPr>
              <a:t>• </a:t>
            </a:r>
            <a:r>
              <a:rPr b="1">
                <a:solidFill>
                  <a:srgbClr val="1E293B"/>
                </a:solidFill>
              </a:rPr>
              <a:t>State Machine: </a:t>
            </a:r>
            <a:r>
              <a:rPr>
                <a:solidFill>
                  <a:srgbClr val="1E293B"/>
                </a:solidFill>
              </a:rPr>
              <a:t>TRUSTED, SUSPICIOUS, QUARANTINED, REVOKED.</a:t>
            </a:r>
          </a:p>
        </p:txBody>
      </p:sp>
      <p:sp>
        <p:nvSpPr>
          <p:cNvPr id="9" name="Rounded Rectangle 8"/>
          <p:cNvSpPr/>
          <p:nvPr/>
        </p:nvSpPr>
        <p:spPr>
          <a:xfrm>
            <a:off x="4645152" y="2907792"/>
            <a:ext cx="1947672" cy="2011680"/>
          </a:xfrm>
          <a:prstGeom prst="roundRect">
            <a:avLst/>
          </a:prstGeom>
          <a:solidFill>
            <a:srgbClr val="FEFCE8"/>
          </a:solidFill>
          <a:ln w="1524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91440" bIns="73152"/>
          <a:lstStyle/>
          <a:p>
            <a:pPr algn="ctr">
              <a:spcAft>
                <a:spcPts val="400"/>
              </a:spcAft>
              <a:defRPr sz="1100" b="1">
                <a:solidFill>
                  <a:srgbClr val="B45309"/>
                </a:solidFill>
                <a:latin typeface="Times New Roman"/>
              </a:defRPr>
            </a:pPr>
            <a:r>
              <a:t>3. Collaboration &amp; Workflows</a:t>
            </a:r>
          </a:p>
          <a:p>
            <a:pPr>
              <a:spcAft>
                <a:spcPts val="250"/>
              </a:spcAft>
              <a:defRPr sz="720">
                <a:latin typeface="Times New Roman"/>
              </a:defRPr>
            </a:pPr>
            <a:r>
              <a:rPr b="1">
                <a:solidFill>
                  <a:srgbClr val="B45309"/>
                </a:solidFill>
              </a:rPr>
              <a:t>• </a:t>
            </a:r>
            <a:r>
              <a:rPr b="1">
                <a:solidFill>
                  <a:srgbClr val="1E293B"/>
                </a:solidFill>
              </a:rPr>
              <a:t>Capability Discovery: </a:t>
            </a:r>
            <a:r>
              <a:rPr>
                <a:solidFill>
                  <a:srgbClr val="1E293B"/>
                </a:solidFill>
              </a:rPr>
              <a:t>Min-trust slider &amp; tag filters.</a:t>
            </a:r>
          </a:p>
          <a:p>
            <a:pPr>
              <a:spcAft>
                <a:spcPts val="250"/>
              </a:spcAft>
              <a:defRPr sz="720">
                <a:latin typeface="Times New Roman"/>
              </a:defRPr>
            </a:pPr>
            <a:r>
              <a:rPr b="1">
                <a:solidFill>
                  <a:srgbClr val="B45309"/>
                </a:solidFill>
              </a:rPr>
              <a:t>• </a:t>
            </a:r>
            <a:r>
              <a:rPr b="1">
                <a:solidFill>
                  <a:srgbClr val="1E293B"/>
                </a:solidFill>
              </a:rPr>
              <a:t>Explainable Exclusion: </a:t>
            </a:r>
            <a:r>
              <a:rPr>
                <a:solidFill>
                  <a:srgbClr val="1E293B"/>
                </a:solidFill>
              </a:rPr>
              <a:t>Transparent failure reasons.</a:t>
            </a:r>
          </a:p>
          <a:p>
            <a:pPr>
              <a:spcAft>
                <a:spcPts val="250"/>
              </a:spcAft>
              <a:defRPr sz="720">
                <a:latin typeface="Times New Roman"/>
              </a:defRPr>
            </a:pPr>
            <a:r>
              <a:rPr b="1">
                <a:solidFill>
                  <a:srgbClr val="B45309"/>
                </a:solidFill>
              </a:rPr>
              <a:t>• </a:t>
            </a:r>
            <a:r>
              <a:rPr b="1">
                <a:solidFill>
                  <a:srgbClr val="1E293B"/>
                </a:solidFill>
              </a:rPr>
              <a:t>MatchScore: </a:t>
            </a:r>
            <a:r>
              <a:rPr>
                <a:solidFill>
                  <a:srgbClr val="1E293B"/>
                </a:solidFill>
              </a:rPr>
              <a:t>0.4 T + 0.3(r/5) + 0.2 sigma + 0.1(1 - lambda).</a:t>
            </a:r>
          </a:p>
          <a:p>
            <a:pPr>
              <a:spcAft>
                <a:spcPts val="250"/>
              </a:spcAft>
              <a:defRPr sz="720">
                <a:latin typeface="Times New Roman"/>
              </a:defRPr>
            </a:pPr>
            <a:r>
              <a:rPr b="1">
                <a:solidFill>
                  <a:srgbClr val="B45309"/>
                </a:solidFill>
              </a:rPr>
              <a:t>• </a:t>
            </a:r>
            <a:r>
              <a:rPr b="1">
                <a:solidFill>
                  <a:srgbClr val="1E293B"/>
                </a:solidFill>
              </a:rPr>
              <a:t>Pipelines: </a:t>
            </a:r>
            <a:r>
              <a:rPr>
                <a:solidFill>
                  <a:srgbClr val="1E293B"/>
                </a:solidFill>
              </a:rPr>
              <a:t>Sequential runner with mid-run abort (T &lt; 0.50).</a:t>
            </a:r>
          </a:p>
        </p:txBody>
      </p:sp>
      <p:sp>
        <p:nvSpPr>
          <p:cNvPr id="10" name="Rounded Rectangle 9"/>
          <p:cNvSpPr/>
          <p:nvPr/>
        </p:nvSpPr>
        <p:spPr>
          <a:xfrm>
            <a:off x="6739128" y="2907792"/>
            <a:ext cx="1947672" cy="2011680"/>
          </a:xfrm>
          <a:prstGeom prst="roundRect">
            <a:avLst/>
          </a:prstGeom>
          <a:solidFill>
            <a:srgbClr val="F8FAFC"/>
          </a:solidFill>
          <a:ln w="15240">
            <a:solidFill>
              <a:srgbClr val="64748B"/>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91440" bIns="73152"/>
          <a:lstStyle/>
          <a:p>
            <a:pPr algn="ctr">
              <a:spcAft>
                <a:spcPts val="400"/>
              </a:spcAft>
              <a:defRPr sz="1100" b="1">
                <a:solidFill>
                  <a:srgbClr val="334155"/>
                </a:solidFill>
                <a:latin typeface="Times New Roman"/>
              </a:defRPr>
            </a:pPr>
            <a:r>
              <a:t>4. Verified Tech Stack</a:t>
            </a:r>
          </a:p>
          <a:p>
            <a:pPr>
              <a:spcAft>
                <a:spcPts val="250"/>
              </a:spcAft>
              <a:defRPr sz="720">
                <a:latin typeface="Times New Roman"/>
              </a:defRPr>
            </a:pPr>
            <a:r>
              <a:rPr b="1">
                <a:solidFill>
                  <a:srgbClr val="334155"/>
                </a:solidFill>
              </a:rPr>
              <a:t>• </a:t>
            </a:r>
            <a:r>
              <a:rPr b="1">
                <a:solidFill>
                  <a:srgbClr val="1E293B"/>
                </a:solidFill>
              </a:rPr>
              <a:t>Backend: </a:t>
            </a:r>
            <a:r>
              <a:rPr>
                <a:solidFill>
                  <a:srgbClr val="1E293B"/>
                </a:solidFill>
              </a:rPr>
              <a:t>Python 3.12, FastAPI (5 routers), Pydantic v2.</a:t>
            </a:r>
          </a:p>
          <a:p>
            <a:pPr>
              <a:spcAft>
                <a:spcPts val="250"/>
              </a:spcAft>
              <a:defRPr sz="720">
                <a:latin typeface="Times New Roman"/>
              </a:defRPr>
            </a:pPr>
            <a:r>
              <a:rPr b="1">
                <a:solidFill>
                  <a:srgbClr val="334155"/>
                </a:solidFill>
              </a:rPr>
              <a:t>• </a:t>
            </a:r>
            <a:r>
              <a:rPr b="1">
                <a:solidFill>
                  <a:srgbClr val="1E293B"/>
                </a:solidFill>
              </a:rPr>
              <a:t>VDR: </a:t>
            </a:r>
            <a:r>
              <a:rPr>
                <a:solidFill>
                  <a:srgbClr val="1E293B"/>
                </a:solidFill>
              </a:rPr>
              <a:t>SQLite 3 WAL mode (13 relational tables, ACID).</a:t>
            </a:r>
          </a:p>
          <a:p>
            <a:pPr>
              <a:spcAft>
                <a:spcPts val="250"/>
              </a:spcAft>
              <a:defRPr sz="720">
                <a:latin typeface="Times New Roman"/>
              </a:defRPr>
            </a:pPr>
            <a:r>
              <a:rPr b="1">
                <a:solidFill>
                  <a:srgbClr val="334155"/>
                </a:solidFill>
              </a:rPr>
              <a:t>• </a:t>
            </a:r>
            <a:r>
              <a:rPr b="1">
                <a:solidFill>
                  <a:srgbClr val="1E293B"/>
                </a:solidFill>
              </a:rPr>
              <a:t>Frontend: </a:t>
            </a:r>
            <a:r>
              <a:rPr>
                <a:solidFill>
                  <a:srgbClr val="1E293B"/>
                </a:solidFill>
              </a:rPr>
              <a:t>React 18/19, Vite 5, Tailwind CSS, Axios.</a:t>
            </a:r>
          </a:p>
          <a:p>
            <a:pPr>
              <a:spcAft>
                <a:spcPts val="250"/>
              </a:spcAft>
              <a:defRPr sz="720">
                <a:latin typeface="Times New Roman"/>
              </a:defRPr>
            </a:pPr>
            <a:r>
              <a:rPr b="1">
                <a:solidFill>
                  <a:srgbClr val="334155"/>
                </a:solidFill>
              </a:rPr>
              <a:t>• </a:t>
            </a:r>
            <a:r>
              <a:rPr b="1">
                <a:solidFill>
                  <a:srgbClr val="1E293B"/>
                </a:solidFill>
              </a:rPr>
              <a:t>Testing: </a:t>
            </a:r>
            <a:r>
              <a:rPr>
                <a:solidFill>
                  <a:srgbClr val="1E293B"/>
                </a:solidFill>
              </a:rPr>
              <a:t>Pytest 8.4, Oxlint linter, Docker container.</a:t>
            </a:r>
          </a:p>
        </p:txBody>
      </p:sp>
      <p:sp>
        <p:nvSpPr>
          <p:cNvPr id="11" name="Rectangle 10"/>
          <p:cNvSpPr/>
          <p:nvPr/>
        </p:nvSpPr>
        <p:spPr>
          <a:xfrm>
            <a:off x="457200" y="5010912"/>
            <a:ext cx="8229600" cy="1243584"/>
          </a:xfrm>
          <a:prstGeom prst="rect">
            <a:avLst/>
          </a:prstGeom>
          <a:solidFill>
            <a:srgbClr val="0F172A"/>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tIns="73152" lIns="137160" rIns="137160"/>
          <a:lstStyle/>
          <a:p>
            <a:pPr algn="ctr">
              <a:defRPr sz="1000" b="1">
                <a:solidFill>
                  <a:srgbClr val="38BDF8"/>
                </a:solidFill>
                <a:latin typeface="Times New Roman"/>
              </a:defRPr>
            </a:pPr>
            <a:r>
              <a:t>VERIFIED IMPLEMENTATION EVIDENCE &amp; REPRODUCIBILITY DOSSIER</a:t>
            </a:r>
          </a:p>
        </p:txBody>
      </p:sp>
      <p:sp>
        <p:nvSpPr>
          <p:cNvPr id="12" name="Rounded Rectangle 11"/>
          <p:cNvSpPr/>
          <p:nvPr/>
        </p:nvSpPr>
        <p:spPr>
          <a:xfrm>
            <a:off x="548640" y="5285232"/>
            <a:ext cx="1920240" cy="877824"/>
          </a:xfrm>
          <a:prstGeom prst="roundRect">
            <a:avLst/>
          </a:prstGeom>
          <a:solidFill>
            <a:srgbClr val="1E293B"/>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lIns="54864" rIns="54864" tIns="36576" bIns="18288"/>
          <a:lstStyle/>
          <a:p>
            <a:pPr algn="ctr">
              <a:defRPr sz="950" b="1">
                <a:solidFill>
                  <a:srgbClr val="10B981"/>
                </a:solidFill>
                <a:latin typeface="Times New Roman"/>
              </a:defRPr>
            </a:pPr>
            <a:r>
              <a:t>80 / 80 Tests Passed</a:t>
            </a:r>
          </a:p>
          <a:p>
            <a:pPr algn="ctr">
              <a:defRPr sz="750" b="1">
                <a:solidFill>
                  <a:srgbClr val="FFFFFF"/>
                </a:solidFill>
                <a:latin typeface="Times New Roman"/>
              </a:defRPr>
            </a:pPr>
            <a:r>
              <a:t>100% Pass Rate (18.76s)</a:t>
            </a:r>
          </a:p>
          <a:p>
            <a:pPr algn="ctr">
              <a:defRPr sz="680">
                <a:solidFill>
                  <a:srgbClr val="CBD5E1"/>
                </a:solidFill>
                <a:latin typeface="Times New Roman"/>
              </a:defRPr>
            </a:pPr>
            <a:r>
              <a:t>Pytest 8.4 across 7 test suites:</a:t>
            </a:r>
            <a:br/>
            <a:r>
              <a:t>DID, VC, Trust, Auth, Matching.</a:t>
            </a:r>
          </a:p>
        </p:txBody>
      </p:sp>
      <p:sp>
        <p:nvSpPr>
          <p:cNvPr id="13" name="Rounded Rectangle 12"/>
          <p:cNvSpPr/>
          <p:nvPr/>
        </p:nvSpPr>
        <p:spPr>
          <a:xfrm>
            <a:off x="2578608" y="5285232"/>
            <a:ext cx="1920240" cy="877824"/>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lIns="54864" rIns="54864" tIns="36576" bIns="18288"/>
          <a:lstStyle/>
          <a:p>
            <a:pPr algn="ctr">
              <a:defRPr sz="950" b="1">
                <a:solidFill>
                  <a:srgbClr val="38BDF8"/>
                </a:solidFill>
                <a:latin typeface="Times New Roman"/>
              </a:defRPr>
            </a:pPr>
            <a:r>
              <a:t>2,478 Modules Built</a:t>
            </a:r>
          </a:p>
          <a:p>
            <a:pPr algn="ctr">
              <a:defRPr sz="750" b="1">
                <a:solidFill>
                  <a:srgbClr val="FFFFFF"/>
                </a:solidFill>
                <a:latin typeface="Times New Roman"/>
              </a:defRPr>
            </a:pPr>
            <a:r>
              <a:t>Production Vite 5 Build</a:t>
            </a:r>
          </a:p>
          <a:p>
            <a:pPr algn="ctr">
              <a:defRPr sz="680">
                <a:solidFill>
                  <a:srgbClr val="CBD5E1"/>
                </a:solidFill>
                <a:latin typeface="Times New Roman"/>
              </a:defRPr>
            </a:pPr>
            <a:r>
              <a:t>Clean frontend bundle compile;</a:t>
            </a:r>
            <a:br/>
            <a:r>
              <a:t>0 syntax errors, 0 linter flaws.</a:t>
            </a:r>
          </a:p>
        </p:txBody>
      </p:sp>
      <p:sp>
        <p:nvSpPr>
          <p:cNvPr id="14" name="Rounded Rectangle 13"/>
          <p:cNvSpPr/>
          <p:nvPr/>
        </p:nvSpPr>
        <p:spPr>
          <a:xfrm>
            <a:off x="4608576" y="5285232"/>
            <a:ext cx="1920240" cy="877824"/>
          </a:xfrm>
          <a:prstGeom prst="roundRect">
            <a:avLst/>
          </a:prstGeom>
          <a:solidFill>
            <a:srgbClr val="1E293B"/>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lIns="54864" rIns="54864" tIns="36576" bIns="18288"/>
          <a:lstStyle/>
          <a:p>
            <a:pPr algn="ctr">
              <a:defRPr sz="950" b="1">
                <a:solidFill>
                  <a:srgbClr val="F59E0B"/>
                </a:solidFill>
                <a:latin typeface="Times New Roman"/>
              </a:defRPr>
            </a:pPr>
            <a:r>
              <a:t>13 VDR Tables</a:t>
            </a:r>
          </a:p>
          <a:p>
            <a:pPr algn="ctr">
              <a:defRPr sz="750" b="1">
                <a:solidFill>
                  <a:srgbClr val="FFFFFF"/>
                </a:solidFill>
                <a:latin typeface="Times New Roman"/>
              </a:defRPr>
            </a:pPr>
            <a:r>
              <a:t>SQLite WAL Persistence</a:t>
            </a:r>
          </a:p>
          <a:p>
            <a:pPr algn="ctr">
              <a:defRPr sz="680">
                <a:solidFill>
                  <a:srgbClr val="CBD5E1"/>
                </a:solidFill>
                <a:latin typeface="Times New Roman"/>
              </a:defRPr>
            </a:pPr>
            <a:r>
              <a:t>Relational ACID audit ledger;</a:t>
            </a:r>
            <a:br/>
            <a:r>
              <a:t>Foreign-key enforced integrity.</a:t>
            </a:r>
          </a:p>
        </p:txBody>
      </p:sp>
      <p:sp>
        <p:nvSpPr>
          <p:cNvPr id="15" name="Rounded Rectangle 14"/>
          <p:cNvSpPr/>
          <p:nvPr/>
        </p:nvSpPr>
        <p:spPr>
          <a:xfrm>
            <a:off x="6638544" y="5285232"/>
            <a:ext cx="1920240" cy="877824"/>
          </a:xfrm>
          <a:prstGeom prst="roundRect">
            <a:avLst/>
          </a:prstGeom>
          <a:solidFill>
            <a:srgbClr val="1E293B"/>
          </a:solidFill>
          <a:ln w="1270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lIns="54864" rIns="54864" tIns="36576" bIns="18288"/>
          <a:lstStyle/>
          <a:p>
            <a:pPr algn="ctr">
              <a:defRPr sz="950" b="1">
                <a:solidFill>
                  <a:srgbClr val="A855F7"/>
                </a:solidFill>
                <a:latin typeface="Times New Roman"/>
              </a:defRPr>
            </a:pPr>
            <a:r>
              <a:t>5 REST Routers</a:t>
            </a:r>
          </a:p>
          <a:p>
            <a:pPr algn="ctr">
              <a:defRPr sz="750" b="1">
                <a:solidFill>
                  <a:srgbClr val="FFFFFF"/>
                </a:solidFill>
                <a:latin typeface="Times New Roman"/>
              </a:defRPr>
            </a:pPr>
            <a:r>
              <a:t>FastAPI Endpoints</a:t>
            </a:r>
          </a:p>
          <a:p>
            <a:pPr algn="ctr">
              <a:defRPr sz="680">
                <a:solidFill>
                  <a:srgbClr val="CBD5E1"/>
                </a:solidFill>
                <a:latin typeface="Times New Roman"/>
              </a:defRPr>
            </a:pPr>
            <a:r>
              <a:t>/agents, /trust, /discovery,</a:t>
            </a:r>
            <a:br/>
            <a:r>
              <a:t>/collaboration, /audit live.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02920"/>
          </a:xfrm>
          <a:prstGeom prst="rect">
            <a:avLst/>
          </a:prstGeom>
          <a:noFill/>
        </p:spPr>
        <p:txBody>
          <a:bodyPr wrap="square" lIns="0" tIns="0" rIns="0" bIns="0">
            <a:spAutoFit/>
          </a:bodyPr>
          <a:lstStyle/>
          <a:p>
            <a:pPr>
              <a:defRPr sz="2200" b="1">
                <a:solidFill>
                  <a:srgbClr val="1F497D"/>
                </a:solidFill>
                <a:latin typeface="Times New Roman"/>
              </a:defRPr>
            </a:pPr>
            <a:r>
              <a:t>Results Analysis &amp; Evaluation</a:t>
            </a:r>
          </a:p>
        </p:txBody>
      </p:sp>
      <p:sp>
        <p:nvSpPr>
          <p:cNvPr id="3" name="TextBox 2"/>
          <p:cNvSpPr txBox="1"/>
          <p:nvPr/>
        </p:nvSpPr>
        <p:spPr>
          <a:xfrm>
            <a:off x="457200" y="804672"/>
            <a:ext cx="8229600" cy="256032"/>
          </a:xfrm>
          <a:prstGeom prst="rect">
            <a:avLst/>
          </a:prstGeom>
          <a:noFill/>
        </p:spPr>
        <p:txBody>
          <a:bodyPr wrap="square" lIns="0" tIns="0" rIns="0" bIns="0">
            <a:spAutoFit/>
          </a:bodyPr>
          <a:lstStyle/>
          <a:p>
            <a:pPr>
              <a:defRPr sz="1000" i="1">
                <a:solidFill>
                  <a:srgbClr val="64748B"/>
                </a:solidFill>
                <a:latin typeface="Times New Roman"/>
              </a:defRPr>
            </a:pPr>
            <a:r>
              <a:t>Dynamic Trust Evaluation • Adaptive Authorization Matrix • Empirical Validation Metrics</a:t>
            </a:r>
          </a:p>
        </p:txBody>
      </p:sp>
      <p:sp>
        <p:nvSpPr>
          <p:cNvPr id="4" name="TextBox 3"/>
          <p:cNvSpPr txBox="1"/>
          <p:nvPr/>
        </p:nvSpPr>
        <p:spPr>
          <a:xfrm>
            <a:off x="6547104" y="6355080"/>
            <a:ext cx="2130552" cy="320040"/>
          </a:xfrm>
          <a:prstGeom prst="rect">
            <a:avLst/>
          </a:prstGeom>
          <a:noFill/>
        </p:spPr>
        <p:txBody>
          <a:bodyPr wrap="none" lIns="0" tIns="0" rIns="0" bIns="0">
            <a:spAutoFit/>
          </a:bodyPr>
          <a:lstStyle/>
          <a:p>
            <a:pPr algn="r">
              <a:defRPr sz="1200">
                <a:solidFill>
                  <a:srgbClr val="64748B"/>
                </a:solidFill>
                <a:latin typeface="Times New Roman"/>
              </a:defRPr>
            </a:pPr>
            <a:r>
              <a:t>28</a:t>
            </a:r>
          </a:p>
        </p:txBody>
      </p:sp>
      <p:sp>
        <p:nvSpPr>
          <p:cNvPr id="5" name="Rounded Rectangle 4"/>
          <p:cNvSpPr/>
          <p:nvPr/>
        </p:nvSpPr>
        <p:spPr>
          <a:xfrm>
            <a:off x="457200" y="1115568"/>
            <a:ext cx="4005072" cy="1572768"/>
          </a:xfrm>
          <a:prstGeom prst="roundRect">
            <a:avLst/>
          </a:prstGeom>
          <a:solidFill>
            <a:srgbClr val="EFF6FF"/>
          </a:solidFill>
          <a:ln w="15240">
            <a:solidFill>
              <a:srgbClr val="1F497D"/>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54864"/>
          <a:lstStyle/>
          <a:p>
            <a:pPr algn="ctr">
              <a:spcAft>
                <a:spcPts val="200"/>
              </a:spcAft>
              <a:defRPr sz="1050" b="1">
                <a:solidFill>
                  <a:srgbClr val="1F497D"/>
                </a:solidFill>
                <a:latin typeface="Times New Roman"/>
              </a:defRPr>
            </a:pPr>
            <a:r>
              <a:t>1. Dynamic Trust Formulation &amp; Degradation Dynamics</a:t>
            </a:r>
          </a:p>
          <a:p>
            <a:pPr>
              <a:spcAft>
                <a:spcPts val="150"/>
              </a:spcAft>
              <a:defRPr sz="780">
                <a:solidFill>
                  <a:srgbClr val="1E293B"/>
                </a:solidFill>
                <a:latin typeface="Times New Roman"/>
              </a:defRPr>
            </a:pPr>
            <a:r>
              <a:t>• Single-Period Score: Pi(t) = 0.60 Si(t) + 0.30 Ci(t) + 0.10 (1 - Li(t))</a:t>
            </a:r>
          </a:p>
          <a:p>
            <a:pPr>
              <a:spcAft>
                <a:spcPts val="150"/>
              </a:spcAft>
              <a:defRPr sz="780">
                <a:solidFill>
                  <a:srgbClr val="1E293B"/>
                </a:solidFill>
                <a:latin typeface="Times New Roman"/>
              </a:defRPr>
            </a:pPr>
            <a:r>
              <a:t>• Temporal Trust (EMA): Ti(t) = 0.70 Ti(t-1) + 0.30 Pi(t) (lambda = 0.70)</a:t>
            </a:r>
          </a:p>
          <a:p>
            <a:pPr>
              <a:spcAft>
                <a:spcPts val="150"/>
              </a:spcAft>
              <a:defRPr sz="780">
                <a:solidFill>
                  <a:srgbClr val="1E293B"/>
                </a:solidFill>
                <a:latin typeface="Times New Roman"/>
              </a:defRPr>
            </a:pPr>
            <a:r>
              <a:t>• Degradation Dynamics: Consistent success asymptotes toward 1.00; injected compliance failures or latency cause immediate drop into SUSPICIOUS (0.74 -&gt; 0.61).</a:t>
            </a:r>
          </a:p>
          <a:p>
            <a:pPr>
              <a:spcAft>
                <a:spcPts val="150"/>
              </a:spcAft>
              <a:defRPr sz="780">
                <a:solidFill>
                  <a:srgbClr val="1E293B"/>
                </a:solidFill>
                <a:latin typeface="Times New Roman"/>
              </a:defRPr>
            </a:pPr>
            <a:r>
              <a:t>• Verification Scope: 10-round trajectory serves as an illustrative benchmark; test suite validates exact numerical bounds and deterministic state transitions.</a:t>
            </a:r>
          </a:p>
        </p:txBody>
      </p:sp>
      <p:sp>
        <p:nvSpPr>
          <p:cNvPr id="6" name="Rounded Rectangle 5"/>
          <p:cNvSpPr/>
          <p:nvPr/>
        </p:nvSpPr>
        <p:spPr>
          <a:xfrm>
            <a:off x="4681728" y="1115568"/>
            <a:ext cx="4005072" cy="1572768"/>
          </a:xfrm>
          <a:prstGeom prst="roundRect">
            <a:avLst/>
          </a:prstGeom>
          <a:solidFill>
            <a:srgbClr val="F0FDF4"/>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54864"/>
          <a:lstStyle/>
          <a:p>
            <a:pPr algn="ctr">
              <a:spcAft>
                <a:spcPts val="200"/>
              </a:spcAft>
              <a:defRPr sz="1050" b="1">
                <a:solidFill>
                  <a:srgbClr val="15803D"/>
                </a:solidFill>
                <a:latin typeface="Times New Roman"/>
              </a:defRPr>
            </a:pPr>
            <a:r>
              <a:t>2. Two-Phase Agent Delegation: Discovery vs. Matching</a:t>
            </a:r>
          </a:p>
          <a:p>
            <a:pPr>
              <a:spcAft>
                <a:spcPts val="150"/>
              </a:spcAft>
              <a:defRPr sz="780">
                <a:solidFill>
                  <a:srgbClr val="1E293B"/>
                </a:solidFill>
                <a:latin typeface="Times New Roman"/>
              </a:defRPr>
            </a:pPr>
            <a:r>
              <a:t>• Phase 1 - Discovery (Eligibility): Boolean filter over capability tags, minimum trust slider (0.00-1.00), availability status (AVAILABLE), and HTTP health probe.</a:t>
            </a:r>
          </a:p>
          <a:p>
            <a:pPr>
              <a:spcAft>
                <a:spcPts val="150"/>
              </a:spcAft>
              <a:defRPr sz="780">
                <a:solidFill>
                  <a:srgbClr val="1E293B"/>
                </a:solidFill>
                <a:latin typeface="Times New Roman"/>
              </a:defRPr>
            </a:pPr>
            <a:r>
              <a:t>• Explainable Exclusion: Excluded agents are not silently omitted; clear rationale provided (e.g. 'Trust 0.42 &lt; 0.80 requested', 'BUSY on active session').</a:t>
            </a:r>
          </a:p>
          <a:p>
            <a:pPr>
              <a:spcAft>
                <a:spcPts val="150"/>
              </a:spcAft>
              <a:defRPr sz="780">
                <a:solidFill>
                  <a:srgbClr val="1E293B"/>
                </a:solidFill>
                <a:latin typeface="Times New Roman"/>
              </a:defRPr>
            </a:pPr>
            <a:r>
              <a:t>• Phase 2 - Matching (Multi-Factor Ranker): Multi-objective weighted ranker:</a:t>
            </a:r>
            <a:br/>
            <a:r>
              <a:t>  MatchScore = 0.40 T + 0.30 (r / 5) + 0.20 sigma + 0.10 (1 - lambda)</a:t>
            </a:r>
          </a:p>
          <a:p>
            <a:pPr>
              <a:spcAft>
                <a:spcPts val="150"/>
              </a:spcAft>
              <a:defRPr sz="780">
                <a:solidFill>
                  <a:srgbClr val="1E293B"/>
                </a:solidFill>
                <a:latin typeface="Times New Roman"/>
              </a:defRPr>
            </a:pPr>
            <a:r>
              <a:t>• Zero-Trust Policy Clamp: QUARANTINED (&lt;0.50) or REVOKED agents are hard-capped to 0.000 ('REJECTED BY POLICY') regardless of reputation.</a:t>
            </a:r>
          </a:p>
        </p:txBody>
      </p:sp>
      <p:graphicFrame>
        <p:nvGraphicFramePr>
          <p:cNvPr id="7" name="Table 6"/>
          <p:cNvGraphicFramePr>
            <a:graphicFrameLocks noGrp="1"/>
          </p:cNvGraphicFramePr>
          <p:nvPr/>
        </p:nvGraphicFramePr>
        <p:xfrm>
          <a:off x="457200" y="2761488"/>
          <a:ext cx="8229600" cy="1691640"/>
        </p:xfrm>
        <a:graphic>
          <a:graphicData uri="http://schemas.openxmlformats.org/drawingml/2006/table">
            <a:tbl>
              <a:tblPr firstRow="1" bandRow="1">
                <a:tableStyleId>{5C22544A-7EE6-4342-B048-85BDC9FD1C3A}</a:tableStyleId>
              </a:tblPr>
              <a:tblGrid>
                <a:gridCol w="1188720"/>
                <a:gridCol w="868680"/>
                <a:gridCol w="2057400"/>
                <a:gridCol w="960120"/>
                <a:gridCol w="1051560"/>
                <a:gridCol w="2103120"/>
              </a:tblGrid>
              <a:tr h="338328">
                <a:tc>
                  <a:txBody>
                    <a:bodyPr/>
                    <a:lstStyle/>
                    <a:p>
                      <a:pPr algn="ctr">
                        <a:defRPr sz="850" b="1">
                          <a:solidFill>
                            <a:srgbClr val="FFFFFF"/>
                          </a:solidFill>
                          <a:latin typeface="Times New Roman"/>
                        </a:defRPr>
                      </a:pPr>
                      <a:r>
                        <a:t>Trust State</a:t>
                      </a:r>
                    </a:p>
                  </a:txBody>
                  <a:tcPr anchor="ctr">
                    <a:solidFill>
                      <a:srgbClr val="1F497D"/>
                    </a:solidFill>
                  </a:tcPr>
                </a:tc>
                <a:tc>
                  <a:txBody>
                    <a:bodyPr/>
                    <a:lstStyle/>
                    <a:p>
                      <a:pPr algn="ctr">
                        <a:defRPr sz="850" b="1">
                          <a:solidFill>
                            <a:srgbClr val="FFFFFF"/>
                          </a:solidFill>
                          <a:latin typeface="Times New Roman"/>
                        </a:defRPr>
                      </a:pPr>
                      <a:r>
                        <a:t>Score Range</a:t>
                      </a:r>
                    </a:p>
                  </a:txBody>
                  <a:tcPr anchor="ctr">
                    <a:solidFill>
                      <a:srgbClr val="1F497D"/>
                    </a:solidFill>
                  </a:tcPr>
                </a:tc>
                <a:tc>
                  <a:txBody>
                    <a:bodyPr/>
                    <a:lstStyle/>
                    <a:p>
                      <a:pPr algn="ctr">
                        <a:defRPr sz="850" b="1">
                          <a:solidFill>
                            <a:srgbClr val="FFFFFF"/>
                          </a:solidFill>
                          <a:latin typeface="Times New Roman"/>
                        </a:defRPr>
                      </a:pPr>
                      <a:r>
                        <a:t>Operational Permissions</a:t>
                      </a:r>
                    </a:p>
                  </a:txBody>
                  <a:tcPr anchor="ctr">
                    <a:solidFill>
                      <a:srgbClr val="1F497D"/>
                    </a:solidFill>
                  </a:tcPr>
                </a:tc>
                <a:tc>
                  <a:txBody>
                    <a:bodyPr/>
                    <a:lstStyle/>
                    <a:p>
                      <a:pPr algn="ctr">
                        <a:defRPr sz="850" b="1">
                          <a:solidFill>
                            <a:srgbClr val="FFFFFF"/>
                          </a:solidFill>
                          <a:latin typeface="Times New Roman"/>
                        </a:defRPr>
                      </a:pPr>
                      <a:r>
                        <a:t>Rate Limit</a:t>
                      </a:r>
                    </a:p>
                  </a:txBody>
                  <a:tcPr anchor="ctr">
                    <a:solidFill>
                      <a:srgbClr val="1F497D"/>
                    </a:solidFill>
                  </a:tcPr>
                </a:tc>
                <a:tc>
                  <a:txBody>
                    <a:bodyPr/>
                    <a:lstStyle/>
                    <a:p>
                      <a:pPr algn="ctr">
                        <a:defRPr sz="850" b="1">
                          <a:solidFill>
                            <a:srgbClr val="FFFFFF"/>
                          </a:solidFill>
                          <a:latin typeface="Times New Roman"/>
                        </a:defRPr>
                      </a:pPr>
                      <a:r>
                        <a:t>Telemetry Rate</a:t>
                      </a:r>
                    </a:p>
                  </a:txBody>
                  <a:tcPr anchor="ctr">
                    <a:solidFill>
                      <a:srgbClr val="1F497D"/>
                    </a:solidFill>
                  </a:tcPr>
                </a:tc>
                <a:tc>
                  <a:txBody>
                    <a:bodyPr/>
                    <a:lstStyle/>
                    <a:p>
                      <a:pPr algn="ctr">
                        <a:defRPr sz="850" b="1">
                          <a:solidFill>
                            <a:srgbClr val="FFFFFF"/>
                          </a:solidFill>
                          <a:latin typeface="Times New Roman"/>
                        </a:defRPr>
                      </a:pPr>
                      <a:r>
                        <a:t>Adaptive Enforcement Action</a:t>
                      </a:r>
                    </a:p>
                  </a:txBody>
                  <a:tcPr anchor="ctr">
                    <a:solidFill>
                      <a:srgbClr val="1F497D"/>
                    </a:solidFill>
                  </a:tcPr>
                </a:tc>
              </a:tr>
              <a:tr h="338328">
                <a:tc>
                  <a:txBody>
                    <a:bodyPr/>
                    <a:lstStyle/>
                    <a:p>
                      <a:pPr algn="ctr">
                        <a:defRPr sz="800" b="1">
                          <a:solidFill>
                            <a:srgbClr val="16A34A"/>
                          </a:solidFill>
                          <a:latin typeface="Times New Roman"/>
                        </a:defRPr>
                      </a:pPr>
                      <a:r>
                        <a:t>TRUSTED</a:t>
                      </a:r>
                    </a:p>
                  </a:txBody>
                  <a:tcPr anchor="ctr">
                    <a:solidFill>
                      <a:srgbClr val="F0FDF4"/>
                    </a:solidFill>
                  </a:tcPr>
                </a:tc>
                <a:tc>
                  <a:txBody>
                    <a:bodyPr/>
                    <a:lstStyle/>
                    <a:p>
                      <a:pPr algn="ctr">
                        <a:defRPr sz="800">
                          <a:solidFill>
                            <a:srgbClr val="1E293B"/>
                          </a:solidFill>
                          <a:latin typeface="Times New Roman"/>
                        </a:defRPr>
                      </a:pPr>
                      <a:r>
                        <a:t>T &gt;= 0.80</a:t>
                      </a:r>
                    </a:p>
                  </a:txBody>
                  <a:tcPr anchor="ctr">
                    <a:solidFill>
                      <a:srgbClr val="F0FDF4"/>
                    </a:solidFill>
                  </a:tcPr>
                </a:tc>
                <a:tc>
                  <a:txBody>
                    <a:bodyPr/>
                    <a:lstStyle/>
                    <a:p>
                      <a:pPr algn="l">
                        <a:defRPr sz="800">
                          <a:solidFill>
                            <a:srgbClr val="1E293B"/>
                          </a:solidFill>
                          <a:latin typeface="Times New Roman"/>
                        </a:defRPr>
                      </a:pPr>
                      <a:r>
                        <a:t>Full collaboration, cross-domain workflows</a:t>
                      </a:r>
                    </a:p>
                  </a:txBody>
                  <a:tcPr anchor="ctr">
                    <a:solidFill>
                      <a:srgbClr val="F0FDF4"/>
                    </a:solidFill>
                  </a:tcPr>
                </a:tc>
                <a:tc>
                  <a:txBody>
                    <a:bodyPr/>
                    <a:lstStyle/>
                    <a:p>
                      <a:pPr algn="ctr">
                        <a:defRPr sz="800">
                          <a:solidFill>
                            <a:srgbClr val="1E293B"/>
                          </a:solidFill>
                          <a:latin typeface="Times New Roman"/>
                        </a:defRPr>
                      </a:pPr>
                      <a:r>
                        <a:t>100 req/min</a:t>
                      </a:r>
                    </a:p>
                  </a:txBody>
                  <a:tcPr anchor="ctr">
                    <a:solidFill>
                      <a:srgbClr val="F0FDF4"/>
                    </a:solidFill>
                  </a:tcPr>
                </a:tc>
                <a:tc>
                  <a:txBody>
                    <a:bodyPr/>
                    <a:lstStyle/>
                    <a:p>
                      <a:pPr algn="ctr">
                        <a:defRPr sz="800">
                          <a:solidFill>
                            <a:srgbClr val="1E293B"/>
                          </a:solidFill>
                          <a:latin typeface="Times New Roman"/>
                        </a:defRPr>
                      </a:pPr>
                      <a:r>
                        <a:t>Standard (60s)</a:t>
                      </a:r>
                    </a:p>
                  </a:txBody>
                  <a:tcPr anchor="ctr">
                    <a:solidFill>
                      <a:srgbClr val="F0FDF4"/>
                    </a:solidFill>
                  </a:tcPr>
                </a:tc>
                <a:tc>
                  <a:txBody>
                    <a:bodyPr/>
                    <a:lstStyle/>
                    <a:p>
                      <a:pPr algn="l">
                        <a:defRPr sz="800">
                          <a:solidFill>
                            <a:srgbClr val="1E293B"/>
                          </a:solidFill>
                          <a:latin typeface="Times New Roman"/>
                        </a:defRPr>
                      </a:pPr>
                      <a:r>
                        <a:t>Unrestricted autonomous execution</a:t>
                      </a:r>
                    </a:p>
                  </a:txBody>
                  <a:tcPr anchor="ctr">
                    <a:solidFill>
                      <a:srgbClr val="F0FDF4"/>
                    </a:solidFill>
                  </a:tcPr>
                </a:tc>
              </a:tr>
              <a:tr h="338328">
                <a:tc>
                  <a:txBody>
                    <a:bodyPr/>
                    <a:lstStyle/>
                    <a:p>
                      <a:pPr algn="ctr">
                        <a:defRPr sz="800" b="1">
                          <a:solidFill>
                            <a:srgbClr val="D97706"/>
                          </a:solidFill>
                          <a:latin typeface="Times New Roman"/>
                        </a:defRPr>
                      </a:pPr>
                      <a:r>
                        <a:t>SUSPICIOUS</a:t>
                      </a:r>
                    </a:p>
                  </a:txBody>
                  <a:tcPr anchor="ctr">
                    <a:solidFill>
                      <a:srgbClr val="FEF3C7"/>
                    </a:solidFill>
                  </a:tcPr>
                </a:tc>
                <a:tc>
                  <a:txBody>
                    <a:bodyPr/>
                    <a:lstStyle/>
                    <a:p>
                      <a:pPr algn="ctr">
                        <a:defRPr sz="800">
                          <a:solidFill>
                            <a:srgbClr val="1E293B"/>
                          </a:solidFill>
                          <a:latin typeface="Times New Roman"/>
                        </a:defRPr>
                      </a:pPr>
                      <a:r>
                        <a:t>0.50 &lt;= T &lt; 0.80</a:t>
                      </a:r>
                    </a:p>
                  </a:txBody>
                  <a:tcPr anchor="ctr">
                    <a:solidFill>
                      <a:srgbClr val="FEF3C7"/>
                    </a:solidFill>
                  </a:tcPr>
                </a:tc>
                <a:tc>
                  <a:txBody>
                    <a:bodyPr/>
                    <a:lstStyle/>
                    <a:p>
                      <a:pPr algn="l">
                        <a:defRPr sz="800">
                          <a:solidFill>
                            <a:srgbClr val="1E293B"/>
                          </a:solidFill>
                          <a:latin typeface="Times New Roman"/>
                        </a:defRPr>
                      </a:pPr>
                      <a:r>
                        <a:t>Low-risk &amp; read-only tasks; no privileged ops</a:t>
                      </a:r>
                    </a:p>
                  </a:txBody>
                  <a:tcPr anchor="ctr">
                    <a:solidFill>
                      <a:srgbClr val="FEF3C7"/>
                    </a:solidFill>
                  </a:tcPr>
                </a:tc>
                <a:tc>
                  <a:txBody>
                    <a:bodyPr/>
                    <a:lstStyle/>
                    <a:p>
                      <a:pPr algn="ctr">
                        <a:defRPr sz="800">
                          <a:solidFill>
                            <a:srgbClr val="1E293B"/>
                          </a:solidFill>
                          <a:latin typeface="Times New Roman"/>
                        </a:defRPr>
                      </a:pPr>
                      <a:r>
                        <a:t>20 req/min</a:t>
                      </a:r>
                    </a:p>
                  </a:txBody>
                  <a:tcPr anchor="ctr">
                    <a:solidFill>
                      <a:srgbClr val="FEF3C7"/>
                    </a:solidFill>
                  </a:tcPr>
                </a:tc>
                <a:tc>
                  <a:txBody>
                    <a:bodyPr/>
                    <a:lstStyle/>
                    <a:p>
                      <a:pPr algn="ctr">
                        <a:defRPr sz="800">
                          <a:solidFill>
                            <a:srgbClr val="1E293B"/>
                          </a:solidFill>
                          <a:latin typeface="Times New Roman"/>
                        </a:defRPr>
                      </a:pPr>
                      <a:r>
                        <a:t>High-Freq (10s)</a:t>
                      </a:r>
                    </a:p>
                  </a:txBody>
                  <a:tcPr anchor="ctr">
                    <a:solidFill>
                      <a:srgbClr val="FEF3C7"/>
                    </a:solidFill>
                  </a:tcPr>
                </a:tc>
                <a:tc>
                  <a:txBody>
                    <a:bodyPr/>
                    <a:lstStyle/>
                    <a:p>
                      <a:pPr algn="l">
                        <a:defRPr sz="800">
                          <a:solidFill>
                            <a:srgbClr val="1E293B"/>
                          </a:solidFill>
                          <a:latin typeface="Times New Roman"/>
                        </a:defRPr>
                      </a:pPr>
                      <a:r>
                        <a:t>Heightened scrutiny, warning alerts logged</a:t>
                      </a:r>
                    </a:p>
                  </a:txBody>
                  <a:tcPr anchor="ctr">
                    <a:solidFill>
                      <a:srgbClr val="FEF3C7"/>
                    </a:solidFill>
                  </a:tcPr>
                </a:tc>
              </a:tr>
              <a:tr h="338328">
                <a:tc>
                  <a:txBody>
                    <a:bodyPr/>
                    <a:lstStyle/>
                    <a:p>
                      <a:pPr algn="ctr">
                        <a:defRPr sz="800" b="1">
                          <a:solidFill>
                            <a:srgbClr val="DC2626"/>
                          </a:solidFill>
                          <a:latin typeface="Times New Roman"/>
                        </a:defRPr>
                      </a:pPr>
                      <a:r>
                        <a:t>QUARANTINED</a:t>
                      </a:r>
                    </a:p>
                  </a:txBody>
                  <a:tcPr anchor="ctr">
                    <a:solidFill>
                      <a:srgbClr val="FEF2F2"/>
                    </a:solidFill>
                  </a:tcPr>
                </a:tc>
                <a:tc>
                  <a:txBody>
                    <a:bodyPr/>
                    <a:lstStyle/>
                    <a:p>
                      <a:pPr algn="ctr">
                        <a:defRPr sz="800">
                          <a:solidFill>
                            <a:srgbClr val="1E293B"/>
                          </a:solidFill>
                          <a:latin typeface="Times New Roman"/>
                        </a:defRPr>
                      </a:pPr>
                      <a:r>
                        <a:t>T &lt; 0.50</a:t>
                      </a:r>
                    </a:p>
                  </a:txBody>
                  <a:tcPr anchor="ctr">
                    <a:solidFill>
                      <a:srgbClr val="FEF2F2"/>
                    </a:solidFill>
                  </a:tcPr>
                </a:tc>
                <a:tc>
                  <a:txBody>
                    <a:bodyPr/>
                    <a:lstStyle/>
                    <a:p>
                      <a:pPr algn="l">
                        <a:defRPr sz="800">
                          <a:solidFill>
                            <a:srgbClr val="1E293B"/>
                          </a:solidFill>
                          <a:latin typeface="Times New Roman"/>
                        </a:defRPr>
                      </a:pPr>
                      <a:r>
                        <a:t>Zero execution; sandbox isolation only</a:t>
                      </a:r>
                    </a:p>
                  </a:txBody>
                  <a:tcPr anchor="ctr">
                    <a:solidFill>
                      <a:srgbClr val="FEF2F2"/>
                    </a:solidFill>
                  </a:tcPr>
                </a:tc>
                <a:tc>
                  <a:txBody>
                    <a:bodyPr/>
                    <a:lstStyle/>
                    <a:p>
                      <a:pPr algn="ctr">
                        <a:defRPr sz="800">
                          <a:solidFill>
                            <a:srgbClr val="1E293B"/>
                          </a:solidFill>
                          <a:latin typeface="Times New Roman"/>
                        </a:defRPr>
                      </a:pPr>
                      <a:r>
                        <a:t>0 req/min (blocked)</a:t>
                      </a:r>
                    </a:p>
                  </a:txBody>
                  <a:tcPr anchor="ctr">
                    <a:solidFill>
                      <a:srgbClr val="FEF2F2"/>
                    </a:solidFill>
                  </a:tcPr>
                </a:tc>
                <a:tc>
                  <a:txBody>
                    <a:bodyPr/>
                    <a:lstStyle/>
                    <a:p>
                      <a:pPr algn="ctr">
                        <a:defRPr sz="800">
                          <a:solidFill>
                            <a:srgbClr val="1E293B"/>
                          </a:solidFill>
                          <a:latin typeface="Times New Roman"/>
                        </a:defRPr>
                      </a:pPr>
                      <a:r>
                        <a:t>Continuous probe</a:t>
                      </a:r>
                    </a:p>
                  </a:txBody>
                  <a:tcPr anchor="ctr">
                    <a:solidFill>
                      <a:srgbClr val="FEF2F2"/>
                    </a:solidFill>
                  </a:tcPr>
                </a:tc>
                <a:tc>
                  <a:txBody>
                    <a:bodyPr/>
                    <a:lstStyle/>
                    <a:p>
                      <a:pPr algn="l">
                        <a:defRPr sz="800">
                          <a:solidFill>
                            <a:srgbClr val="1E293B"/>
                          </a:solidFill>
                          <a:latin typeface="Times New Roman"/>
                        </a:defRPr>
                      </a:pPr>
                      <a:r>
                        <a:t>Immediate session termination &amp; alert</a:t>
                      </a:r>
                    </a:p>
                  </a:txBody>
                  <a:tcPr anchor="ctr">
                    <a:solidFill>
                      <a:srgbClr val="FEF2F2"/>
                    </a:solidFill>
                  </a:tcPr>
                </a:tc>
              </a:tr>
              <a:tr h="338328">
                <a:tc>
                  <a:txBody>
                    <a:bodyPr/>
                    <a:lstStyle/>
                    <a:p>
                      <a:pPr algn="ctr">
                        <a:defRPr sz="800" b="1">
                          <a:solidFill>
                            <a:srgbClr val="475569"/>
                          </a:solidFill>
                          <a:latin typeface="Times New Roman"/>
                        </a:defRPr>
                      </a:pPr>
                      <a:r>
                        <a:t>REVOKED</a:t>
                      </a:r>
                    </a:p>
                  </a:txBody>
                  <a:tcPr anchor="ctr">
                    <a:solidFill>
                      <a:srgbClr val="F1F5F9"/>
                    </a:solidFill>
                  </a:tcPr>
                </a:tc>
                <a:tc>
                  <a:txBody>
                    <a:bodyPr/>
                    <a:lstStyle/>
                    <a:p>
                      <a:pPr algn="ctr">
                        <a:defRPr sz="800">
                          <a:solidFill>
                            <a:srgbClr val="1E293B"/>
                          </a:solidFill>
                          <a:latin typeface="Times New Roman"/>
                        </a:defRPr>
                      </a:pPr>
                      <a:r>
                        <a:t>Manual Override</a:t>
                      </a:r>
                    </a:p>
                  </a:txBody>
                  <a:tcPr anchor="ctr">
                    <a:solidFill>
                      <a:srgbClr val="F1F5F9"/>
                    </a:solidFill>
                  </a:tcPr>
                </a:tc>
                <a:tc>
                  <a:txBody>
                    <a:bodyPr/>
                    <a:lstStyle/>
                    <a:p>
                      <a:pPr algn="l">
                        <a:defRPr sz="800">
                          <a:solidFill>
                            <a:srgbClr val="1E293B"/>
                          </a:solidFill>
                          <a:latin typeface="Times New Roman"/>
                        </a:defRPr>
                      </a:pPr>
                      <a:r>
                        <a:t>Complete access termination &amp; blacklist</a:t>
                      </a:r>
                    </a:p>
                  </a:txBody>
                  <a:tcPr anchor="ctr">
                    <a:solidFill>
                      <a:srgbClr val="F1F5F9"/>
                    </a:solidFill>
                  </a:tcPr>
                </a:tc>
                <a:tc>
                  <a:txBody>
                    <a:bodyPr/>
                    <a:lstStyle/>
                    <a:p>
                      <a:pPr algn="ctr">
                        <a:defRPr sz="800">
                          <a:solidFill>
                            <a:srgbClr val="1E293B"/>
                          </a:solidFill>
                          <a:latin typeface="Times New Roman"/>
                        </a:defRPr>
                      </a:pPr>
                      <a:r>
                        <a:t>0 req/min (blocked)</a:t>
                      </a:r>
                    </a:p>
                  </a:txBody>
                  <a:tcPr anchor="ctr">
                    <a:solidFill>
                      <a:srgbClr val="F1F5F9"/>
                    </a:solidFill>
                  </a:tcPr>
                </a:tc>
                <a:tc>
                  <a:txBody>
                    <a:bodyPr/>
                    <a:lstStyle/>
                    <a:p>
                      <a:pPr algn="ctr">
                        <a:defRPr sz="800">
                          <a:solidFill>
                            <a:srgbClr val="1E293B"/>
                          </a:solidFill>
                          <a:latin typeface="Times New Roman"/>
                        </a:defRPr>
                      </a:pPr>
                      <a:r>
                        <a:t>Blacklisted</a:t>
                      </a:r>
                    </a:p>
                  </a:txBody>
                  <a:tcPr anchor="ctr">
                    <a:solidFill>
                      <a:srgbClr val="F1F5F9"/>
                    </a:solidFill>
                  </a:tcPr>
                </a:tc>
                <a:tc>
                  <a:txBody>
                    <a:bodyPr/>
                    <a:lstStyle/>
                    <a:p>
                      <a:pPr algn="l">
                        <a:defRPr sz="800">
                          <a:solidFill>
                            <a:srgbClr val="1E293B"/>
                          </a:solidFill>
                          <a:latin typeface="Times New Roman"/>
                        </a:defRPr>
                      </a:pPr>
                      <a:r>
                        <a:t>Permanent credential revocation &amp; block</a:t>
                      </a:r>
                    </a:p>
                  </a:txBody>
                  <a:tcPr anchor="ctr">
                    <a:solidFill>
                      <a:srgbClr val="F1F5F9"/>
                    </a:solidFill>
                  </a:tcPr>
                </a:tc>
              </a:tr>
            </a:tbl>
          </a:graphicData>
        </a:graphic>
      </p:graphicFrame>
      <p:sp>
        <p:nvSpPr>
          <p:cNvPr id="8" name="Rounded Rectangle 7"/>
          <p:cNvSpPr/>
          <p:nvPr/>
        </p:nvSpPr>
        <p:spPr>
          <a:xfrm>
            <a:off x="457200" y="4535424"/>
            <a:ext cx="4005072" cy="1719072"/>
          </a:xfrm>
          <a:prstGeom prst="roundRect">
            <a:avLst/>
          </a:prstGeom>
          <a:solidFill>
            <a:srgbClr val="F8FAFC"/>
          </a:solidFill>
          <a:ln w="15240">
            <a:solidFill>
              <a:srgbClr val="1F497D"/>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54864"/>
          <a:lstStyle/>
          <a:p>
            <a:pPr algn="ctr">
              <a:spcAft>
                <a:spcPts val="200"/>
              </a:spcAft>
              <a:defRPr sz="1000" b="1">
                <a:solidFill>
                  <a:srgbClr val="1F497D"/>
                </a:solidFill>
                <a:latin typeface="Times New Roman"/>
              </a:defRPr>
            </a:pPr>
            <a:r>
              <a:t>3. Verified Test Suite Breakdown (80 / 80 Passed)</a:t>
            </a:r>
          </a:p>
          <a:p>
            <a:pPr>
              <a:spcAft>
                <a:spcPts val="100"/>
              </a:spcAft>
              <a:defRPr sz="740">
                <a:solidFill>
                  <a:srgbClr val="1E293B"/>
                </a:solidFill>
                <a:latin typeface="Times New Roman"/>
              </a:defRPr>
            </a:pPr>
            <a:r>
              <a:t>• Cryptographic Identity (DID &amp; Ed25519): 11 tests passed (keypair, multicodec).</a:t>
            </a:r>
          </a:p>
          <a:p>
            <a:pPr>
              <a:spcAft>
                <a:spcPts val="100"/>
              </a:spcAft>
              <a:defRPr sz="740">
                <a:solidFill>
                  <a:srgbClr val="1E293B"/>
                </a:solidFill>
                <a:latin typeface="Times New Roman"/>
              </a:defRPr>
            </a:pPr>
            <a:r>
              <a:t>• Verifiable Credentials (VC issuance &amp; verification): 12 tests passed (SHA-256).</a:t>
            </a:r>
          </a:p>
          <a:p>
            <a:pPr>
              <a:spcAft>
                <a:spcPts val="100"/>
              </a:spcAft>
              <a:defRPr sz="740">
                <a:solidFill>
                  <a:srgbClr val="1E293B"/>
                </a:solidFill>
                <a:latin typeface="Times New Roman"/>
              </a:defRPr>
            </a:pPr>
            <a:r>
              <a:t>• Trust Intelligence Engine &amp; EMA transitions: 18 tests passed (numerical bounds).</a:t>
            </a:r>
          </a:p>
          <a:p>
            <a:pPr>
              <a:spcAft>
                <a:spcPts val="100"/>
              </a:spcAft>
              <a:defRPr sz="740">
                <a:solidFill>
                  <a:srgbClr val="1E293B"/>
                </a:solidFill>
                <a:latin typeface="Times New Roman"/>
              </a:defRPr>
            </a:pPr>
            <a:r>
              <a:t>• Adaptive Policy Gateway &amp; Lockouts: 14 tests passed (rate limits, 423 error).</a:t>
            </a:r>
          </a:p>
          <a:p>
            <a:pPr>
              <a:spcAft>
                <a:spcPts val="100"/>
              </a:spcAft>
              <a:defRPr sz="740">
                <a:solidFill>
                  <a:srgbClr val="1E293B"/>
                </a:solidFill>
                <a:latin typeface="Times New Roman"/>
              </a:defRPr>
            </a:pPr>
            <a:r>
              <a:t>• Discovery &amp; Explainable Matching: 11 tests passed (MatchScore formulas).</a:t>
            </a:r>
          </a:p>
          <a:p>
            <a:pPr>
              <a:spcAft>
                <a:spcPts val="100"/>
              </a:spcAft>
              <a:defRPr sz="740">
                <a:solidFill>
                  <a:srgbClr val="1E293B"/>
                </a:solidFill>
                <a:latin typeface="Times New Roman"/>
              </a:defRPr>
            </a:pPr>
            <a:r>
              <a:t>• Collaboration Sessions &amp; Workflows: 8 tests passed (lifecycle &amp; telemetry aborts).</a:t>
            </a:r>
          </a:p>
          <a:p>
            <a:pPr>
              <a:spcAft>
                <a:spcPts val="100"/>
              </a:spcAft>
              <a:defRPr sz="740">
                <a:solidFill>
                  <a:srgbClr val="1E293B"/>
                </a:solidFill>
                <a:latin typeface="Times New Roman"/>
              </a:defRPr>
            </a:pPr>
            <a:r>
              <a:t>• Human RBAC &amp; JWT Security: 6 tests passed (Argon2id, refresh rotation).</a:t>
            </a:r>
          </a:p>
        </p:txBody>
      </p:sp>
      <p:sp>
        <p:nvSpPr>
          <p:cNvPr id="9" name="Rounded Rectangle 8"/>
          <p:cNvSpPr/>
          <p:nvPr/>
        </p:nvSpPr>
        <p:spPr>
          <a:xfrm>
            <a:off x="4681728" y="4535424"/>
            <a:ext cx="4005072" cy="1719072"/>
          </a:xfrm>
          <a:prstGeom prst="roundRect">
            <a:avLst/>
          </a:prstGeom>
          <a:solidFill>
            <a:srgbClr val="F8FAFC"/>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54864"/>
          <a:lstStyle/>
          <a:p>
            <a:pPr algn="ctr">
              <a:spcAft>
                <a:spcPts val="200"/>
              </a:spcAft>
              <a:defRPr sz="1000" b="1">
                <a:solidFill>
                  <a:srgbClr val="15803D"/>
                </a:solidFill>
                <a:latin typeface="Times New Roman"/>
              </a:defRPr>
            </a:pPr>
            <a:r>
              <a:t>4. Key Analytical Insights &amp; System Observations</a:t>
            </a:r>
          </a:p>
          <a:p>
            <a:pPr>
              <a:spcAft>
                <a:spcPts val="100"/>
              </a:spcAft>
              <a:defRPr sz="740">
                <a:solidFill>
                  <a:srgbClr val="1E293B"/>
                </a:solidFill>
                <a:latin typeface="Times New Roman"/>
              </a:defRPr>
            </a:pPr>
            <a:r>
              <a:t>• Hysteresis Prevents State Flapping: The historical weight (lambda = 0.70) dampens transient network blips, avoiding oscillation between TRUSTED and SUSPICIOUS.</a:t>
            </a:r>
          </a:p>
          <a:p>
            <a:pPr>
              <a:spcAft>
                <a:spcPts val="100"/>
              </a:spcAft>
              <a:defRPr sz="740">
                <a:solidFill>
                  <a:srgbClr val="1E293B"/>
                </a:solidFill>
                <a:latin typeface="Times New Roman"/>
              </a:defRPr>
            </a:pPr>
            <a:r>
              <a:t>• Fail-Closed Quarantine Containment: When Ti(t) drops below 0.50, active multi-agent sessions terminate immediately, preventing lateral traversal of compromised agents.</a:t>
            </a:r>
          </a:p>
          <a:p>
            <a:pPr>
              <a:spcAft>
                <a:spcPts val="100"/>
              </a:spcAft>
              <a:defRPr sz="740">
                <a:solidFill>
                  <a:srgbClr val="1E293B"/>
                </a:solidFill>
                <a:latin typeface="Times New Roman"/>
              </a:defRPr>
            </a:pPr>
            <a:r>
              <a:t>• Explainable Governance Over Black Boxes: Providing granular exclusion rationales in discovery and matching prevents opaque silent delegation failures.</a:t>
            </a:r>
          </a:p>
          <a:p>
            <a:pPr>
              <a:spcAft>
                <a:spcPts val="100"/>
              </a:spcAft>
              <a:defRPr sz="740">
                <a:solidFill>
                  <a:srgbClr val="1E293B"/>
                </a:solidFill>
                <a:latin typeface="Times New Roman"/>
              </a:defRPr>
            </a:pPr>
            <a:r>
              <a:t>• Lightweight Determinism: Zero-trust enforcement adds negligible computational overhead (&lt;15ms per invocation in local SQLite WAL testing).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02920"/>
          </a:xfrm>
          <a:prstGeom prst="rect">
            <a:avLst/>
          </a:prstGeom>
          <a:noFill/>
        </p:spPr>
        <p:txBody>
          <a:bodyPr wrap="square" lIns="0" tIns="0" rIns="0" bIns="0">
            <a:spAutoFit/>
          </a:bodyPr>
          <a:lstStyle/>
          <a:p>
            <a:pPr>
              <a:defRPr sz="2200" b="1">
                <a:solidFill>
                  <a:srgbClr val="1F497D"/>
                </a:solidFill>
                <a:latin typeface="Times New Roman"/>
              </a:defRPr>
            </a:pPr>
            <a:r>
              <a:t>Project Outcomes &amp; Conclusion</a:t>
            </a:r>
          </a:p>
        </p:txBody>
      </p:sp>
      <p:sp>
        <p:nvSpPr>
          <p:cNvPr id="3" name="TextBox 2"/>
          <p:cNvSpPr txBox="1"/>
          <p:nvPr/>
        </p:nvSpPr>
        <p:spPr>
          <a:xfrm>
            <a:off x="457200" y="804672"/>
            <a:ext cx="8229600" cy="256032"/>
          </a:xfrm>
          <a:prstGeom prst="rect">
            <a:avLst/>
          </a:prstGeom>
          <a:noFill/>
        </p:spPr>
        <p:txBody>
          <a:bodyPr wrap="square" lIns="0" tIns="0" rIns="0" bIns="0">
            <a:spAutoFit/>
          </a:bodyPr>
          <a:lstStyle/>
          <a:p>
            <a:pPr>
              <a:defRPr sz="1000" i="1">
                <a:solidFill>
                  <a:srgbClr val="64748B"/>
                </a:solidFill>
                <a:latin typeface="Times New Roman"/>
              </a:defRPr>
            </a:pPr>
            <a:r>
              <a:t>Capstone Deliverables • Research Contributions • Limitations &amp; Future Horizons</a:t>
            </a:r>
          </a:p>
        </p:txBody>
      </p:sp>
      <p:sp>
        <p:nvSpPr>
          <p:cNvPr id="4" name="TextBox 3"/>
          <p:cNvSpPr txBox="1"/>
          <p:nvPr/>
        </p:nvSpPr>
        <p:spPr>
          <a:xfrm>
            <a:off x="6547104" y="6355080"/>
            <a:ext cx="2130552" cy="320040"/>
          </a:xfrm>
          <a:prstGeom prst="rect">
            <a:avLst/>
          </a:prstGeom>
          <a:noFill/>
        </p:spPr>
        <p:txBody>
          <a:bodyPr wrap="none" lIns="0" tIns="0" rIns="0" bIns="0">
            <a:spAutoFit/>
          </a:bodyPr>
          <a:lstStyle/>
          <a:p>
            <a:pPr algn="r">
              <a:defRPr sz="1200">
                <a:solidFill>
                  <a:srgbClr val="64748B"/>
                </a:solidFill>
                <a:latin typeface="Times New Roman"/>
              </a:defRPr>
            </a:pPr>
            <a:r>
              <a:t>29</a:t>
            </a:r>
          </a:p>
        </p:txBody>
      </p:sp>
      <p:sp>
        <p:nvSpPr>
          <p:cNvPr id="5" name="Rounded Rectangle 4"/>
          <p:cNvSpPr/>
          <p:nvPr/>
        </p:nvSpPr>
        <p:spPr>
          <a:xfrm>
            <a:off x="457200" y="1115568"/>
            <a:ext cx="4005072" cy="1965960"/>
          </a:xfrm>
          <a:prstGeom prst="roundRect">
            <a:avLst/>
          </a:prstGeom>
          <a:solidFill>
            <a:srgbClr val="F8FAFC"/>
          </a:solidFill>
          <a:ln w="15240">
            <a:solidFill>
              <a:srgbClr val="1F497D"/>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91440" bIns="73152"/>
          <a:lstStyle/>
          <a:p>
            <a:pPr algn="ctr">
              <a:spcAft>
                <a:spcPts val="400"/>
              </a:spcAft>
              <a:defRPr sz="1100" b="1">
                <a:solidFill>
                  <a:srgbClr val="1F497D"/>
                </a:solidFill>
                <a:latin typeface="Times New Roman"/>
              </a:defRPr>
            </a:pPr>
            <a:r>
              <a:t>A. Key Implemented Outcomes</a:t>
            </a:r>
          </a:p>
          <a:p>
            <a:pPr>
              <a:spcAft>
                <a:spcPts val="250"/>
              </a:spcAft>
              <a:defRPr sz="850">
                <a:latin typeface="Times New Roman"/>
              </a:defRPr>
            </a:pPr>
            <a:r>
              <a:rPr b="1">
                <a:solidFill>
                  <a:srgbClr val="1F497D"/>
                </a:solidFill>
              </a:rPr>
              <a:t>• </a:t>
            </a:r>
            <a:r>
              <a:rPr b="1">
                <a:solidFill>
                  <a:srgbClr val="1E293B"/>
                </a:solidFill>
              </a:rPr>
              <a:t>Cryptographic Zero-Trust Identity: </a:t>
            </a:r>
            <a:r>
              <a:rPr>
                <a:solidFill>
                  <a:srgbClr val="1E293B"/>
                </a:solidFill>
              </a:rPr>
              <a:t>Eliminated static API keys using W3C DID (did:key) and Ed25519 asymmetric signatures.</a:t>
            </a:r>
          </a:p>
          <a:p>
            <a:pPr>
              <a:spcAft>
                <a:spcPts val="250"/>
              </a:spcAft>
              <a:defRPr sz="850">
                <a:latin typeface="Times New Roman"/>
              </a:defRPr>
            </a:pPr>
            <a:r>
              <a:rPr b="1">
                <a:solidFill>
                  <a:srgbClr val="1F497D"/>
                </a:solidFill>
              </a:rPr>
              <a:t>• </a:t>
            </a:r>
            <a:r>
              <a:rPr b="1">
                <a:solidFill>
                  <a:srgbClr val="1E293B"/>
                </a:solidFill>
              </a:rPr>
              <a:t>Dynamic Behavioral Intelligence: </a:t>
            </a:r>
            <a:r>
              <a:rPr>
                <a:solidFill>
                  <a:srgbClr val="1E293B"/>
                </a:solidFill>
              </a:rPr>
              <a:t>Continuous multi-metric telemetry (Si, Ci, Li) dynamically modulating trust score via EMA.</a:t>
            </a:r>
          </a:p>
          <a:p>
            <a:pPr>
              <a:spcAft>
                <a:spcPts val="250"/>
              </a:spcAft>
              <a:defRPr sz="850">
                <a:latin typeface="Times New Roman"/>
              </a:defRPr>
            </a:pPr>
            <a:r>
              <a:rPr b="1">
                <a:solidFill>
                  <a:srgbClr val="1F497D"/>
                </a:solidFill>
              </a:rPr>
              <a:t>• </a:t>
            </a:r>
            <a:r>
              <a:rPr b="1">
                <a:solidFill>
                  <a:srgbClr val="1E293B"/>
                </a:solidFill>
              </a:rPr>
              <a:t>Graduated Adaptive Enforcement: </a:t>
            </a:r>
            <a:r>
              <a:rPr>
                <a:solidFill>
                  <a:srgbClr val="1E293B"/>
                </a:solidFill>
              </a:rPr>
              <a:t>Real-time policy gateway enforcing proportional access restrictions based on trust states.</a:t>
            </a:r>
          </a:p>
          <a:p>
            <a:pPr>
              <a:spcAft>
                <a:spcPts val="250"/>
              </a:spcAft>
              <a:defRPr sz="850">
                <a:latin typeface="Times New Roman"/>
              </a:defRPr>
            </a:pPr>
            <a:r>
              <a:rPr b="1">
                <a:solidFill>
                  <a:srgbClr val="1F497D"/>
                </a:solidFill>
              </a:rPr>
              <a:t>• </a:t>
            </a:r>
            <a:r>
              <a:rPr b="1">
                <a:solidFill>
                  <a:srgbClr val="1E293B"/>
                </a:solidFill>
              </a:rPr>
              <a:t>Explainable Discovery &amp; Matching: </a:t>
            </a:r>
            <a:r>
              <a:rPr>
                <a:solidFill>
                  <a:srgbClr val="1E293B"/>
                </a:solidFill>
              </a:rPr>
              <a:t>Two-phase pipeline with clear exclusion rationale and multi-objective ranking.</a:t>
            </a:r>
          </a:p>
          <a:p>
            <a:pPr>
              <a:spcAft>
                <a:spcPts val="250"/>
              </a:spcAft>
              <a:defRPr sz="850">
                <a:latin typeface="Times New Roman"/>
              </a:defRPr>
            </a:pPr>
            <a:r>
              <a:rPr b="1">
                <a:solidFill>
                  <a:srgbClr val="1F497D"/>
                </a:solidFill>
              </a:rPr>
              <a:t>• </a:t>
            </a:r>
            <a:r>
              <a:rPr b="1">
                <a:solidFill>
                  <a:srgbClr val="1E293B"/>
                </a:solidFill>
              </a:rPr>
              <a:t>Full SOC Visibility: </a:t>
            </a:r>
            <a:r>
              <a:rPr>
                <a:solidFill>
                  <a:srgbClr val="1E293B"/>
                </a:solidFill>
              </a:rPr>
              <a:t>Operational React/Vite dashboard with 13-table SQLite WAL audit ledger.</a:t>
            </a:r>
          </a:p>
        </p:txBody>
      </p:sp>
      <p:sp>
        <p:nvSpPr>
          <p:cNvPr id="6" name="Rounded Rectangle 5"/>
          <p:cNvSpPr/>
          <p:nvPr/>
        </p:nvSpPr>
        <p:spPr>
          <a:xfrm>
            <a:off x="4681728" y="1115568"/>
            <a:ext cx="4005072" cy="1965960"/>
          </a:xfrm>
          <a:prstGeom prst="roundRect">
            <a:avLst/>
          </a:prstGeom>
          <a:solidFill>
            <a:srgbClr val="EFF6FF"/>
          </a:solidFill>
          <a:ln w="1524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91440" bIns="73152"/>
          <a:lstStyle/>
          <a:p>
            <a:pPr algn="ctr">
              <a:spcAft>
                <a:spcPts val="400"/>
              </a:spcAft>
              <a:defRPr sz="1100" b="1">
                <a:solidFill>
                  <a:srgbClr val="1F497D"/>
                </a:solidFill>
                <a:latin typeface="Times New Roman"/>
              </a:defRPr>
            </a:pPr>
            <a:r>
              <a:t>B. Research &amp; Technical Contributions</a:t>
            </a:r>
          </a:p>
          <a:p>
            <a:pPr>
              <a:spcAft>
                <a:spcPts val="250"/>
              </a:spcAft>
              <a:defRPr sz="850">
                <a:latin typeface="Times New Roman"/>
              </a:defRPr>
            </a:pPr>
            <a:r>
              <a:rPr b="1">
                <a:solidFill>
                  <a:srgbClr val="1F497D"/>
                </a:solidFill>
              </a:rPr>
              <a:t>• </a:t>
            </a:r>
            <a:r>
              <a:rPr b="1">
                <a:solidFill>
                  <a:srgbClr val="1E293B"/>
                </a:solidFill>
              </a:rPr>
              <a:t>Beyond Static Authentication: </a:t>
            </a:r>
            <a:r>
              <a:rPr>
                <a:solidFill>
                  <a:srgbClr val="1E293B"/>
                </a:solidFill>
              </a:rPr>
              <a:t>Extended traditional SSI by coupling identity verification with continuous runtime behavioral evaluation.</a:t>
            </a:r>
          </a:p>
          <a:p>
            <a:pPr>
              <a:spcAft>
                <a:spcPts val="250"/>
              </a:spcAft>
              <a:defRPr sz="850">
                <a:latin typeface="Times New Roman"/>
              </a:defRPr>
            </a:pPr>
            <a:r>
              <a:rPr b="1">
                <a:solidFill>
                  <a:srgbClr val="1F497D"/>
                </a:solidFill>
              </a:rPr>
              <a:t>• </a:t>
            </a:r>
            <a:r>
              <a:rPr b="1">
                <a:solidFill>
                  <a:srgbClr val="1E293B"/>
                </a:solidFill>
              </a:rPr>
              <a:t>Deterministic Multi-Agent Security: </a:t>
            </a:r>
            <a:r>
              <a:rPr>
                <a:solidFill>
                  <a:srgbClr val="1E293B"/>
                </a:solidFill>
              </a:rPr>
              <a:t>Proved that zero-trust enforcement in autonomous multi-agent networks does not require heavy runtime overhead.</a:t>
            </a:r>
          </a:p>
          <a:p>
            <a:pPr>
              <a:spcAft>
                <a:spcPts val="250"/>
              </a:spcAft>
              <a:defRPr sz="850">
                <a:latin typeface="Times New Roman"/>
              </a:defRPr>
            </a:pPr>
            <a:r>
              <a:rPr b="1">
                <a:solidFill>
                  <a:srgbClr val="1F497D"/>
                </a:solidFill>
              </a:rPr>
              <a:t>• </a:t>
            </a:r>
            <a:r>
              <a:rPr b="1">
                <a:solidFill>
                  <a:srgbClr val="1E293B"/>
                </a:solidFill>
              </a:rPr>
              <a:t>Unified Forensic Auditability: </a:t>
            </a:r>
            <a:r>
              <a:rPr>
                <a:solidFill>
                  <a:srgbClr val="1E293B"/>
                </a:solidFill>
              </a:rPr>
              <a:t>Bridged human RBAC (Argon2id/JWT) with autonomous agent credentials in a single tamper-evident VDR schema.</a:t>
            </a:r>
          </a:p>
          <a:p>
            <a:pPr>
              <a:spcAft>
                <a:spcPts val="250"/>
              </a:spcAft>
              <a:defRPr sz="850">
                <a:latin typeface="Times New Roman"/>
              </a:defRPr>
            </a:pPr>
            <a:r>
              <a:rPr b="1">
                <a:solidFill>
                  <a:srgbClr val="1F497D"/>
                </a:solidFill>
              </a:rPr>
              <a:t>• </a:t>
            </a:r>
            <a:r>
              <a:rPr b="1">
                <a:solidFill>
                  <a:srgbClr val="1E293B"/>
                </a:solidFill>
              </a:rPr>
              <a:t>Empirical Defense Viability: </a:t>
            </a:r>
            <a:r>
              <a:rPr>
                <a:solidFill>
                  <a:srgbClr val="1E293B"/>
                </a:solidFill>
              </a:rPr>
              <a:t>Demonstrated that dynamic reputation dampening halts rogue agent escalation before cascading workflow contamination.</a:t>
            </a:r>
          </a:p>
        </p:txBody>
      </p:sp>
      <p:sp>
        <p:nvSpPr>
          <p:cNvPr id="7" name="Rounded Rectangle 6"/>
          <p:cNvSpPr/>
          <p:nvPr/>
        </p:nvSpPr>
        <p:spPr>
          <a:xfrm>
            <a:off x="457200" y="3182112"/>
            <a:ext cx="4005072" cy="1965960"/>
          </a:xfrm>
          <a:prstGeom prst="roundRect">
            <a:avLst/>
          </a:prstGeom>
          <a:solidFill>
            <a:srgbClr val="FEF2F2"/>
          </a:solidFill>
          <a:ln w="1524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91440" bIns="73152"/>
          <a:lstStyle/>
          <a:p>
            <a:pPr algn="ctr">
              <a:spcAft>
                <a:spcPts val="400"/>
              </a:spcAft>
              <a:defRPr sz="1100" b="1">
                <a:solidFill>
                  <a:srgbClr val="B91C1C"/>
                </a:solidFill>
                <a:latin typeface="Times New Roman"/>
              </a:defRPr>
            </a:pPr>
            <a:r>
              <a:t>C. Honest Architectural Limitations</a:t>
            </a:r>
          </a:p>
          <a:p>
            <a:pPr>
              <a:spcAft>
                <a:spcPts val="250"/>
              </a:spcAft>
              <a:defRPr sz="850">
                <a:latin typeface="Times New Roman"/>
              </a:defRPr>
            </a:pPr>
            <a:r>
              <a:rPr b="1">
                <a:solidFill>
                  <a:srgbClr val="B91C1C"/>
                </a:solidFill>
              </a:rPr>
              <a:t>• </a:t>
            </a:r>
            <a:r>
              <a:rPr b="1">
                <a:solidFill>
                  <a:srgbClr val="1E293B"/>
                </a:solidFill>
              </a:rPr>
              <a:t>Local SQLite VDR: </a:t>
            </a:r>
            <a:r>
              <a:rPr>
                <a:solidFill>
                  <a:srgbClr val="1E293B"/>
                </a:solidFill>
              </a:rPr>
              <a:t>Currently utilizes SQLite 3 in WAL mode rather than a distributed Byzantine-fault-tolerant blockchain (Fabric/Ethereum).</a:t>
            </a:r>
          </a:p>
          <a:p>
            <a:pPr>
              <a:spcAft>
                <a:spcPts val="250"/>
              </a:spcAft>
              <a:defRPr sz="850">
                <a:latin typeface="Times New Roman"/>
              </a:defRPr>
            </a:pPr>
            <a:r>
              <a:rPr b="1">
                <a:solidFill>
                  <a:srgbClr val="B91C1C"/>
                </a:solidFill>
              </a:rPr>
              <a:t>• </a:t>
            </a:r>
            <a:r>
              <a:rPr b="1">
                <a:solidFill>
                  <a:srgbClr val="1E293B"/>
                </a:solidFill>
              </a:rPr>
              <a:t>Workflow Execution: </a:t>
            </a:r>
            <a:r>
              <a:rPr>
                <a:solidFill>
                  <a:srgbClr val="1E293B"/>
                </a:solidFill>
              </a:rPr>
              <a:t>Multi-agent collaboration executes deterministic stateful pipeline orchestrations rather than distributed live LLM instances.</a:t>
            </a:r>
          </a:p>
          <a:p>
            <a:pPr>
              <a:spcAft>
                <a:spcPts val="250"/>
              </a:spcAft>
              <a:defRPr sz="850">
                <a:latin typeface="Times New Roman"/>
              </a:defRPr>
            </a:pPr>
            <a:r>
              <a:rPr b="1">
                <a:solidFill>
                  <a:srgbClr val="B91C1C"/>
                </a:solidFill>
              </a:rPr>
              <a:t>• </a:t>
            </a:r>
            <a:r>
              <a:rPr b="1">
                <a:solidFill>
                  <a:srgbClr val="1E293B"/>
                </a:solidFill>
              </a:rPr>
              <a:t>Single-Domain Scope: </a:t>
            </a:r>
            <a:r>
              <a:rPr>
                <a:solidFill>
                  <a:srgbClr val="1E293B"/>
                </a:solidFill>
              </a:rPr>
              <a:t>Validated on a centralized enterprise boundary without cross-organization trust federation.</a:t>
            </a:r>
          </a:p>
          <a:p>
            <a:pPr>
              <a:spcAft>
                <a:spcPts val="250"/>
              </a:spcAft>
              <a:defRPr sz="850">
                <a:latin typeface="Times New Roman"/>
              </a:defRPr>
            </a:pPr>
            <a:r>
              <a:rPr b="1">
                <a:solidFill>
                  <a:srgbClr val="B91C1C"/>
                </a:solidFill>
              </a:rPr>
              <a:t>• </a:t>
            </a:r>
            <a:r>
              <a:rPr b="1">
                <a:solidFill>
                  <a:srgbClr val="1E293B"/>
                </a:solidFill>
              </a:rPr>
              <a:t>Simulated Telemetry: </a:t>
            </a:r>
            <a:r>
              <a:rPr>
                <a:solidFill>
                  <a:srgbClr val="1E293B"/>
                </a:solidFill>
              </a:rPr>
              <a:t>Runtime tests execute deterministic workload simulations rather than adversarial black-box pen-testing.</a:t>
            </a:r>
          </a:p>
        </p:txBody>
      </p:sp>
      <p:sp>
        <p:nvSpPr>
          <p:cNvPr id="8" name="Rounded Rectangle 7"/>
          <p:cNvSpPr/>
          <p:nvPr/>
        </p:nvSpPr>
        <p:spPr>
          <a:xfrm>
            <a:off x="4681728" y="3182112"/>
            <a:ext cx="4005072" cy="1965960"/>
          </a:xfrm>
          <a:prstGeom prst="roundRect">
            <a:avLst/>
          </a:prstGeom>
          <a:solidFill>
            <a:srgbClr val="F0FDF4"/>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91440" bIns="73152"/>
          <a:lstStyle/>
          <a:p>
            <a:pPr algn="ctr">
              <a:spcAft>
                <a:spcPts val="400"/>
              </a:spcAft>
              <a:defRPr sz="1100" b="1">
                <a:solidFill>
                  <a:srgbClr val="15803D"/>
                </a:solidFill>
                <a:latin typeface="Times New Roman"/>
              </a:defRPr>
            </a:pPr>
            <a:r>
              <a:t>D. Future Scope &amp; Roadmap</a:t>
            </a:r>
          </a:p>
          <a:p>
            <a:pPr>
              <a:spcAft>
                <a:spcPts val="250"/>
              </a:spcAft>
              <a:defRPr sz="850">
                <a:latin typeface="Times New Roman"/>
              </a:defRPr>
            </a:pPr>
            <a:r>
              <a:rPr b="1">
                <a:solidFill>
                  <a:srgbClr val="15803D"/>
                </a:solidFill>
              </a:rPr>
              <a:t>• </a:t>
            </a:r>
            <a:r>
              <a:rPr b="1">
                <a:solidFill>
                  <a:srgbClr val="1E293B"/>
                </a:solidFill>
              </a:rPr>
              <a:t>Decentralized Blockchain VDR: </a:t>
            </a:r>
            <a:r>
              <a:rPr>
                <a:solidFill>
                  <a:srgbClr val="1E293B"/>
                </a:solidFill>
              </a:rPr>
              <a:t>Migrating from SQLite WAL to Hyperledger Fabric / Ethereum L2 rollup for multi-tenant immutability.</a:t>
            </a:r>
          </a:p>
          <a:p>
            <a:pPr>
              <a:spcAft>
                <a:spcPts val="250"/>
              </a:spcAft>
              <a:defRPr sz="850">
                <a:latin typeface="Times New Roman"/>
              </a:defRPr>
            </a:pPr>
            <a:r>
              <a:rPr b="1">
                <a:solidFill>
                  <a:srgbClr val="15803D"/>
                </a:solidFill>
              </a:rPr>
              <a:t>• </a:t>
            </a:r>
            <a:r>
              <a:rPr b="1">
                <a:solidFill>
                  <a:srgbClr val="1E293B"/>
                </a:solidFill>
              </a:rPr>
              <a:t>Zero-Knowledge Proofs (ZKP): </a:t>
            </a:r>
            <a:r>
              <a:rPr>
                <a:solidFill>
                  <a:srgbClr val="1E293B"/>
                </a:solidFill>
              </a:rPr>
              <a:t>Integrating zk-SNARKs for selective credential disclosure without revealing proprietary agent weights.</a:t>
            </a:r>
          </a:p>
          <a:p>
            <a:pPr>
              <a:spcAft>
                <a:spcPts val="250"/>
              </a:spcAft>
              <a:defRPr sz="850">
                <a:latin typeface="Times New Roman"/>
              </a:defRPr>
            </a:pPr>
            <a:r>
              <a:rPr b="1">
                <a:solidFill>
                  <a:srgbClr val="15803D"/>
                </a:solidFill>
              </a:rPr>
              <a:t>• </a:t>
            </a:r>
            <a:r>
              <a:rPr b="1">
                <a:solidFill>
                  <a:srgbClr val="1E293B"/>
                </a:solidFill>
              </a:rPr>
              <a:t>Live LLM Integration: </a:t>
            </a:r>
            <a:r>
              <a:rPr>
                <a:solidFill>
                  <a:srgbClr val="1E293B"/>
                </a:solidFill>
              </a:rPr>
              <a:t>Embedding runtime inference agents (e.g. LangChain/AutoGPT) with live semantic anomaly detection.</a:t>
            </a:r>
          </a:p>
          <a:p>
            <a:pPr>
              <a:spcAft>
                <a:spcPts val="250"/>
              </a:spcAft>
              <a:defRPr sz="850">
                <a:latin typeface="Times New Roman"/>
              </a:defRPr>
            </a:pPr>
            <a:r>
              <a:rPr b="1">
                <a:solidFill>
                  <a:srgbClr val="15803D"/>
                </a:solidFill>
              </a:rPr>
              <a:t>• </a:t>
            </a:r>
            <a:r>
              <a:rPr b="1">
                <a:solidFill>
                  <a:srgbClr val="1E293B"/>
                </a:solidFill>
              </a:rPr>
              <a:t>Cross-Domain Federation: </a:t>
            </a:r>
            <a:r>
              <a:rPr>
                <a:solidFill>
                  <a:srgbClr val="1E293B"/>
                </a:solidFill>
              </a:rPr>
              <a:t>Establishing inter-organizational trust relay protocols across heterogeneous enterprise boundaries.</a:t>
            </a:r>
          </a:p>
        </p:txBody>
      </p:sp>
      <p:sp>
        <p:nvSpPr>
          <p:cNvPr id="9" name="Rectangle 8"/>
          <p:cNvSpPr/>
          <p:nvPr/>
        </p:nvSpPr>
        <p:spPr>
          <a:xfrm>
            <a:off x="457200" y="5230368"/>
            <a:ext cx="8229600" cy="1024128"/>
          </a:xfrm>
          <a:prstGeom prst="rect">
            <a:avLst/>
          </a:prstGeom>
          <a:solidFill>
            <a:srgbClr val="0F172A"/>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tIns="73152" lIns="182880" rIns="182880"/>
          <a:lstStyle/>
          <a:p>
            <a:pPr algn="ctr">
              <a:spcAft>
                <a:spcPts val="300"/>
              </a:spcAft>
              <a:defRPr sz="1100" b="1">
                <a:solidFill>
                  <a:srgbClr val="38BDF8"/>
                </a:solidFill>
                <a:latin typeface="Times New Roman"/>
              </a:defRPr>
            </a:pPr>
            <a:r>
              <a:t>FINAL CAPSTONE DEFENSE CONCLUSION</a:t>
            </a:r>
          </a:p>
          <a:p>
            <a:pPr algn="ctr">
              <a:defRPr sz="950" i="1">
                <a:solidFill>
                  <a:srgbClr val="FFFFFF"/>
                </a:solidFill>
                <a:latin typeface="Times New Roman"/>
              </a:defRPr>
            </a:pPr>
            <a:r>
              <a:t>"TrustChain-AI demonstrates that secure autonomous multi-agent collaboration requires moving beyond one-time static authentication—establishing continuous, verifiable behavioral telemetry and adaptive authorization as foundational security primitives for next-generation AI ecosystems."</a:t>
            </a:r>
          </a:p>
        </p:txBody>
      </p:sp>
    </p:spTree>
  </p:cSld>
  <p:clrMapOvr>
    <a:masterClrMapping/>
  </p:clrMapOvr>
</p:sld>
</file>

<file path=ppt/theme/theme1.xml><?xml version="1.0" encoding="utf-8"?>
<a:theme xmlns:a="http://schemas.openxmlformats.org/drawingml/2006/main" name="nmims_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nmims_theme" id="{58A3D327-3F08-4A5C-A196-0BC1F0A58C4B}" vid="{E445658B-32F3-49D9-9F01-D0CF0C0E09C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nmims_theme</Template>
  <TotalTime>1718</TotalTime>
  <Words>2373</Words>
  <Application>Microsoft Office PowerPoint</Application>
  <PresentationFormat>On-screen Show (4:3)</PresentationFormat>
  <Paragraphs>256</Paragraphs>
  <Slides>27</Slides>
  <Notes>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27</vt:i4>
      </vt:variant>
    </vt:vector>
  </HeadingPairs>
  <TitlesOfParts>
    <vt:vector size="32" baseType="lpstr">
      <vt:lpstr>Arial</vt:lpstr>
      <vt:lpstr>Calibri</vt:lpstr>
      <vt:lpstr>Noto Sans Symbols</vt:lpstr>
      <vt:lpstr>Times New Roman</vt:lpstr>
      <vt:lpstr>nmims_theme</vt:lpstr>
      <vt:lpstr>A  Presentation on “TrustChain-AI: A Decentralized Trust Intelligence Framework for Secure Autonomous AI Agent Collaboration” By  MANISH PATIL (E260) DURGESH AGRAWAL (E262) YASH GEHLOT(E237)  Under the Guidance of Dr. Suraj Patil</vt:lpstr>
      <vt:lpstr>Outline</vt:lpstr>
      <vt:lpstr>Progress Since Phase II</vt:lpstr>
      <vt:lpstr>PowerPoint Presentation</vt:lpstr>
      <vt:lpstr>PowerPoint Presentation</vt:lpstr>
      <vt:lpstr>PowerPoint Presentation</vt:lpstr>
      <vt:lpstr>PowerPoint Presentation</vt:lpstr>
      <vt:lpstr>PowerPoint Presentation</vt:lpstr>
      <vt:lpstr> System Architecture</vt:lpstr>
      <vt:lpstr>PowerPoint Presentation</vt:lpstr>
      <vt:lpstr>Decentralized Identity and Credential Lifecycle</vt:lpstr>
      <vt:lpstr>Core Algorithms</vt:lpstr>
      <vt:lpstr>Trust-State Transition Diagram</vt:lpstr>
      <vt:lpstr>Numerical Trust Calculation Example</vt:lpstr>
      <vt:lpstr>Adaptive Policy Enforcement and Access Control </vt:lpstr>
      <vt:lpstr>Agent Discovery</vt:lpstr>
      <vt:lpstr>Task-Driven Matching</vt:lpstr>
      <vt:lpstr>Multi-Agent Collaboration</vt:lpstr>
      <vt:lpstr>Verifiable Data Registry and Audit Trails </vt:lpstr>
      <vt:lpstr>SOC Portal and Investigation Drawer</vt:lpstr>
      <vt:lpstr>Implementation Status</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Presentation on “TITLE OF PROJECT”  By NAME OF STUDENT    Under the Guidance of NAME OF GUIDE</dc:title>
  <dc:creator>kunal</dc:creator>
  <cp:lastModifiedBy>Manish Patil</cp:lastModifiedBy>
  <cp:revision>59</cp:revision>
  <cp:lastPrinted>2026-10-30T12:45:24Z</cp:lastPrinted>
  <dcterms:created xsi:type="dcterms:W3CDTF">2006-08-16T00:00:00Z</dcterms:created>
  <dcterms:modified xsi:type="dcterms:W3CDTF">2026-10-30T12:46:39Z</dcterms:modified>
</cp:coreProperties>
</file>