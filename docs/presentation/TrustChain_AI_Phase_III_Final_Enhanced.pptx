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9"/>
  </p:notesMasterIdLst>
  <p:sldIdLst>
    <p:sldId id="256" r:id="rId2"/>
    <p:sldId id="257" r:id="rId3"/>
    <p:sldId id="291" r:id="rId4"/>
    <p:sldId id="258" r:id="rId5"/>
    <p:sldId id="272" r:id="rId6"/>
    <p:sldId id="263" r:id="rId7"/>
    <p:sldId id="264" r:id="rId8"/>
    <p:sldId id="274" r:id="rId9"/>
    <p:sldId id="290" r:id="rId10"/>
    <p:sldId id="273" r:id="rId11"/>
    <p:sldId id="292" r:id="rId12"/>
    <p:sldId id="281" r:id="rId13"/>
    <p:sldId id="279" r:id="rId14"/>
    <p:sldId id="282" r:id="rId15"/>
    <p:sldId id="284" r:id="rId16"/>
    <p:sldId id="288" r:id="rId17"/>
    <p:sldId id="294" r:id="rId18"/>
    <p:sldId id="295" r:id="rId19"/>
    <p:sldId id="296" r:id="rId20"/>
    <p:sldId id="297" r:id="rId21"/>
    <p:sldId id="298" r:id="rId22"/>
    <p:sldId id="275" r:id="rId23"/>
    <p:sldId id="266" r:id="rId24"/>
    <p:sldId id="267" r:id="rId25"/>
    <p:sldId id="277" r:id="rId26"/>
    <p:sldId id="300" r:id="rId34"/>
    <p:sldId id="301" r:id="rId35"/>
    <p:sldId id="302" r:id="rId36"/>
    <p:sldId id="268" r:id="rId27"/>
    <p:sldId id="299" r:id="rId2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p:cViewPr varScale="1">
        <p:scale>
          <a:sx n="78" d="100"/>
          <a:sy n="78" d="100"/>
        </p:scale>
        <p:origin x="576"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7CD8C2-ED11-4C5D-BFB1-2B23E3BBFC8B}" type="datetimeFigureOut">
              <a:rPr lang="en-IN" smtClean="0"/>
              <a:pPr/>
              <a:t>30-10-2026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7237F36-709B-4BED-A067-C7DB16BA189A}"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237F36-709B-4BED-A067-C7DB16BA189A}" type="slidenum">
              <a:rPr lang="en-IN" smtClean="0"/>
              <a:pPr/>
              <a:t>5</a:t>
            </a:fld>
            <a:endParaRPr lang="en-IN"/>
          </a:p>
        </p:txBody>
      </p:sp>
    </p:spTree>
    <p:extLst>
      <p:ext uri="{BB962C8B-B14F-4D97-AF65-F5344CB8AC3E}">
        <p14:creationId xmlns:p14="http://schemas.microsoft.com/office/powerpoint/2010/main" val="8898314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237F36-709B-4BED-A067-C7DB16BA189A}" type="slidenum">
              <a:rPr lang="en-IN" smtClean="0"/>
              <a:pPr/>
              <a:t>10</a:t>
            </a:fld>
            <a:endParaRPr lang="en-IN"/>
          </a:p>
        </p:txBody>
      </p:sp>
    </p:spTree>
    <p:extLst>
      <p:ext uri="{BB962C8B-B14F-4D97-AF65-F5344CB8AC3E}">
        <p14:creationId xmlns:p14="http://schemas.microsoft.com/office/powerpoint/2010/main" val="29721615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237F36-709B-4BED-A067-C7DB16BA189A}" type="slidenum">
              <a:rPr lang="en-IN" smtClean="0"/>
              <a:pPr/>
              <a:t>24</a:t>
            </a:fld>
            <a:endParaRPr lang="en-IN"/>
          </a:p>
        </p:txBody>
      </p:sp>
    </p:spTree>
    <p:extLst>
      <p:ext uri="{BB962C8B-B14F-4D97-AF65-F5344CB8AC3E}">
        <p14:creationId xmlns:p14="http://schemas.microsoft.com/office/powerpoint/2010/main" val="8868857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480"/>
              </a:spcBef>
              <a:spcAft>
                <a:spcPts val="0"/>
              </a:spcAft>
              <a:buClr>
                <a:srgbClr val="888888"/>
              </a:buClr>
              <a:buSzPts val="2400"/>
              <a:buNone/>
              <a:defRPr>
                <a:solidFill>
                  <a:srgbClr val="888888"/>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13"/>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8BEA20EA-0349-4705-BCA1-FD6E25D488B5}" type="datetime1">
              <a:rPr lang="en-US" smtClean="0"/>
              <a:pPr/>
              <a:t>10/30/2026</a:t>
            </a:fld>
            <a:endParaRPr lang="en-US"/>
          </a:p>
        </p:txBody>
      </p:sp>
      <p:sp>
        <p:nvSpPr>
          <p:cNvPr id="19" name="Google Shape;19;p13"/>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20" name="Google Shape;20;p1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fld id="{B6F15528-21DE-4FAA-801E-634DDDAF4B2B}" type="slidenum">
              <a:rPr lang="en-US" smtClean="0"/>
              <a:pPr/>
              <a:t>‹#›</a:t>
            </a:fld>
            <a:endParaRPr lang="en-US"/>
          </a:p>
        </p:txBody>
      </p:sp>
    </p:spTree>
    <p:extLst>
      <p:ext uri="{BB962C8B-B14F-4D97-AF65-F5344CB8AC3E}">
        <p14:creationId xmlns:p14="http://schemas.microsoft.com/office/powerpoint/2010/main" val="3783182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
        <p:cNvGrpSpPr/>
        <p:nvPr/>
      </p:nvGrpSpPr>
      <p:grpSpPr>
        <a:xfrm>
          <a:off x="0" y="0"/>
          <a:ext cx="0" cy="0"/>
          <a:chOff x="0" y="0"/>
          <a:chExt cx="0" cy="0"/>
        </a:xfrm>
      </p:grpSpPr>
      <p:sp>
        <p:nvSpPr>
          <p:cNvPr id="22" name="Google Shape;22;p14"/>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4"/>
          <p:cNvSpPr txBox="1">
            <a:spLocks noGrp="1"/>
          </p:cNvSpPr>
          <p:nvPr>
            <p:ph type="body" idx="1"/>
          </p:nvPr>
        </p:nvSpPr>
        <p:spPr>
          <a:xfrm>
            <a:off x="457200" y="2286000"/>
            <a:ext cx="8229600" cy="4070351"/>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14"/>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C7C1D501-53D3-41AA-AB0F-EC7FAC1EB820}" type="datetime1">
              <a:rPr lang="en-US" smtClean="0"/>
              <a:pPr/>
              <a:t>10/30/2026</a:t>
            </a:fld>
            <a:endParaRPr lang="en-US"/>
          </a:p>
        </p:txBody>
      </p:sp>
      <p:sp>
        <p:nvSpPr>
          <p:cNvPr id="25" name="Google Shape;25;p14"/>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26" name="Google Shape;26;p14"/>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fld id="{B6F15528-21DE-4FAA-801E-634DDDAF4B2B}" type="slidenum">
              <a:rPr lang="en-US" smtClean="0"/>
              <a:pPr/>
              <a:t>‹#›</a:t>
            </a:fld>
            <a:endParaRPr lang="en-US"/>
          </a:p>
        </p:txBody>
      </p:sp>
    </p:spTree>
    <p:extLst>
      <p:ext uri="{BB962C8B-B14F-4D97-AF65-F5344CB8AC3E}">
        <p14:creationId xmlns:p14="http://schemas.microsoft.com/office/powerpoint/2010/main" val="4091221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7"/>
        <p:cNvGrpSpPr/>
        <p:nvPr/>
      </p:nvGrpSpPr>
      <p:grpSpPr>
        <a:xfrm>
          <a:off x="0" y="0"/>
          <a:ext cx="0" cy="0"/>
          <a:chOff x="0" y="0"/>
          <a:chExt cx="0" cy="0"/>
        </a:xfrm>
      </p:grpSpPr>
      <p:sp>
        <p:nvSpPr>
          <p:cNvPr id="28" name="Google Shape;28;p1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15"/>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47E71C75-95A0-4782-AD5B-2C635E75B37E}" type="datetime1">
              <a:rPr lang="en-US" smtClean="0"/>
              <a:pPr/>
              <a:t>10/30/2026</a:t>
            </a:fld>
            <a:endParaRPr lang="en-US"/>
          </a:p>
        </p:txBody>
      </p:sp>
      <p:sp>
        <p:nvSpPr>
          <p:cNvPr id="31" name="Google Shape;31;p15"/>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32" name="Google Shape;32;p15"/>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fld id="{B6F15528-21DE-4FAA-801E-634DDDAF4B2B}" type="slidenum">
              <a:rPr lang="en-US" smtClean="0"/>
              <a:pPr/>
              <a:t>‹#›</a:t>
            </a:fld>
            <a:endParaRPr lang="en-US"/>
          </a:p>
        </p:txBody>
      </p:sp>
    </p:spTree>
    <p:extLst>
      <p:ext uri="{BB962C8B-B14F-4D97-AF65-F5344CB8AC3E}">
        <p14:creationId xmlns:p14="http://schemas.microsoft.com/office/powerpoint/2010/main" val="1497576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3"/>
        <p:cNvGrpSpPr/>
        <p:nvPr/>
      </p:nvGrpSpPr>
      <p:grpSpPr>
        <a:xfrm>
          <a:off x="0" y="0"/>
          <a:ext cx="0" cy="0"/>
          <a:chOff x="0" y="0"/>
          <a:chExt cx="0" cy="0"/>
        </a:xfrm>
      </p:grpSpPr>
      <p:sp>
        <p:nvSpPr>
          <p:cNvPr id="34" name="Google Shape;34;p16"/>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1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16"/>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D83F4B71-1D04-45C1-8B01-49A10CA9C075}" type="datetime1">
              <a:rPr lang="en-US" smtClean="0"/>
              <a:pPr/>
              <a:t>10/30/2026</a:t>
            </a:fld>
            <a:endParaRPr lang="en-US"/>
          </a:p>
        </p:txBody>
      </p:sp>
      <p:sp>
        <p:nvSpPr>
          <p:cNvPr id="38" name="Google Shape;38;p16"/>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39" name="Google Shape;39;p16"/>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fld id="{B6F15528-21DE-4FAA-801E-634DDDAF4B2B}" type="slidenum">
              <a:rPr lang="en-US" smtClean="0"/>
              <a:pPr/>
              <a:t>‹#›</a:t>
            </a:fld>
            <a:endParaRPr lang="en-US"/>
          </a:p>
        </p:txBody>
      </p:sp>
    </p:spTree>
    <p:extLst>
      <p:ext uri="{BB962C8B-B14F-4D97-AF65-F5344CB8AC3E}">
        <p14:creationId xmlns:p14="http://schemas.microsoft.com/office/powerpoint/2010/main" val="4083083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0"/>
        <p:cNvGrpSpPr/>
        <p:nvPr/>
      </p:nvGrpSpPr>
      <p:grpSpPr>
        <a:xfrm>
          <a:off x="0" y="0"/>
          <a:ext cx="0" cy="0"/>
          <a:chOff x="0" y="0"/>
          <a:chExt cx="0" cy="0"/>
        </a:xfrm>
      </p:grpSpPr>
      <p:sp>
        <p:nvSpPr>
          <p:cNvPr id="41" name="Google Shape;41;p17"/>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36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1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1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1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17"/>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232A0925-4DFA-4031-AC1C-EE687C8A35B9}" type="datetime1">
              <a:rPr lang="en-US" smtClean="0"/>
              <a:pPr/>
              <a:t>10/30/2026</a:t>
            </a:fld>
            <a:endParaRPr lang="en-US"/>
          </a:p>
        </p:txBody>
      </p:sp>
      <p:sp>
        <p:nvSpPr>
          <p:cNvPr id="47" name="Google Shape;47;p17"/>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48" name="Google Shape;48;p17"/>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fld id="{B6F15528-21DE-4FAA-801E-634DDDAF4B2B}" type="slidenum">
              <a:rPr lang="en-US" smtClean="0"/>
              <a:pPr/>
              <a:t>‹#›</a:t>
            </a:fld>
            <a:endParaRPr lang="en-US"/>
          </a:p>
        </p:txBody>
      </p:sp>
    </p:spTree>
    <p:extLst>
      <p:ext uri="{BB962C8B-B14F-4D97-AF65-F5344CB8AC3E}">
        <p14:creationId xmlns:p14="http://schemas.microsoft.com/office/powerpoint/2010/main" val="293249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8"/>
        <p:cNvGrpSpPr/>
        <p:nvPr/>
      </p:nvGrpSpPr>
      <p:grpSpPr>
        <a:xfrm>
          <a:off x="0" y="0"/>
          <a:ext cx="0" cy="0"/>
          <a:chOff x="0" y="0"/>
          <a:chExt cx="0" cy="0"/>
        </a:xfrm>
      </p:grpSpPr>
      <p:sp>
        <p:nvSpPr>
          <p:cNvPr id="59" name="Google Shape;59;p2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2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20"/>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81C7D5A3-45C0-4945-9331-D861858FAA3A}" type="datetime1">
              <a:rPr lang="en-US" smtClean="0"/>
              <a:pPr/>
              <a:t>10/30/2026</a:t>
            </a:fld>
            <a:endParaRPr lang="en-US"/>
          </a:p>
        </p:txBody>
      </p:sp>
      <p:sp>
        <p:nvSpPr>
          <p:cNvPr id="63" name="Google Shape;63;p20"/>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64" name="Google Shape;64;p20"/>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fld id="{B6F15528-21DE-4FAA-801E-634DDDAF4B2B}" type="slidenum">
              <a:rPr lang="en-US" smtClean="0"/>
              <a:pPr/>
              <a:t>‹#›</a:t>
            </a:fld>
            <a:endParaRPr lang="en-US"/>
          </a:p>
        </p:txBody>
      </p:sp>
    </p:spTree>
    <p:extLst>
      <p:ext uri="{BB962C8B-B14F-4D97-AF65-F5344CB8AC3E}">
        <p14:creationId xmlns:p14="http://schemas.microsoft.com/office/powerpoint/2010/main" val="427767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5"/>
        <p:cNvGrpSpPr/>
        <p:nvPr/>
      </p:nvGrpSpPr>
      <p:grpSpPr>
        <a:xfrm>
          <a:off x="0" y="0"/>
          <a:ext cx="0" cy="0"/>
          <a:chOff x="0" y="0"/>
          <a:chExt cx="0" cy="0"/>
        </a:xfrm>
      </p:grpSpPr>
      <p:sp>
        <p:nvSpPr>
          <p:cNvPr id="66" name="Google Shape;66;p2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1"/>
          <p:cNvSpPr>
            <a:spLocks noGrp="1"/>
          </p:cNvSpPr>
          <p:nvPr>
            <p:ph type="pic" idx="2"/>
          </p:nvPr>
        </p:nvSpPr>
        <p:spPr>
          <a:xfrm>
            <a:off x="1792288" y="612775"/>
            <a:ext cx="5486400" cy="4114800"/>
          </a:xfrm>
          <a:prstGeom prst="rect">
            <a:avLst/>
          </a:prstGeom>
          <a:noFill/>
          <a:ln>
            <a:noFill/>
          </a:ln>
        </p:spPr>
      </p:sp>
      <p:sp>
        <p:nvSpPr>
          <p:cNvPr id="68" name="Google Shape;68;p2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21"/>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17379806-2787-4536-BE2E-76D988C62929}" type="datetime1">
              <a:rPr lang="en-US" smtClean="0"/>
              <a:pPr/>
              <a:t>10/30/2026</a:t>
            </a:fld>
            <a:endParaRPr lang="en-US"/>
          </a:p>
        </p:txBody>
      </p:sp>
      <p:sp>
        <p:nvSpPr>
          <p:cNvPr id="70" name="Google Shape;70;p21"/>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71" name="Google Shape;71;p21"/>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fld id="{B6F15528-21DE-4FAA-801E-634DDDAF4B2B}" type="slidenum">
              <a:rPr lang="en-US" smtClean="0"/>
              <a:pPr/>
              <a:t>‹#›</a:t>
            </a:fld>
            <a:endParaRPr lang="en-US"/>
          </a:p>
        </p:txBody>
      </p:sp>
    </p:spTree>
    <p:extLst>
      <p:ext uri="{BB962C8B-B14F-4D97-AF65-F5344CB8AC3E}">
        <p14:creationId xmlns:p14="http://schemas.microsoft.com/office/powerpoint/2010/main" val="2889976883"/>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2"/>
        <p:cNvGrpSpPr/>
        <p:nvPr/>
      </p:nvGrpSpPr>
      <p:grpSpPr>
        <a:xfrm>
          <a:off x="0" y="0"/>
          <a:ext cx="0" cy="0"/>
          <a:chOff x="0" y="0"/>
          <a:chExt cx="0" cy="0"/>
        </a:xfrm>
      </p:grpSpPr>
      <p:sp>
        <p:nvSpPr>
          <p:cNvPr id="73" name="Google Shape;73;p22"/>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2"/>
          <p:cNvSpPr txBox="1">
            <a:spLocks noGrp="1"/>
          </p:cNvSpPr>
          <p:nvPr>
            <p:ph type="body" idx="1"/>
          </p:nvPr>
        </p:nvSpPr>
        <p:spPr>
          <a:xfrm rot="5400000">
            <a:off x="2536824" y="206375"/>
            <a:ext cx="4070351"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22"/>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A1904A80-5AB2-42BC-8BEE-7DD0D76C722C}" type="datetime1">
              <a:rPr lang="en-US" smtClean="0"/>
              <a:pPr/>
              <a:t>10/30/2026</a:t>
            </a:fld>
            <a:endParaRPr lang="en-US"/>
          </a:p>
        </p:txBody>
      </p:sp>
      <p:sp>
        <p:nvSpPr>
          <p:cNvPr id="76" name="Google Shape;76;p22"/>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77" name="Google Shape;77;p22"/>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fld id="{B6F15528-21DE-4FAA-801E-634DDDAF4B2B}" type="slidenum">
              <a:rPr lang="en-US" smtClean="0"/>
              <a:pPr/>
              <a:t>‹#›</a:t>
            </a:fld>
            <a:endParaRPr lang="en-US"/>
          </a:p>
        </p:txBody>
      </p:sp>
    </p:spTree>
    <p:extLst>
      <p:ext uri="{BB962C8B-B14F-4D97-AF65-F5344CB8AC3E}">
        <p14:creationId xmlns:p14="http://schemas.microsoft.com/office/powerpoint/2010/main" val="4102296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23"/>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3"/>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23"/>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5C9A9B33-76AE-4D19-9682-D146607365AE}" type="datetime1">
              <a:rPr lang="en-US" smtClean="0"/>
              <a:pPr/>
              <a:t>10/30/2026</a:t>
            </a:fld>
            <a:endParaRPr lang="en-US"/>
          </a:p>
        </p:txBody>
      </p:sp>
      <p:sp>
        <p:nvSpPr>
          <p:cNvPr id="82" name="Google Shape;82;p23"/>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83" name="Google Shape;83;p2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fld id="{B6F15528-21DE-4FAA-801E-634DDDAF4B2B}" type="slidenum">
              <a:rPr lang="en-US" smtClean="0"/>
              <a:pPr/>
              <a:t>‹#›</a:t>
            </a:fld>
            <a:endParaRPr lang="en-US"/>
          </a:p>
        </p:txBody>
      </p:sp>
    </p:spTree>
    <p:extLst>
      <p:ext uri="{BB962C8B-B14F-4D97-AF65-F5344CB8AC3E}">
        <p14:creationId xmlns:p14="http://schemas.microsoft.com/office/powerpoint/2010/main" val="1434174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253461-3314-417A-9E69-8C7D69C055C2}" type="datetime1">
              <a:rPr lang="en-US" smtClean="0"/>
              <a:pPr/>
              <a:t>10/30/2026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2647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38F9D56-42E6-4D5F-BCD7-8DF45E18B82B}" type="datetime1">
              <a:rPr lang="en-US" smtClean="0"/>
              <a:pPr/>
              <a:t>10/30/2026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152295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2"/>
          <p:cNvSpPr txBox="1">
            <a:spLocks noGrp="1"/>
          </p:cNvSpPr>
          <p:nvPr>
            <p:ph type="body" idx="1"/>
          </p:nvPr>
        </p:nvSpPr>
        <p:spPr>
          <a:xfrm>
            <a:off x="457200" y="2286000"/>
            <a:ext cx="8229600" cy="4070351"/>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2"/>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fld id="{17379806-2787-4536-BE2E-76D988C62929}" type="datetime1">
              <a:rPr lang="en-US" smtClean="0"/>
              <a:pPr/>
              <a:t>10/30/2026</a:t>
            </a:fld>
            <a:endParaRPr lang="en-US"/>
          </a:p>
        </p:txBody>
      </p:sp>
      <p:sp>
        <p:nvSpPr>
          <p:cNvPr id="13" name="Google Shape;13;p12"/>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lang="en-US"/>
          </a:p>
        </p:txBody>
      </p:sp>
      <p:sp>
        <p:nvSpPr>
          <p:cNvPr id="14" name="Google Shape;14;p12"/>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fld id="{B6F15528-21DE-4FAA-801E-634DDDAF4B2B}" type="slidenum">
              <a:rPr lang="en-US" smtClean="0"/>
              <a:pPr/>
              <a:t>‹#›</a:t>
            </a:fld>
            <a:endParaRPr lang="en-US"/>
          </a:p>
        </p:txBody>
      </p:sp>
    </p:spTree>
    <p:extLst>
      <p:ext uri="{BB962C8B-B14F-4D97-AF65-F5344CB8AC3E}">
        <p14:creationId xmlns:p14="http://schemas.microsoft.com/office/powerpoint/2010/main" val="2814277150"/>
      </p:ext>
    </p:extLst>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0"/>
            <a:ext cx="7772400" cy="4347497"/>
          </a:xfrm>
        </p:spPr>
        <p:txBody>
          <a:bodyPr>
            <a:noAutofit/>
          </a:bodyPr>
          <a:lstStyle/>
          <a:p>
            <a:r>
              <a:rPr lang="en-IN" sz="2000" b="1" dirty="0">
                <a:latin typeface="Times New Roman" pitchFamily="18" charset="0"/>
                <a:cs typeface="Times New Roman" pitchFamily="18" charset="0"/>
              </a:rPr>
              <a:t>A </a:t>
            </a:r>
            <a:br>
              <a:rPr lang="en-IN" sz="2000" b="1" dirty="0">
                <a:latin typeface="Times New Roman" pitchFamily="18" charset="0"/>
                <a:cs typeface="Times New Roman" pitchFamily="18" charset="0"/>
              </a:rPr>
            </a:br>
            <a:r>
              <a:rPr lang="en-IN" sz="2000" b="1" dirty="0">
                <a:latin typeface="Times New Roman" pitchFamily="18" charset="0"/>
                <a:cs typeface="Times New Roman" pitchFamily="18" charset="0"/>
              </a:rPr>
              <a:t>Presentation</a:t>
            </a:r>
            <a:br>
              <a:rPr lang="en-IN" sz="2000" b="1" dirty="0">
                <a:latin typeface="Times New Roman" pitchFamily="18" charset="0"/>
                <a:cs typeface="Times New Roman" pitchFamily="18" charset="0"/>
              </a:rPr>
            </a:br>
            <a:r>
              <a:rPr lang="en-IN" sz="2000" b="1" dirty="0">
                <a:latin typeface="Times New Roman" pitchFamily="18" charset="0"/>
                <a:cs typeface="Times New Roman" pitchFamily="18" charset="0"/>
              </a:rPr>
              <a:t>on</a:t>
            </a:r>
            <a:br>
              <a:rPr lang="en-IN" sz="2000" b="1" dirty="0">
                <a:latin typeface="Times New Roman" pitchFamily="18" charset="0"/>
                <a:cs typeface="Times New Roman" pitchFamily="18" charset="0"/>
              </a:rPr>
            </a:br>
            <a:r>
              <a:rPr lang="en-IN" sz="2000" b="1" dirty="0">
                <a:latin typeface="Times New Roman" pitchFamily="18" charset="0"/>
                <a:cs typeface="Times New Roman" pitchFamily="18" charset="0"/>
              </a:rPr>
              <a:t>“</a:t>
            </a:r>
            <a:r>
              <a:rPr lang="en-IN" sz="2000" b="1" dirty="0" err="1">
                <a:latin typeface="Times New Roman" panose="02020603050405020304" pitchFamily="18" charset="0"/>
                <a:cs typeface="Times New Roman" panose="02020603050405020304" pitchFamily="18" charset="0"/>
              </a:rPr>
              <a:t>TrustChain</a:t>
            </a:r>
            <a:r>
              <a:rPr lang="en-IN" sz="2000" b="1" dirty="0">
                <a:latin typeface="Times New Roman" panose="02020603050405020304" pitchFamily="18" charset="0"/>
                <a:cs typeface="Times New Roman" panose="02020603050405020304" pitchFamily="18" charset="0"/>
              </a:rPr>
              <a:t>-AI: A Decentralized Trust Intelligence Framework for Secure Autonomous AI Agent Collaboration”</a:t>
            </a:r>
            <a:br>
              <a:rPr lang="en-IN"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By</a:t>
            </a:r>
            <a:br>
              <a:rPr lang="en-IN" sz="2000" b="1" dirty="0">
                <a:latin typeface="Times New Roman" panose="02020603050405020304" pitchFamily="18" charset="0"/>
                <a:cs typeface="Times New Roman" panose="02020603050405020304" pitchFamily="18" charset="0"/>
              </a:rPr>
            </a:br>
            <a:br>
              <a:rPr lang="en-IN"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MANISH PATIL (E260)</a:t>
            </a:r>
            <a:br>
              <a:rPr lang="en-IN"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DURGESH AGRAWAL (E262)</a:t>
            </a:r>
            <a:br>
              <a:rPr lang="en-IN"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YASH GEHLOT(E237)</a:t>
            </a:r>
            <a:br>
              <a:rPr lang="en-IN" sz="2000" b="1" dirty="0">
                <a:latin typeface="Times New Roman" panose="02020603050405020304" pitchFamily="18" charset="0"/>
                <a:cs typeface="Times New Roman" panose="02020603050405020304" pitchFamily="18" charset="0"/>
              </a:rPr>
            </a:br>
            <a:br>
              <a:rPr lang="en-IN"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Under the Guidance of</a:t>
            </a:r>
            <a:br>
              <a:rPr lang="en-IN" sz="2000" b="1"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Dr. Suraj Patil</a:t>
            </a:r>
          </a:p>
        </p:txBody>
      </p:sp>
      <p:sp>
        <p:nvSpPr>
          <p:cNvPr id="7" name="Slide Number Placeholder 6"/>
          <p:cNvSpPr>
            <a:spLocks noGrp="1"/>
          </p:cNvSpPr>
          <p:nvPr>
            <p:ph type="sldNum" idx="12"/>
          </p:nvPr>
        </p:nvSpPr>
        <p:spPr/>
        <p:txBody>
          <a:bodyPr/>
          <a:lstStyle/>
          <a:p>
            <a:fld id="{B6F15528-21DE-4FAA-801E-634DDDAF4B2B}" type="slidenum">
              <a:rPr lang="en-US" smtClean="0"/>
              <a:pPr/>
              <a:t>1</a:t>
            </a:fld>
            <a:endParaRPr lang="en-US"/>
          </a:p>
        </p:txBody>
      </p:sp>
      <p:pic>
        <p:nvPicPr>
          <p:cNvPr id="1027" name="Picture 3" descr="C:\Users\kunal\Pictures\nmims.png"/>
          <p:cNvPicPr>
            <a:picLocks noChangeAspect="1" noChangeArrowheads="1"/>
          </p:cNvPicPr>
          <p:nvPr/>
        </p:nvPicPr>
        <p:blipFill>
          <a:blip r:embed="rId2" cstate="print"/>
          <a:srcRect/>
          <a:stretch>
            <a:fillRect/>
          </a:stretch>
        </p:blipFill>
        <p:spPr bwMode="auto">
          <a:xfrm>
            <a:off x="4081460" y="4724400"/>
            <a:ext cx="1057275" cy="1209675"/>
          </a:xfrm>
          <a:prstGeom prst="rect">
            <a:avLst/>
          </a:prstGeom>
          <a:noFill/>
        </p:spPr>
      </p:pic>
      <p:sp>
        <p:nvSpPr>
          <p:cNvPr id="6" name="TextBox 5"/>
          <p:cNvSpPr txBox="1"/>
          <p:nvPr/>
        </p:nvSpPr>
        <p:spPr>
          <a:xfrm>
            <a:off x="1485898" y="5657671"/>
            <a:ext cx="6248400" cy="1200329"/>
          </a:xfrm>
          <a:prstGeom prst="rect">
            <a:avLst/>
          </a:prstGeom>
          <a:noFill/>
        </p:spPr>
        <p:txBody>
          <a:bodyPr wrap="square" rtlCol="0">
            <a:spAutoFit/>
          </a:bodyPr>
          <a:lstStyle/>
          <a:p>
            <a:pPr algn="ctr"/>
            <a:endParaRPr lang="en-IN" b="1" dirty="0">
              <a:latin typeface="Times New Roman" pitchFamily="18" charset="0"/>
              <a:cs typeface="Times New Roman" pitchFamily="18" charset="0"/>
            </a:endParaRPr>
          </a:p>
          <a:p>
            <a:pPr algn="ctr"/>
            <a:r>
              <a:rPr lang="en-IN" b="1" dirty="0">
                <a:latin typeface="Times New Roman" pitchFamily="18" charset="0"/>
                <a:cs typeface="Times New Roman" pitchFamily="18" charset="0"/>
              </a:rPr>
              <a:t>Department of Computer Science</a:t>
            </a:r>
          </a:p>
          <a:p>
            <a:pPr algn="ctr"/>
            <a:r>
              <a:rPr lang="en-IN" b="1" dirty="0">
                <a:latin typeface="Times New Roman" pitchFamily="18" charset="0"/>
                <a:cs typeface="Times New Roman" pitchFamily="18" charset="0"/>
              </a:rPr>
              <a:t>MPSTME, Shirpur Campus</a:t>
            </a:r>
          </a:p>
          <a:p>
            <a:pPr algn="ctr"/>
            <a:r>
              <a:rPr lang="en-IN" b="1" dirty="0">
                <a:latin typeface="Times New Roman" pitchFamily="18" charset="0"/>
                <a:cs typeface="Times New Roman" pitchFamily="18" charset="0"/>
              </a:rPr>
              <a:t>2026-27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69662"/>
            <a:ext cx="8229600" cy="1143000"/>
          </a:xfrm>
        </p:spPr>
        <p:txBody>
          <a:bodyPr>
            <a:normAutofit/>
          </a:bodyPr>
          <a:lstStyle/>
          <a:p>
            <a:r>
              <a:rPr lang="en-IN" b="1" dirty="0">
                <a:latin typeface="Times New Roman" pitchFamily="18" charset="0"/>
                <a:cs typeface="Times New Roman" pitchFamily="18" charset="0"/>
              </a:rPr>
              <a:t>Outline</a:t>
            </a:r>
          </a:p>
        </p:txBody>
      </p:sp>
      <p:sp>
        <p:nvSpPr>
          <p:cNvPr id="3" name="Content Placeholder 2"/>
          <p:cNvSpPr>
            <a:spLocks noGrp="1"/>
          </p:cNvSpPr>
          <p:nvPr>
            <p:ph type="body" idx="1"/>
          </p:nvPr>
        </p:nvSpPr>
        <p:spPr>
          <a:xfrm>
            <a:off x="457200" y="2057400"/>
            <a:ext cx="8229600" cy="3792804"/>
          </a:xfrm>
        </p:spPr>
        <p:txBody>
          <a:bodyPr>
            <a:noAutofit/>
          </a:bodyPr>
          <a:lstStyle/>
          <a:p>
            <a:pPr>
              <a:lnSpc>
                <a:spcPct val="150000"/>
              </a:lnSpc>
              <a:spcAft>
                <a:spcPts val="300"/>
              </a:spcAft>
              <a:defRPr sz="1500">
                <a:solidFill>
                  <a:srgbClr val="1E293B"/>
                </a:solidFill>
                <a:latin typeface="Times New Roman"/>
              </a:defRPr>
            </a:pPr>
            <a:r>
              <a:t>Objective of Project</a:t>
            </a:r>
          </a:p>
          <a:p>
            <a:pPr>
              <a:spcAft>
                <a:spcPts val="300"/>
              </a:spcAft>
              <a:defRPr sz="1500">
                <a:solidFill>
                  <a:srgbClr val="1E293B"/>
                </a:solidFill>
                <a:latin typeface="Times New Roman"/>
              </a:defRPr>
            </a:pPr>
            <a:r>
              <a:t>Literature Survey</a:t>
            </a:r>
          </a:p>
          <a:p>
            <a:pPr>
              <a:spcAft>
                <a:spcPts val="300"/>
              </a:spcAft>
              <a:defRPr sz="1500">
                <a:solidFill>
                  <a:srgbClr val="1E293B"/>
                </a:solidFill>
                <a:latin typeface="Times New Roman"/>
              </a:defRPr>
            </a:pPr>
            <a:r>
              <a:t>Problem Statement</a:t>
            </a:r>
          </a:p>
          <a:p>
            <a:pPr>
              <a:spcAft>
                <a:spcPts val="300"/>
              </a:spcAft>
              <a:defRPr sz="1500">
                <a:solidFill>
                  <a:srgbClr val="1E293B"/>
                </a:solidFill>
                <a:latin typeface="Times New Roman"/>
              </a:defRPr>
            </a:pPr>
            <a:r>
              <a:t>Proposed Solution &amp; System Architecture</a:t>
            </a:r>
          </a:p>
          <a:p>
            <a:pPr>
              <a:spcAft>
                <a:spcPts val="300"/>
              </a:spcAft>
              <a:defRPr sz="1500">
                <a:solidFill>
                  <a:srgbClr val="1E293B"/>
                </a:solidFill>
                <a:latin typeface="Times New Roman"/>
              </a:defRPr>
            </a:pPr>
            <a:r>
              <a:t>Decentralized Identity &amp; Trust Intelligence Lifecycle</a:t>
            </a:r>
          </a:p>
          <a:p>
            <a:pPr>
              <a:spcAft>
                <a:spcPts val="300"/>
              </a:spcAft>
              <a:defRPr sz="1500">
                <a:solidFill>
                  <a:srgbClr val="1E293B"/>
                </a:solidFill>
                <a:latin typeface="Times New Roman"/>
              </a:defRPr>
            </a:pPr>
            <a:r>
              <a:t>Software and Hardware Requirements</a:t>
            </a:r>
          </a:p>
          <a:p>
            <a:pPr>
              <a:spcAft>
                <a:spcPts val="300"/>
              </a:spcAft>
              <a:defRPr sz="1500">
                <a:solidFill>
                  <a:srgbClr val="1E293B"/>
                </a:solidFill>
                <a:latin typeface="Times New Roman"/>
              </a:defRPr>
            </a:pPr>
            <a:r>
              <a:t>Project Development Timeline (Gantt Chart)</a:t>
            </a:r>
          </a:p>
          <a:p>
            <a:pPr>
              <a:spcAft>
                <a:spcPts val="300"/>
              </a:spcAft>
              <a:defRPr sz="1500">
                <a:solidFill>
                  <a:srgbClr val="1E293B"/>
                </a:solidFill>
                <a:latin typeface="Times New Roman"/>
              </a:defRPr>
            </a:pPr>
            <a:r>
              <a:t>Implementation &amp; Technical Validation</a:t>
            </a:r>
          </a:p>
          <a:p>
            <a:pPr>
              <a:spcAft>
                <a:spcPts val="300"/>
              </a:spcAft>
              <a:defRPr sz="1500">
                <a:solidFill>
                  <a:srgbClr val="1E293B"/>
                </a:solidFill>
                <a:latin typeface="Times New Roman"/>
              </a:defRPr>
            </a:pPr>
            <a:r>
              <a:t>Results Analysis &amp; System Evaluation</a:t>
            </a:r>
          </a:p>
          <a:p>
            <a:pPr>
              <a:spcAft>
                <a:spcPts val="300"/>
              </a:spcAft>
              <a:defRPr sz="1500">
                <a:solidFill>
                  <a:srgbClr val="1E293B"/>
                </a:solidFill>
                <a:latin typeface="Times New Roman"/>
              </a:defRPr>
            </a:pPr>
            <a:r>
              <a:t>Project Outcomes &amp; Conclusion</a:t>
            </a:r>
          </a:p>
          <a:p>
            <a:pPr>
              <a:spcAft>
                <a:spcPts val="300"/>
              </a:spcAft>
              <a:defRPr sz="1500">
                <a:solidFill>
                  <a:srgbClr val="1E293B"/>
                </a:solidFill>
                <a:latin typeface="Times New Roman"/>
              </a:defRPr>
            </a:pPr>
            <a:r>
              <a:t>References</a:t>
            </a:r>
          </a:p>
        </p:txBody>
      </p:sp>
      <p:sp>
        <p:nvSpPr>
          <p:cNvPr id="4" name="Slide Number Placeholder 3"/>
          <p:cNvSpPr>
            <a:spLocks noGrp="1"/>
          </p:cNvSpPr>
          <p:nvPr>
            <p:ph type="sldNum" idx="12"/>
          </p:nvPr>
        </p:nvSpPr>
        <p:spPr/>
        <p:txBody>
          <a:bodyPr/>
          <a:lstStyle/>
          <a:p>
            <a:fld id="{B6F15528-21DE-4FAA-801E-634DDDAF4B2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401B0-A38E-1EB6-320C-DCDFBCE4C106}"/>
              </a:ext>
            </a:extLst>
          </p:cNvPr>
          <p:cNvSpPr>
            <a:spLocks noGrp="1"/>
          </p:cNvSpPr>
          <p:nvPr>
            <p:ph type="title"/>
          </p:nvPr>
        </p:nvSpPr>
        <p:spPr>
          <a:xfrm>
            <a:off x="425245" y="1143000"/>
            <a:ext cx="8229600" cy="914400"/>
          </a:xfrm>
        </p:spPr>
        <p:txBody>
          <a:bodyPr>
            <a:normAutofit/>
          </a:bodyPr>
          <a:lstStyle/>
          <a:p>
            <a:r>
              <a:rPr lang="en-IN" dirty="0"/>
              <a:t>Progress Since Phase II</a:t>
            </a:r>
          </a:p>
        </p:txBody>
      </p:sp>
      <p:sp>
        <p:nvSpPr>
          <p:cNvPr id="4" name="Slide Number Placeholder 3">
            <a:extLst>
              <a:ext uri="{FF2B5EF4-FFF2-40B4-BE49-F238E27FC236}">
                <a16:creationId xmlns:a16="http://schemas.microsoft.com/office/drawing/2014/main" id="{7C5AE437-DC0C-0A9B-A490-9267571E8838}"/>
              </a:ext>
            </a:extLst>
          </p:cNvPr>
          <p:cNvSpPr>
            <a:spLocks noGrp="1"/>
          </p:cNvSpPr>
          <p:nvPr>
            <p:ph type="sldNum" idx="12"/>
          </p:nvPr>
        </p:nvSpPr>
        <p:spPr/>
        <p:txBody>
          <a:bodyPr/>
          <a:lstStyle/>
          <a:p>
            <a:fld id="{B6F15528-21DE-4FAA-801E-634DDDAF4B2B}" type="slidenum">
              <a:rPr lang="en-US" smtClean="0"/>
              <a:pPr/>
              <a:t>3</a:t>
            </a:fld>
            <a:endParaRPr lang="en-US"/>
          </a:p>
        </p:txBody>
      </p:sp>
      <p:graphicFrame>
        <p:nvGraphicFramePr>
          <p:cNvPr id="5" name="Table 4">
            <a:extLst>
              <a:ext uri="{FF2B5EF4-FFF2-40B4-BE49-F238E27FC236}">
                <a16:creationId xmlns:a16="http://schemas.microsoft.com/office/drawing/2014/main" id="{1A73FA75-2E92-8256-198C-1329EA0B40DD}"/>
              </a:ext>
            </a:extLst>
          </p:cNvPr>
          <p:cNvGraphicFramePr>
            <a:graphicFrameLocks noGrp="1"/>
          </p:cNvGraphicFramePr>
          <p:nvPr>
            <p:extLst>
              <p:ext uri="{D42A27DB-BD31-4B8C-83A1-F6EECF244321}">
                <p14:modId xmlns:p14="http://schemas.microsoft.com/office/powerpoint/2010/main" val="1504180756"/>
              </p:ext>
            </p:extLst>
          </p:nvPr>
        </p:nvGraphicFramePr>
        <p:xfrm>
          <a:off x="457200" y="1920615"/>
          <a:ext cx="8077200" cy="4589717"/>
        </p:xfrm>
        <a:graphic>
          <a:graphicData uri="http://schemas.openxmlformats.org/drawingml/2006/table">
            <a:tbl>
              <a:tblPr>
                <a:tableStyleId>{2D5ABB26-0587-4C30-8999-92F81FD0307C}</a:tableStyleId>
              </a:tblPr>
              <a:tblGrid>
                <a:gridCol w="2692400">
                  <a:extLst>
                    <a:ext uri="{9D8B030D-6E8A-4147-A177-3AD203B41FA5}">
                      <a16:colId xmlns:a16="http://schemas.microsoft.com/office/drawing/2014/main" val="1025360909"/>
                    </a:ext>
                  </a:extLst>
                </a:gridCol>
                <a:gridCol w="2692400">
                  <a:extLst>
                    <a:ext uri="{9D8B030D-6E8A-4147-A177-3AD203B41FA5}">
                      <a16:colId xmlns:a16="http://schemas.microsoft.com/office/drawing/2014/main" val="3955646252"/>
                    </a:ext>
                  </a:extLst>
                </a:gridCol>
                <a:gridCol w="2692400">
                  <a:extLst>
                    <a:ext uri="{9D8B030D-6E8A-4147-A177-3AD203B41FA5}">
                      <a16:colId xmlns:a16="http://schemas.microsoft.com/office/drawing/2014/main" val="7229974"/>
                    </a:ext>
                  </a:extLst>
                </a:gridCol>
              </a:tblGrid>
              <a:tr h="381000">
                <a:tc>
                  <a:txBody>
                    <a:bodyPr/>
                    <a:lstStyle/>
                    <a:p>
                      <a:pPr>
                        <a:buNone/>
                      </a:pPr>
                      <a:r>
                        <a:rPr lang="en-IN" sz="1200" b="1" dirty="0">
                          <a:effectLst/>
                          <a:latin typeface="Times New Roman" panose="02020603050405020304" pitchFamily="18" charset="0"/>
                          <a:cs typeface="Times New Roman" panose="02020603050405020304" pitchFamily="18" charset="0"/>
                        </a:rPr>
                        <a:t>Area</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buNone/>
                      </a:pPr>
                      <a:r>
                        <a:rPr lang="en-IN" sz="1200" b="1" dirty="0">
                          <a:effectLst/>
                          <a:latin typeface="Times New Roman" panose="02020603050405020304" pitchFamily="18" charset="0"/>
                          <a:cs typeface="Times New Roman" panose="02020603050405020304" pitchFamily="18" charset="0"/>
                        </a:rPr>
                        <a:t>At Phase II</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buNone/>
                      </a:pPr>
                      <a:r>
                        <a:rPr lang="en-IN" sz="1200" b="1" dirty="0">
                          <a:effectLst/>
                          <a:latin typeface="Times New Roman" panose="02020603050405020304" pitchFamily="18" charset="0"/>
                          <a:cs typeface="Times New Roman" panose="02020603050405020304" pitchFamily="18" charset="0"/>
                        </a:rPr>
                        <a:t>At Phase III</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906989919"/>
                  </a:ext>
                </a:extLst>
              </a:tr>
              <a:tr h="736285">
                <a:tc>
                  <a:txBody>
                    <a:bodyPr/>
                    <a:lstStyle/>
                    <a:p>
                      <a:pPr algn="ctr">
                        <a:buNone/>
                      </a:pPr>
                      <a:r>
                        <a:rPr lang="en-IN" sz="1200" dirty="0">
                          <a:effectLst/>
                          <a:latin typeface="Times New Roman" panose="02020603050405020304" pitchFamily="18" charset="0"/>
                          <a:cs typeface="Times New Roman" panose="02020603050405020304" pitchFamily="18" charset="0"/>
                        </a:rPr>
                        <a:t>Identity</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dirty="0" err="1">
                          <a:effectLst/>
                          <a:latin typeface="Times New Roman" panose="02020603050405020304" pitchFamily="18" charset="0"/>
                          <a:cs typeface="Times New Roman" panose="02020603050405020304" pitchFamily="18" charset="0"/>
                        </a:rPr>
                        <a:t>did:key</a:t>
                      </a:r>
                      <a:r>
                        <a:rPr lang="en-IN" sz="1200" dirty="0">
                          <a:effectLst/>
                          <a:latin typeface="Times New Roman" panose="02020603050405020304" pitchFamily="18" charset="0"/>
                          <a:cs typeface="Times New Roman" panose="02020603050405020304" pitchFamily="18" charset="0"/>
                        </a:rPr>
                        <a:t> + Ed25519 demonstrated</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dirty="0">
                          <a:effectLst/>
                          <a:latin typeface="Times New Roman" panose="02020603050405020304" pitchFamily="18" charset="0"/>
                          <a:cs typeface="Times New Roman" panose="02020603050405020304" pitchFamily="18" charset="0"/>
                        </a:rPr>
                        <a:t>Full </a:t>
                      </a:r>
                      <a:r>
                        <a:rPr lang="en-IN" sz="1200" dirty="0" err="1">
                          <a:effectLst/>
                          <a:latin typeface="Times New Roman" panose="02020603050405020304" pitchFamily="18" charset="0"/>
                          <a:cs typeface="Times New Roman" panose="02020603050405020304" pitchFamily="18" charset="0"/>
                        </a:rPr>
                        <a:t>did:key</a:t>
                      </a:r>
                      <a:r>
                        <a:rPr lang="en-IN" sz="1200" dirty="0">
                          <a:effectLst/>
                          <a:latin typeface="Times New Roman" panose="02020603050405020304" pitchFamily="18" charset="0"/>
                          <a:cs typeface="Times New Roman" panose="02020603050405020304" pitchFamily="18" charset="0"/>
                        </a:rPr>
                        <a:t> + W3C VC lifecycle with URDNA2015 canonicalization and Ed25519Signature2020 proofs</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6031548"/>
                  </a:ext>
                </a:extLst>
              </a:tr>
              <a:tr h="570027">
                <a:tc>
                  <a:txBody>
                    <a:bodyPr/>
                    <a:lstStyle/>
                    <a:p>
                      <a:pPr algn="ctr">
                        <a:buNone/>
                      </a:pPr>
                      <a:r>
                        <a:rPr lang="en-IN" sz="1200" dirty="0">
                          <a:effectLst/>
                          <a:latin typeface="Times New Roman" panose="02020603050405020304" pitchFamily="18" charset="0"/>
                          <a:cs typeface="Times New Roman" panose="02020603050405020304" pitchFamily="18" charset="0"/>
                        </a:rPr>
                        <a:t>Trust engine</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dirty="0">
                          <a:effectLst/>
                          <a:latin typeface="Times New Roman" panose="02020603050405020304" pitchFamily="18" charset="0"/>
                          <a:cs typeface="Times New Roman" panose="02020603050405020304" pitchFamily="18" charset="0"/>
                        </a:rPr>
                        <a:t>EMA scoring, 3 states + revoke</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dirty="0">
                          <a:effectLst/>
                          <a:latin typeface="Times New Roman" panose="02020603050405020304" pitchFamily="18" charset="0"/>
                          <a:cs typeface="Times New Roman" panose="02020603050405020304" pitchFamily="18" charset="0"/>
                        </a:rPr>
                        <a:t>Same engine, validated with a 10-round scenario and a live /health probe</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3644050"/>
                  </a:ext>
                </a:extLst>
              </a:tr>
              <a:tr h="736285">
                <a:tc>
                  <a:txBody>
                    <a:bodyPr/>
                    <a:lstStyle/>
                    <a:p>
                      <a:pPr algn="ctr">
                        <a:buNone/>
                      </a:pPr>
                      <a:r>
                        <a:rPr lang="en-IN" sz="1200" dirty="0">
                          <a:effectLst/>
                          <a:latin typeface="Times New Roman" panose="02020603050405020304" pitchFamily="18" charset="0"/>
                          <a:cs typeface="Times New Roman" panose="02020603050405020304" pitchFamily="18" charset="0"/>
                        </a:rPr>
                        <a:t>Authorization</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dirty="0">
                          <a:effectLst/>
                          <a:latin typeface="Times New Roman" panose="02020603050405020304" pitchFamily="18" charset="0"/>
                          <a:cs typeface="Times New Roman" panose="02020603050405020304" pitchFamily="18" charset="0"/>
                        </a:rPr>
                        <a:t>SUSPICIOUS allowed (logged)</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a:effectLst/>
                          <a:latin typeface="Times New Roman" panose="02020603050405020304" pitchFamily="18" charset="0"/>
                          <a:cs typeface="Times New Roman" panose="02020603050405020304" pitchFamily="18" charset="0"/>
                        </a:rPr>
                        <a:t>SUSPICIOUS blocks privileged actions (HTTP 403); human RBAC added (ADMIN, OPERATOR, VIEWER)</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3239163"/>
                  </a:ext>
                </a:extLst>
              </a:tr>
              <a:tr h="403769">
                <a:tc>
                  <a:txBody>
                    <a:bodyPr/>
                    <a:lstStyle/>
                    <a:p>
                      <a:pPr algn="ctr">
                        <a:buNone/>
                      </a:pPr>
                      <a:r>
                        <a:rPr lang="en-IN" sz="1200" dirty="0">
                          <a:effectLst/>
                          <a:latin typeface="Times New Roman" panose="02020603050405020304" pitchFamily="18" charset="0"/>
                          <a:cs typeface="Times New Roman" panose="02020603050405020304" pitchFamily="18" charset="0"/>
                        </a:rPr>
                        <a:t>Discovery and matching</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dirty="0">
                          <a:effectLst/>
                          <a:latin typeface="Times New Roman" panose="02020603050405020304" pitchFamily="18" charset="0"/>
                          <a:cs typeface="Times New Roman" panose="02020603050405020304" pitchFamily="18" charset="0"/>
                        </a:rPr>
                        <a:t>Not present</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a:effectLst/>
                          <a:latin typeface="Times New Roman" panose="02020603050405020304" pitchFamily="18" charset="0"/>
                          <a:cs typeface="Times New Roman" panose="02020603050405020304" pitchFamily="18" charset="0"/>
                        </a:rPr>
                        <a:t>Explainable discovery and multi-factor MatchScore ranking</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76807"/>
                  </a:ext>
                </a:extLst>
              </a:tr>
              <a:tr h="403769">
                <a:tc>
                  <a:txBody>
                    <a:bodyPr/>
                    <a:lstStyle/>
                    <a:p>
                      <a:pPr algn="ctr">
                        <a:buNone/>
                      </a:pPr>
                      <a:r>
                        <a:rPr lang="en-IN" sz="1200" dirty="0">
                          <a:effectLst/>
                          <a:latin typeface="Times New Roman" panose="02020603050405020304" pitchFamily="18" charset="0"/>
                          <a:cs typeface="Times New Roman" panose="02020603050405020304" pitchFamily="18" charset="0"/>
                        </a:rPr>
                        <a:t>Collaboration</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dirty="0">
                          <a:effectLst/>
                          <a:latin typeface="Times New Roman" panose="02020603050405020304" pitchFamily="18" charset="0"/>
                          <a:cs typeface="Times New Roman" panose="02020603050405020304" pitchFamily="18" charset="0"/>
                        </a:rPr>
                        <a:t>Not present</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a:effectLst/>
                          <a:latin typeface="Times New Roman" panose="02020603050405020304" pitchFamily="18" charset="0"/>
                          <a:cs typeface="Times New Roman" panose="02020603050405020304" pitchFamily="18" charset="0"/>
                        </a:rPr>
                        <a:t>Bilateral sessions, sequential pipelines, mid-session abort</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2247268"/>
                  </a:ext>
                </a:extLst>
              </a:tr>
              <a:tr h="403769">
                <a:tc>
                  <a:txBody>
                    <a:bodyPr/>
                    <a:lstStyle/>
                    <a:p>
                      <a:pPr algn="ctr">
                        <a:buNone/>
                      </a:pPr>
                      <a:r>
                        <a:rPr lang="en-IN" sz="1200" dirty="0">
                          <a:effectLst/>
                          <a:latin typeface="Times New Roman" panose="02020603050405020304" pitchFamily="18" charset="0"/>
                          <a:cs typeface="Times New Roman" panose="02020603050405020304" pitchFamily="18" charset="0"/>
                        </a:rPr>
                        <a:t>Storage</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dirty="0">
                          <a:effectLst/>
                          <a:latin typeface="Times New Roman" panose="02020603050405020304" pitchFamily="18" charset="0"/>
                          <a:cs typeface="Times New Roman" panose="02020603050405020304" pitchFamily="18" charset="0"/>
                        </a:rPr>
                        <a:t>SQLite VDR</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dirty="0">
                          <a:effectLst/>
                          <a:latin typeface="Times New Roman" panose="02020603050405020304" pitchFamily="18" charset="0"/>
                          <a:cs typeface="Times New Roman" panose="02020603050405020304" pitchFamily="18" charset="0"/>
                        </a:rPr>
                        <a:t>13-table SQLite WAL VDR with four audit streams</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5333743"/>
                  </a:ext>
                </a:extLst>
              </a:tr>
              <a:tr h="403769">
                <a:tc>
                  <a:txBody>
                    <a:bodyPr/>
                    <a:lstStyle/>
                    <a:p>
                      <a:pPr algn="ctr">
                        <a:buNone/>
                      </a:pPr>
                      <a:r>
                        <a:rPr lang="en-IN" sz="1200" dirty="0">
                          <a:effectLst/>
                          <a:latin typeface="Times New Roman" panose="02020603050405020304" pitchFamily="18" charset="0"/>
                          <a:cs typeface="Times New Roman" panose="02020603050405020304" pitchFamily="18" charset="0"/>
                        </a:rPr>
                        <a:t>Frontend</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a:effectLst/>
                          <a:latin typeface="Times New Roman" panose="02020603050405020304" pitchFamily="18" charset="0"/>
                          <a:cs typeface="Times New Roman" panose="02020603050405020304" pitchFamily="18" charset="0"/>
                        </a:rPr>
                        <a:t>Dashboard</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dirty="0">
                          <a:effectLst/>
                          <a:latin typeface="Times New Roman" panose="02020603050405020304" pitchFamily="18" charset="0"/>
                          <a:cs typeface="Times New Roman" panose="02020603050405020304" pitchFamily="18" charset="0"/>
                        </a:rPr>
                        <a:t>Five-module SOC portal with Agent Investigation Drawer</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0874517"/>
                  </a:ext>
                </a:extLst>
              </a:tr>
              <a:tr h="403769">
                <a:tc>
                  <a:txBody>
                    <a:bodyPr/>
                    <a:lstStyle/>
                    <a:p>
                      <a:pPr algn="ctr">
                        <a:buNone/>
                      </a:pPr>
                      <a:r>
                        <a:rPr lang="en-IN" sz="1200" dirty="0">
                          <a:effectLst/>
                          <a:latin typeface="Times New Roman" panose="02020603050405020304" pitchFamily="18" charset="0"/>
                          <a:cs typeface="Times New Roman" panose="02020603050405020304" pitchFamily="18" charset="0"/>
                        </a:rPr>
                        <a:t>Testing</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dirty="0">
                          <a:effectLst/>
                          <a:latin typeface="Times New Roman" panose="02020603050405020304" pitchFamily="18" charset="0"/>
                          <a:cs typeface="Times New Roman" panose="02020603050405020304" pitchFamily="18" charset="0"/>
                        </a:rPr>
                        <a:t>40 tests</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dirty="0">
                          <a:effectLst/>
                          <a:latin typeface="Times New Roman" panose="02020603050405020304" pitchFamily="18" charset="0"/>
                          <a:cs typeface="Times New Roman" panose="02020603050405020304" pitchFamily="18" charset="0"/>
                        </a:rPr>
                        <a:t>80 tests passing in 15.04 s; Vite build with 0 errors</a:t>
                      </a:r>
                    </a:p>
                  </a:txBody>
                  <a:tcPr marL="67464" marR="67464" marT="33732" marB="33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1753361"/>
                  </a:ext>
                </a:extLst>
              </a:tr>
            </a:tbl>
          </a:graphicData>
        </a:graphic>
      </p:graphicFrame>
    </p:spTree>
    <p:extLst>
      <p:ext uri="{BB962C8B-B14F-4D97-AF65-F5344CB8AC3E}">
        <p14:creationId xmlns:p14="http://schemas.microsoft.com/office/powerpoint/2010/main" val="2211805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51340D-5EF2-8E2B-01F3-6B34ADEB378F}"/>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3" name="TextBox 2">
            <a:extLst>
              <a:ext uri="{FF2B5EF4-FFF2-40B4-BE49-F238E27FC236}">
                <a16:creationId xmlns:a16="http://schemas.microsoft.com/office/drawing/2014/main" id="{FBE6A541-D4F9-2AC5-B366-F5528707A972}"/>
              </a:ext>
            </a:extLst>
          </p:cNvPr>
          <p:cNvSpPr txBox="1"/>
          <p:nvPr/>
        </p:nvSpPr>
        <p:spPr>
          <a:xfrm>
            <a:off x="2289803" y="1295400"/>
            <a:ext cx="4134465" cy="646331"/>
          </a:xfrm>
          <a:prstGeom prst="rect">
            <a:avLst/>
          </a:prstGeom>
          <a:noFill/>
        </p:spPr>
        <p:txBody>
          <a:bodyPr wrap="none" rtlCol="0">
            <a:spAutoFit/>
          </a:bodyPr>
          <a:lstStyle/>
          <a:p>
            <a:r>
              <a:rPr lang="en-IN" sz="3600" b="1" dirty="0">
                <a:latin typeface="Times New Roman" pitchFamily="18" charset="0"/>
                <a:cs typeface="Times New Roman" pitchFamily="18" charset="0"/>
              </a:rPr>
              <a:t>Objective of Project</a:t>
            </a:r>
          </a:p>
        </p:txBody>
      </p:sp>
      <p:sp>
        <p:nvSpPr>
          <p:cNvPr id="5" name="TextBox 4">
            <a:extLst>
              <a:ext uri="{FF2B5EF4-FFF2-40B4-BE49-F238E27FC236}">
                <a16:creationId xmlns:a16="http://schemas.microsoft.com/office/drawing/2014/main" id="{B8B83ADD-7189-4CF2-E891-9DB619DA600B}"/>
              </a:ext>
            </a:extLst>
          </p:cNvPr>
          <p:cNvSpPr txBox="1"/>
          <p:nvPr/>
        </p:nvSpPr>
        <p:spPr>
          <a:xfrm>
            <a:off x="666748" y="1995265"/>
            <a:ext cx="7810500" cy="4093428"/>
          </a:xfrm>
          <a:prstGeom prst="rect">
            <a:avLst/>
          </a:prstGeom>
          <a:noFill/>
        </p:spPr>
        <p:txBody>
          <a:bodyPr wrap="square">
            <a:spAutoFit/>
          </a:bodyPr>
          <a:lstStyle/>
          <a:p>
            <a:pPr algn="just"/>
            <a:r>
              <a:rPr lang="en-IN" sz="2000" dirty="0">
                <a:latin typeface="Times New Roman" panose="02020603050405020304" pitchFamily="18" charset="0"/>
                <a:cs typeface="Times New Roman" panose="02020603050405020304" pitchFamily="18" charset="0"/>
              </a:rPr>
              <a:t>The primary objective of </a:t>
            </a:r>
            <a:r>
              <a:rPr lang="en-IN" sz="2000" dirty="0" err="1">
                <a:latin typeface="Times New Roman" panose="02020603050405020304" pitchFamily="18" charset="0"/>
                <a:cs typeface="Times New Roman" panose="02020603050405020304" pitchFamily="18" charset="0"/>
              </a:rPr>
              <a:t>TrustChain</a:t>
            </a:r>
            <a:r>
              <a:rPr lang="en-IN" sz="2000" dirty="0">
                <a:latin typeface="Times New Roman" panose="02020603050405020304" pitchFamily="18" charset="0"/>
                <a:cs typeface="Times New Roman" panose="02020603050405020304" pitchFamily="18" charset="0"/>
              </a:rPr>
              <a:t>-AI is to develop a decentralized trust intelligence framework that enables secure and autonomous collaboration among AI agents across multiple domains. The framework utilizes W3C Decentralized Identifiers (DIDs), Verifiable Credentials (VCs), and blockchain to establish trusted digital identities and secure cross-domain interactions.</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It further introduces a Trust Intelligence Engine for continuous trust evaluation based on credential verification, reputation, and agent behaviour, while supporting privacy-preserving credential sharing, adaptive trust-based authorization. The goal is to create a scalable, interoperable, and decentralized ecosystem for reliable AI agent collaboration without relying on centralized trust authorities.</a:t>
            </a:r>
          </a:p>
        </p:txBody>
      </p:sp>
    </p:spTree>
    <p:extLst>
      <p:ext uri="{BB962C8B-B14F-4D97-AF65-F5344CB8AC3E}">
        <p14:creationId xmlns:p14="http://schemas.microsoft.com/office/powerpoint/2010/main" val="4121891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32A8C0-3651-FBEA-CD2A-061D52786132}"/>
              </a:ext>
            </a:extLst>
          </p:cNvPr>
          <p:cNvSpPr>
            <a:spLocks noGrp="1"/>
          </p:cNvSpPr>
          <p:nvPr>
            <p:ph type="sldNum" sz="quarter" idx="12"/>
          </p:nvPr>
        </p:nvSpPr>
        <p:spPr/>
        <p:txBody>
          <a:bodyPr/>
          <a:lstStyle/>
          <a:p>
            <a:fld id="{B6F15528-21DE-4FAA-801E-634DDDAF4B2B}" type="slidenum">
              <a:rPr lang="en-US" smtClean="0"/>
              <a:pPr/>
              <a:t>5</a:t>
            </a:fld>
            <a:endParaRPr lang="en-US"/>
          </a:p>
        </p:txBody>
      </p:sp>
      <p:graphicFrame>
        <p:nvGraphicFramePr>
          <p:cNvPr id="3" name="Table 2">
            <a:extLst>
              <a:ext uri="{FF2B5EF4-FFF2-40B4-BE49-F238E27FC236}">
                <a16:creationId xmlns:a16="http://schemas.microsoft.com/office/drawing/2014/main" id="{F890EEDD-53E6-F96F-EBF8-2474BB3B7FA4}"/>
              </a:ext>
            </a:extLst>
          </p:cNvPr>
          <p:cNvGraphicFramePr>
            <a:graphicFrameLocks noGrp="1"/>
          </p:cNvGraphicFramePr>
          <p:nvPr>
            <p:extLst>
              <p:ext uri="{D42A27DB-BD31-4B8C-83A1-F6EECF244321}">
                <p14:modId xmlns:p14="http://schemas.microsoft.com/office/powerpoint/2010/main" val="1555378719"/>
              </p:ext>
            </p:extLst>
          </p:nvPr>
        </p:nvGraphicFramePr>
        <p:xfrm>
          <a:off x="152400" y="1447800"/>
          <a:ext cx="8839200" cy="5159778"/>
        </p:xfrm>
        <a:graphic>
          <a:graphicData uri="http://schemas.openxmlformats.org/drawingml/2006/table">
            <a:tbl>
              <a:tblPr>
                <a:tableStyleId>{5940675A-B579-460E-94D1-54222C63F5DA}</a:tableStyleId>
              </a:tblPr>
              <a:tblGrid>
                <a:gridCol w="1767840">
                  <a:extLst>
                    <a:ext uri="{9D8B030D-6E8A-4147-A177-3AD203B41FA5}">
                      <a16:colId xmlns:a16="http://schemas.microsoft.com/office/drawing/2014/main" val="1258864367"/>
                    </a:ext>
                  </a:extLst>
                </a:gridCol>
                <a:gridCol w="1767840">
                  <a:extLst>
                    <a:ext uri="{9D8B030D-6E8A-4147-A177-3AD203B41FA5}">
                      <a16:colId xmlns:a16="http://schemas.microsoft.com/office/drawing/2014/main" val="1937432398"/>
                    </a:ext>
                  </a:extLst>
                </a:gridCol>
                <a:gridCol w="1767840">
                  <a:extLst>
                    <a:ext uri="{9D8B030D-6E8A-4147-A177-3AD203B41FA5}">
                      <a16:colId xmlns:a16="http://schemas.microsoft.com/office/drawing/2014/main" val="1688841550"/>
                    </a:ext>
                  </a:extLst>
                </a:gridCol>
                <a:gridCol w="1767840">
                  <a:extLst>
                    <a:ext uri="{9D8B030D-6E8A-4147-A177-3AD203B41FA5}">
                      <a16:colId xmlns:a16="http://schemas.microsoft.com/office/drawing/2014/main" val="3365126389"/>
                    </a:ext>
                  </a:extLst>
                </a:gridCol>
                <a:gridCol w="1767840">
                  <a:extLst>
                    <a:ext uri="{9D8B030D-6E8A-4147-A177-3AD203B41FA5}">
                      <a16:colId xmlns:a16="http://schemas.microsoft.com/office/drawing/2014/main" val="3476837578"/>
                    </a:ext>
                  </a:extLst>
                </a:gridCol>
              </a:tblGrid>
              <a:tr h="461969">
                <a:tc>
                  <a:txBody>
                    <a:bodyPr/>
                    <a:lstStyle/>
                    <a:p>
                      <a:pPr algn="ctr">
                        <a:buNone/>
                      </a:pPr>
                      <a:r>
                        <a:rPr lang="en-IN" sz="1400" b="1" dirty="0">
                          <a:latin typeface="Times New Roman" panose="02020603050405020304" pitchFamily="18" charset="0"/>
                          <a:cs typeface="Times New Roman" panose="02020603050405020304" pitchFamily="18" charset="0"/>
                        </a:rPr>
                        <a:t>Reference Paper</a:t>
                      </a:r>
                      <a:endParaRPr lang="en-IN" sz="1400" dirty="0">
                        <a:latin typeface="Times New Roman" panose="02020603050405020304" pitchFamily="18" charset="0"/>
                        <a:cs typeface="Times New Roman" panose="02020603050405020304" pitchFamily="18" charset="0"/>
                      </a:endParaRPr>
                    </a:p>
                  </a:txBody>
                  <a:tcPr marL="45260" marR="45260" marT="22630" marB="22630" anchor="ctr">
                    <a:solidFill>
                      <a:schemeClr val="bg1">
                        <a:lumMod val="75000"/>
                      </a:schemeClr>
                    </a:solidFill>
                  </a:tcPr>
                </a:tc>
                <a:tc>
                  <a:txBody>
                    <a:bodyPr/>
                    <a:lstStyle/>
                    <a:p>
                      <a:pPr algn="ctr">
                        <a:buNone/>
                      </a:pPr>
                      <a:r>
                        <a:rPr lang="en-IN" sz="1400" b="1" dirty="0">
                          <a:latin typeface="Times New Roman" panose="02020603050405020304" pitchFamily="18" charset="0"/>
                          <a:cs typeface="Times New Roman" panose="02020603050405020304" pitchFamily="18" charset="0"/>
                        </a:rPr>
                        <a:t>Research Focus</a:t>
                      </a:r>
                      <a:endParaRPr lang="en-IN" sz="1400" dirty="0">
                        <a:latin typeface="Times New Roman" panose="02020603050405020304" pitchFamily="18" charset="0"/>
                        <a:cs typeface="Times New Roman" panose="02020603050405020304" pitchFamily="18" charset="0"/>
                      </a:endParaRPr>
                    </a:p>
                  </a:txBody>
                  <a:tcPr marL="45260" marR="45260" marT="22630" marB="22630" anchor="ctr">
                    <a:solidFill>
                      <a:schemeClr val="bg1">
                        <a:lumMod val="75000"/>
                      </a:schemeClr>
                    </a:solidFill>
                  </a:tcPr>
                </a:tc>
                <a:tc>
                  <a:txBody>
                    <a:bodyPr/>
                    <a:lstStyle/>
                    <a:p>
                      <a:pPr algn="ctr">
                        <a:buNone/>
                      </a:pPr>
                      <a:r>
                        <a:rPr lang="en-IN" sz="1400" b="1" dirty="0">
                          <a:latin typeface="Times New Roman" panose="02020603050405020304" pitchFamily="18" charset="0"/>
                          <a:cs typeface="Times New Roman" panose="02020603050405020304" pitchFamily="18" charset="0"/>
                        </a:rPr>
                        <a:t>Contribution</a:t>
                      </a:r>
                      <a:endParaRPr lang="en-IN" sz="1400" dirty="0">
                        <a:latin typeface="Times New Roman" panose="02020603050405020304" pitchFamily="18" charset="0"/>
                        <a:cs typeface="Times New Roman" panose="02020603050405020304" pitchFamily="18" charset="0"/>
                      </a:endParaRPr>
                    </a:p>
                  </a:txBody>
                  <a:tcPr marL="45260" marR="45260" marT="22630" marB="22630" anchor="ctr">
                    <a:solidFill>
                      <a:schemeClr val="bg1">
                        <a:lumMod val="75000"/>
                      </a:schemeClr>
                    </a:solidFill>
                  </a:tcPr>
                </a:tc>
                <a:tc>
                  <a:txBody>
                    <a:bodyPr/>
                    <a:lstStyle/>
                    <a:p>
                      <a:pPr algn="ctr">
                        <a:buNone/>
                      </a:pPr>
                      <a:r>
                        <a:rPr lang="en-IN" sz="1400" b="1" dirty="0">
                          <a:latin typeface="Times New Roman" panose="02020603050405020304" pitchFamily="18" charset="0"/>
                          <a:cs typeface="Times New Roman" panose="02020603050405020304" pitchFamily="18" charset="0"/>
                        </a:rPr>
                        <a:t>Research Gap</a:t>
                      </a:r>
                      <a:endParaRPr lang="en-IN" sz="1400" dirty="0">
                        <a:latin typeface="Times New Roman" panose="02020603050405020304" pitchFamily="18" charset="0"/>
                        <a:cs typeface="Times New Roman" panose="02020603050405020304" pitchFamily="18" charset="0"/>
                      </a:endParaRPr>
                    </a:p>
                  </a:txBody>
                  <a:tcPr marL="45260" marR="45260" marT="22630" marB="22630" anchor="ctr">
                    <a:solidFill>
                      <a:schemeClr val="bg1">
                        <a:lumMod val="75000"/>
                      </a:schemeClr>
                    </a:solidFill>
                  </a:tcPr>
                </a:tc>
                <a:tc>
                  <a:txBody>
                    <a:bodyPr/>
                    <a:lstStyle/>
                    <a:p>
                      <a:pPr algn="ctr">
                        <a:buNone/>
                      </a:pPr>
                      <a:r>
                        <a:rPr lang="en-IN" sz="1400" b="1" dirty="0" err="1">
                          <a:latin typeface="Times New Roman" panose="02020603050405020304" pitchFamily="18" charset="0"/>
                          <a:cs typeface="Times New Roman" panose="02020603050405020304" pitchFamily="18" charset="0"/>
                        </a:rPr>
                        <a:t>TrustChain</a:t>
                      </a:r>
                      <a:r>
                        <a:rPr lang="en-IN" sz="1400" b="1" dirty="0">
                          <a:latin typeface="Times New Roman" panose="02020603050405020304" pitchFamily="18" charset="0"/>
                          <a:cs typeface="Times New Roman" panose="02020603050405020304" pitchFamily="18" charset="0"/>
                        </a:rPr>
                        <a:t>-AI Solution</a:t>
                      </a:r>
                      <a:endParaRPr lang="en-IN" sz="1400" dirty="0">
                        <a:latin typeface="Times New Roman" panose="02020603050405020304" pitchFamily="18" charset="0"/>
                        <a:cs typeface="Times New Roman" panose="02020603050405020304" pitchFamily="18" charset="0"/>
                      </a:endParaRPr>
                    </a:p>
                  </a:txBody>
                  <a:tcPr marL="45260" marR="45260" marT="22630" marB="22630" anchor="ctr">
                    <a:solidFill>
                      <a:schemeClr val="bg1">
                        <a:lumMod val="75000"/>
                      </a:schemeClr>
                    </a:solidFill>
                  </a:tcPr>
                </a:tc>
                <a:extLst>
                  <a:ext uri="{0D108BD9-81ED-4DB2-BD59-A6C34878D82A}">
                    <a16:rowId xmlns:a16="http://schemas.microsoft.com/office/drawing/2014/main" val="2508651831"/>
                  </a:ext>
                </a:extLst>
              </a:tr>
              <a:tr h="975820">
                <a:tc>
                  <a:txBody>
                    <a:bodyPr/>
                    <a:lstStyle/>
                    <a:p>
                      <a:pPr algn="ctr">
                        <a:buNone/>
                      </a:pPr>
                      <a:r>
                        <a:rPr lang="en-IN" sz="1400" b="1" dirty="0">
                          <a:latin typeface="Times New Roman" panose="02020603050405020304" pitchFamily="18" charset="0"/>
                          <a:cs typeface="Times New Roman" panose="02020603050405020304" pitchFamily="18" charset="0"/>
                        </a:rPr>
                        <a:t>AI Agents with DIDs &amp; VCs (Base Paper)</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AI Agent Identity, DID, VC</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Secure decentralized AI identity &amp; authentication</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No trust scoring or reputation management</a:t>
                      </a:r>
                    </a:p>
                  </a:txBody>
                  <a:tcPr marL="45260" marR="45260" marT="22630" marB="22630" anchor="ctr"/>
                </a:tc>
                <a:tc>
                  <a:txBody>
                    <a:bodyPr/>
                    <a:lstStyle/>
                    <a:p>
                      <a:pPr algn="ctr">
                        <a:buNone/>
                      </a:pPr>
                      <a:r>
                        <a:rPr lang="en-IN" sz="1400" b="0" dirty="0">
                          <a:latin typeface="Times New Roman" panose="02020603050405020304" pitchFamily="18" charset="0"/>
                          <a:cs typeface="Times New Roman" panose="02020603050405020304" pitchFamily="18" charset="0"/>
                        </a:rPr>
                        <a:t>Adds Trust Intelligence Engine, dynamic trust scoring &amp; malicious agent detection</a:t>
                      </a:r>
                    </a:p>
                  </a:txBody>
                  <a:tcPr marL="45260" marR="45260" marT="22630" marB="22630" anchor="ctr"/>
                </a:tc>
                <a:extLst>
                  <a:ext uri="{0D108BD9-81ED-4DB2-BD59-A6C34878D82A}">
                    <a16:rowId xmlns:a16="http://schemas.microsoft.com/office/drawing/2014/main" val="2304058112"/>
                  </a:ext>
                </a:extLst>
              </a:tr>
              <a:tr h="1207248">
                <a:tc>
                  <a:txBody>
                    <a:bodyPr/>
                    <a:lstStyle/>
                    <a:p>
                      <a:pPr algn="ctr">
                        <a:buNone/>
                      </a:pPr>
                      <a:r>
                        <a:rPr lang="en-IN" sz="1400" b="1" dirty="0">
                          <a:latin typeface="Times New Roman" panose="02020603050405020304" pitchFamily="18" charset="0"/>
                          <a:cs typeface="Times New Roman" panose="02020603050405020304" pitchFamily="18" charset="0"/>
                        </a:rPr>
                        <a:t>LOKA Protocol: A Decentralized Framework for Trustworthy and Ethical AI Agent Ecosystems</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AI Identity, Ethical AI</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Universal AI Agent Identity Layer</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No real-time trust evaluation</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Continuous trust monitoring &amp; decentralized reputation</a:t>
                      </a:r>
                    </a:p>
                  </a:txBody>
                  <a:tcPr marL="45260" marR="45260" marT="22630" marB="22630" anchor="ctr"/>
                </a:tc>
                <a:extLst>
                  <a:ext uri="{0D108BD9-81ED-4DB2-BD59-A6C34878D82A}">
                    <a16:rowId xmlns:a16="http://schemas.microsoft.com/office/drawing/2014/main" val="1626194083"/>
                  </a:ext>
                </a:extLst>
              </a:tr>
              <a:tr h="443340">
                <a:tc>
                  <a:txBody>
                    <a:bodyPr/>
                    <a:lstStyle/>
                    <a:p>
                      <a:pPr algn="ctr">
                        <a:buNone/>
                      </a:pPr>
                      <a:r>
                        <a:rPr lang="en-IN" sz="1400" b="1" dirty="0">
                          <a:latin typeface="Times New Roman" panose="02020603050405020304" pitchFamily="18" charset="0"/>
                          <a:cs typeface="Times New Roman" panose="02020603050405020304" pitchFamily="18" charset="0"/>
                        </a:rPr>
                        <a:t>Selective Disclosure in SSI</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Privacy, Credential Sharing</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Privacy-preserving credential exchange</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No AI collaboration or trust analysis</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Secure selective disclosure with trust evaluation</a:t>
                      </a:r>
                    </a:p>
                  </a:txBody>
                  <a:tcPr marL="45260" marR="45260" marT="22630" marB="22630" anchor="ctr"/>
                </a:tc>
                <a:extLst>
                  <a:ext uri="{0D108BD9-81ED-4DB2-BD59-A6C34878D82A}">
                    <a16:rowId xmlns:a16="http://schemas.microsoft.com/office/drawing/2014/main" val="3160244866"/>
                  </a:ext>
                </a:extLst>
              </a:tr>
              <a:tr h="505464">
                <a:tc>
                  <a:txBody>
                    <a:bodyPr/>
                    <a:lstStyle/>
                    <a:p>
                      <a:pPr algn="ctr">
                        <a:buNone/>
                      </a:pPr>
                      <a:r>
                        <a:rPr lang="en-IN" sz="1400" b="1" dirty="0" err="1">
                          <a:latin typeface="Times New Roman" panose="02020603050405020304" pitchFamily="18" charset="0"/>
                          <a:cs typeface="Times New Roman" panose="02020603050405020304" pitchFamily="18" charset="0"/>
                        </a:rPr>
                        <a:t>SoK</a:t>
                      </a:r>
                      <a:r>
                        <a:rPr lang="en-IN" sz="1400" b="1" dirty="0">
                          <a:latin typeface="Times New Roman" panose="02020603050405020304" pitchFamily="18" charset="0"/>
                          <a:cs typeface="Times New Roman" panose="02020603050405020304" pitchFamily="18" charset="0"/>
                        </a:rPr>
                        <a:t>: Trusting Self-Sovereign Identity</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Trust Models, Security</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Trust models &amp; threat analysis</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Static trust for human identities</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Dynamic trust using </a:t>
                      </a:r>
                      <a:r>
                        <a:rPr lang="en-IN" sz="1400" dirty="0" err="1">
                          <a:latin typeface="Times New Roman" panose="02020603050405020304" pitchFamily="18" charset="0"/>
                          <a:cs typeface="Times New Roman" panose="02020603050405020304" pitchFamily="18" charset="0"/>
                        </a:rPr>
                        <a:t>behavior</a:t>
                      </a:r>
                      <a:r>
                        <a:rPr lang="en-IN" sz="1400" dirty="0">
                          <a:latin typeface="Times New Roman" panose="02020603050405020304" pitchFamily="18" charset="0"/>
                          <a:cs typeface="Times New Roman" panose="02020603050405020304" pitchFamily="18" charset="0"/>
                        </a:rPr>
                        <a:t>, reputation &amp; history</a:t>
                      </a:r>
                    </a:p>
                  </a:txBody>
                  <a:tcPr marL="45260" marR="45260" marT="22630" marB="22630" anchor="ctr"/>
                </a:tc>
                <a:extLst>
                  <a:ext uri="{0D108BD9-81ED-4DB2-BD59-A6C34878D82A}">
                    <a16:rowId xmlns:a16="http://schemas.microsoft.com/office/drawing/2014/main" val="2978775145"/>
                  </a:ext>
                </a:extLst>
              </a:tr>
              <a:tr h="879638">
                <a:tc>
                  <a:txBody>
                    <a:bodyPr/>
                    <a:lstStyle/>
                    <a:p>
                      <a:pPr algn="ctr">
                        <a:buNone/>
                      </a:pPr>
                      <a:r>
                        <a:rPr lang="en-IN" sz="1400" b="1" dirty="0">
                          <a:latin typeface="Times New Roman" panose="02020603050405020304" pitchFamily="18" charset="0"/>
                          <a:cs typeface="Times New Roman" panose="02020603050405020304" pitchFamily="18" charset="0"/>
                        </a:rPr>
                        <a:t>Self-Sovereign Digital Identity</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Decentralized Identity</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Introduced Self-Sovereign Identity (SSI)</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Limited to human identities</a:t>
                      </a:r>
                    </a:p>
                  </a:txBody>
                  <a:tcPr marL="45260" marR="45260" marT="22630" marB="22630" anchor="ctr"/>
                </a:tc>
                <a:tc>
                  <a:txBody>
                    <a:bodyPr/>
                    <a:lstStyle/>
                    <a:p>
                      <a:pPr algn="ctr">
                        <a:buNone/>
                      </a:pPr>
                      <a:r>
                        <a:rPr lang="en-IN" sz="1400" dirty="0">
                          <a:latin typeface="Times New Roman" panose="02020603050405020304" pitchFamily="18" charset="0"/>
                          <a:cs typeface="Times New Roman" panose="02020603050405020304" pitchFamily="18" charset="0"/>
                        </a:rPr>
                        <a:t>Extends SSI to autonomous AI agents using DIDs &amp; VCs</a:t>
                      </a:r>
                    </a:p>
                  </a:txBody>
                  <a:tcPr marL="45260" marR="45260" marT="22630" marB="22630" anchor="ctr"/>
                </a:tc>
                <a:extLst>
                  <a:ext uri="{0D108BD9-81ED-4DB2-BD59-A6C34878D82A}">
                    <a16:rowId xmlns:a16="http://schemas.microsoft.com/office/drawing/2014/main" val="1409119453"/>
                  </a:ext>
                </a:extLst>
              </a:tr>
            </a:tbl>
          </a:graphicData>
        </a:graphic>
      </p:graphicFrame>
      <p:sp>
        <p:nvSpPr>
          <p:cNvPr id="5" name="TextBox 4">
            <a:extLst>
              <a:ext uri="{FF2B5EF4-FFF2-40B4-BE49-F238E27FC236}">
                <a16:creationId xmlns:a16="http://schemas.microsoft.com/office/drawing/2014/main" id="{7F6B0B2A-F945-6A03-2A6E-DDD71A4C163A}"/>
              </a:ext>
            </a:extLst>
          </p:cNvPr>
          <p:cNvSpPr txBox="1"/>
          <p:nvPr/>
        </p:nvSpPr>
        <p:spPr>
          <a:xfrm>
            <a:off x="3429000" y="609600"/>
            <a:ext cx="4191000" cy="646331"/>
          </a:xfrm>
          <a:prstGeom prst="rect">
            <a:avLst/>
          </a:prstGeom>
          <a:noFill/>
        </p:spPr>
        <p:txBody>
          <a:bodyPr wrap="square">
            <a:spAutoFit/>
          </a:bodyPr>
          <a:lstStyle/>
          <a:p>
            <a:pPr algn="ctr">
              <a:buNone/>
            </a:pPr>
            <a:r>
              <a:rPr lang="en-IN" sz="36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2462938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5F891CC-D10F-2012-AF05-0F97D329E2A1}"/>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4" name="TextBox 3">
            <a:extLst>
              <a:ext uri="{FF2B5EF4-FFF2-40B4-BE49-F238E27FC236}">
                <a16:creationId xmlns:a16="http://schemas.microsoft.com/office/drawing/2014/main" id="{10B3C901-4902-9124-51C2-112B219BC323}"/>
              </a:ext>
            </a:extLst>
          </p:cNvPr>
          <p:cNvSpPr txBox="1"/>
          <p:nvPr/>
        </p:nvSpPr>
        <p:spPr>
          <a:xfrm>
            <a:off x="2514600" y="1219200"/>
            <a:ext cx="3993401" cy="823752"/>
          </a:xfrm>
          <a:prstGeom prst="rect">
            <a:avLst/>
          </a:prstGeom>
          <a:noFill/>
        </p:spPr>
        <p:txBody>
          <a:bodyPr wrap="none" rtlCol="0">
            <a:spAutoFit/>
          </a:bodyPr>
          <a:lstStyle/>
          <a:p>
            <a:pPr marL="0" lvl="1">
              <a:lnSpc>
                <a:spcPct val="150000"/>
              </a:lnSpc>
            </a:pPr>
            <a:r>
              <a:rPr lang="en-IN" sz="3600" b="1" dirty="0">
                <a:latin typeface="Times New Roman" pitchFamily="18" charset="0"/>
                <a:cs typeface="Times New Roman" pitchFamily="18" charset="0"/>
              </a:rPr>
              <a:t>Problem </a:t>
            </a:r>
            <a:r>
              <a:rPr lang="en-US" sz="3600" b="1" dirty="0">
                <a:latin typeface="Times New Roman" pitchFamily="18" charset="0"/>
                <a:cs typeface="Times New Roman" pitchFamily="18" charset="0"/>
              </a:rPr>
              <a:t>Statement</a:t>
            </a:r>
            <a:endParaRPr lang="en-IN" sz="3600" b="1" dirty="0">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EE3DD8C4-4508-B7D7-3F1E-D9F5D3447C9F}"/>
              </a:ext>
            </a:extLst>
          </p:cNvPr>
          <p:cNvSpPr txBox="1"/>
          <p:nvPr/>
        </p:nvSpPr>
        <p:spPr>
          <a:xfrm>
            <a:off x="609600" y="2209800"/>
            <a:ext cx="7696200" cy="3170099"/>
          </a:xfrm>
          <a:prstGeom prst="rect">
            <a:avLst/>
          </a:prstGeom>
          <a:noFill/>
        </p:spPr>
        <p:txBody>
          <a:bodyPr wrap="square">
            <a:spAutoFit/>
          </a:bodyPr>
          <a:lstStyle/>
          <a:p>
            <a:pPr algn="just"/>
            <a:r>
              <a:rPr lang="en-IN" sz="2000" dirty="0">
                <a:latin typeface="Times New Roman" panose="02020603050405020304" pitchFamily="18" charset="0"/>
                <a:cs typeface="Times New Roman" panose="02020603050405020304" pitchFamily="18" charset="0"/>
              </a:rPr>
              <a:t>Autonomous AI agents increasingly collaborate across multiple domains, but existing systems primarily focus on identity authentication rather than continuous trust evaluation. Current approaches lack dynamic trust scoring, reputation management, malicious agent detection, and adaptive trust mechanisms, making secure and reliable agent collaboration challenging. There is a need for a decentralized trust framework that combines W3C Decentralized Identifiers (DIDs), Verifiable Credentials (VCs), blockchain, and intelligent trust evaluation to enable secure, scalable, and trustworthy collaboration among autonomous AI agents without relying on centralized authorities.</a:t>
            </a:r>
          </a:p>
        </p:txBody>
      </p:sp>
    </p:spTree>
    <p:extLst>
      <p:ext uri="{BB962C8B-B14F-4D97-AF65-F5344CB8AC3E}">
        <p14:creationId xmlns:p14="http://schemas.microsoft.com/office/powerpoint/2010/main" val="1819048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8653A87-5BD2-46E8-0D44-A8BC7695F82C}"/>
              </a:ext>
            </a:extLst>
          </p:cNvPr>
          <p:cNvSpPr txBox="1"/>
          <p:nvPr/>
        </p:nvSpPr>
        <p:spPr>
          <a:xfrm>
            <a:off x="2494184" y="1066800"/>
            <a:ext cx="3788217" cy="823752"/>
          </a:xfrm>
          <a:prstGeom prst="rect">
            <a:avLst/>
          </a:prstGeom>
          <a:noFill/>
        </p:spPr>
        <p:txBody>
          <a:bodyPr wrap="none" rtlCol="0">
            <a:spAutoFit/>
          </a:bodyPr>
          <a:lstStyle/>
          <a:p>
            <a:pPr marL="0" lvl="1">
              <a:lnSpc>
                <a:spcPct val="150000"/>
              </a:lnSpc>
            </a:pPr>
            <a:r>
              <a:rPr lang="en-US" sz="3600" b="1" dirty="0">
                <a:latin typeface="Times New Roman" pitchFamily="18" charset="0"/>
                <a:cs typeface="Times New Roman" pitchFamily="18" charset="0"/>
              </a:rPr>
              <a:t>Proposed Solution</a:t>
            </a:r>
            <a:endParaRPr lang="en-IN" sz="3600" b="1" dirty="0">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3CBC7D76-E93E-A751-5DF4-FA423CF94CEC}"/>
              </a:ext>
            </a:extLst>
          </p:cNvPr>
          <p:cNvSpPr txBox="1"/>
          <p:nvPr/>
        </p:nvSpPr>
        <p:spPr>
          <a:xfrm>
            <a:off x="609595" y="1971856"/>
            <a:ext cx="7924801" cy="4401205"/>
          </a:xfrm>
          <a:prstGeom prst="rect">
            <a:avLst/>
          </a:prstGeom>
          <a:noFill/>
        </p:spPr>
        <p:txBody>
          <a:bodyPr wrap="square">
            <a:spAutoFit/>
          </a:bodyPr>
          <a:lstStyle/>
          <a:p>
            <a:pPr algn="just"/>
            <a:r>
              <a:rPr lang="en-IN" sz="2000" dirty="0" err="1">
                <a:latin typeface="Times New Roman" panose="02020603050405020304" pitchFamily="18" charset="0"/>
                <a:cs typeface="Times New Roman" panose="02020603050405020304" pitchFamily="18" charset="0"/>
              </a:rPr>
              <a:t>TrustChain</a:t>
            </a:r>
            <a:r>
              <a:rPr lang="en-IN" sz="2000" dirty="0">
                <a:latin typeface="Times New Roman" panose="02020603050405020304" pitchFamily="18" charset="0"/>
                <a:cs typeface="Times New Roman" panose="02020603050405020304" pitchFamily="18" charset="0"/>
              </a:rPr>
              <a:t>-AI proposes a Decentralized Trust Intelligence Framework that enables secure, trustworthy, and autonomous collaboration among AI agents across multiple organizational domains. The framework integrates W3C Decentralized Identifiers (DIDs), Verifiable Credentials (VCs), and blockchain technology to provide decentralized digital identities, tamper-proof credential verification, and secure cross-domain authentication.</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To address the limitations of existing identity-based approaches, </a:t>
            </a:r>
            <a:r>
              <a:rPr lang="en-IN" sz="2000" dirty="0" err="1">
                <a:latin typeface="Times New Roman" panose="02020603050405020304" pitchFamily="18" charset="0"/>
                <a:cs typeface="Times New Roman" panose="02020603050405020304" pitchFamily="18" charset="0"/>
              </a:rPr>
              <a:t>TrustChain</a:t>
            </a:r>
            <a:r>
              <a:rPr lang="en-IN" sz="2000" dirty="0">
                <a:latin typeface="Times New Roman" panose="02020603050405020304" pitchFamily="18" charset="0"/>
                <a:cs typeface="Times New Roman" panose="02020603050405020304" pitchFamily="18" charset="0"/>
              </a:rPr>
              <a:t>-AI introduces a Trust Intelligence Engine that continuously evaluates AI agents using credential verification, reputation scores, behaviour analysis, interaction history, and adaptive trust policies. The framework also supports privacy-preserving selective disclosure, malicious agent detection. ensuring secure, scalable, and future-ready collaboration without relying on centralized trust authorities.</a:t>
            </a:r>
          </a:p>
        </p:txBody>
      </p:sp>
    </p:spTree>
    <p:extLst>
      <p:ext uri="{BB962C8B-B14F-4D97-AF65-F5344CB8AC3E}">
        <p14:creationId xmlns:p14="http://schemas.microsoft.com/office/powerpoint/2010/main" val="4795766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66BDB5-9CCD-B2AE-6184-846F861DCB39}"/>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4" name="TextBox 3">
            <a:extLst>
              <a:ext uri="{FF2B5EF4-FFF2-40B4-BE49-F238E27FC236}">
                <a16:creationId xmlns:a16="http://schemas.microsoft.com/office/drawing/2014/main" id="{69C6F08D-B33B-8FC6-F95A-56C1349338B4}"/>
              </a:ext>
            </a:extLst>
          </p:cNvPr>
          <p:cNvSpPr txBox="1"/>
          <p:nvPr/>
        </p:nvSpPr>
        <p:spPr>
          <a:xfrm>
            <a:off x="647700" y="1865531"/>
            <a:ext cx="7848600" cy="4524315"/>
          </a:xfrm>
          <a:prstGeom prst="rect">
            <a:avLst/>
          </a:prstGeom>
          <a:noFill/>
        </p:spPr>
        <p:txBody>
          <a:bodyPr wrap="square">
            <a:spAutoFit/>
          </a:bodyPr>
          <a:lstStyle/>
          <a:p>
            <a:pPr algn="just">
              <a:buNone/>
            </a:pPr>
            <a:r>
              <a:rPr lang="en-IN" sz="1800" dirty="0">
                <a:latin typeface="Times New Roman" panose="02020603050405020304" pitchFamily="18" charset="0"/>
                <a:cs typeface="Times New Roman" panose="02020603050405020304" pitchFamily="18" charset="0"/>
              </a:rPr>
              <a:t>The proposed </a:t>
            </a:r>
            <a:r>
              <a:rPr lang="en-IN" sz="1800" dirty="0" err="1">
                <a:latin typeface="Times New Roman" panose="02020603050405020304" pitchFamily="18" charset="0"/>
                <a:cs typeface="Times New Roman" panose="02020603050405020304" pitchFamily="18" charset="0"/>
              </a:rPr>
              <a:t>TrustChain</a:t>
            </a:r>
            <a:r>
              <a:rPr lang="en-IN" sz="1800" dirty="0">
                <a:latin typeface="Times New Roman" panose="02020603050405020304" pitchFamily="18" charset="0"/>
                <a:cs typeface="Times New Roman" panose="02020603050405020304" pitchFamily="18" charset="0"/>
              </a:rPr>
              <a:t>-AI framework extends the decentralized identity model of the base research paper by integrating a Dynamic Trust Intelligence Engine for secure autonomous AI agent collaboration. Initially, each AI agent is assigned a W3C Decentralized Identifier (DID) and authenticated through Verifiable Credentials (VCs) issued by trusted authorities. The corresponding identity metadata is securely anchored on a blockchain, enabling decentralized, tamper-proof identity verification.</a:t>
            </a:r>
          </a:p>
          <a:p>
            <a:pPr algn="just">
              <a:buNone/>
            </a:pPr>
            <a:endParaRPr lang="en-IN" sz="1800" dirty="0">
              <a:latin typeface="Times New Roman" panose="02020603050405020304" pitchFamily="18" charset="0"/>
              <a:cs typeface="Times New Roman" panose="02020603050405020304" pitchFamily="18" charset="0"/>
            </a:endParaRPr>
          </a:p>
          <a:p>
            <a:pPr algn="just">
              <a:buNone/>
            </a:pPr>
            <a:r>
              <a:rPr lang="en-IN" sz="1800" dirty="0">
                <a:latin typeface="Times New Roman" panose="02020603050405020304" pitchFamily="18" charset="0"/>
                <a:cs typeface="Times New Roman" panose="02020603050405020304" pitchFamily="18" charset="0"/>
              </a:rPr>
              <a:t>After successful authentication, the proposed framework continuously evaluates each AI agent using credential validity, reputation, behaviour patterns, interaction history, and policy compliance to generate a Dynamic Trust Score. Based on this score, an adaptive trust-based authorization mechanism grants, restricts, or denies collaboration requests. Finally, all authentication events, trust decisions, and collaboration records are immutably stored on the blockchain, ensuring secure, transparent, and accountable AI agent collaboration across decentralized environments.</a:t>
            </a:r>
          </a:p>
        </p:txBody>
      </p:sp>
      <p:sp>
        <p:nvSpPr>
          <p:cNvPr id="6" name="TextBox 5">
            <a:extLst>
              <a:ext uri="{FF2B5EF4-FFF2-40B4-BE49-F238E27FC236}">
                <a16:creationId xmlns:a16="http://schemas.microsoft.com/office/drawing/2014/main" id="{70F0A3E9-110F-C069-8C5D-45C8C8A3C541}"/>
              </a:ext>
            </a:extLst>
          </p:cNvPr>
          <p:cNvSpPr txBox="1"/>
          <p:nvPr/>
        </p:nvSpPr>
        <p:spPr>
          <a:xfrm>
            <a:off x="2857500" y="1219200"/>
            <a:ext cx="3429000" cy="646331"/>
          </a:xfrm>
          <a:prstGeom prst="rect">
            <a:avLst/>
          </a:prstGeom>
          <a:noFill/>
        </p:spPr>
        <p:txBody>
          <a:bodyPr wrap="square">
            <a:spAutoFit/>
          </a:bodyPr>
          <a:lstStyle/>
          <a:p>
            <a:pPr>
              <a:buNone/>
            </a:pPr>
            <a:r>
              <a:rPr lang="en-IN" sz="3600" b="1" dirty="0">
                <a:latin typeface="Times New Roman" panose="02020603050405020304" pitchFamily="18" charset="0"/>
                <a:cs typeface="Times New Roman" panose="02020603050405020304" pitchFamily="18" charset="0"/>
              </a:rPr>
              <a:t>Methodology</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1923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55E2A-5C48-C94B-2E49-54E816253A01}"/>
              </a:ext>
            </a:extLst>
          </p:cNvPr>
          <p:cNvSpPr>
            <a:spLocks noGrp="1"/>
          </p:cNvSpPr>
          <p:nvPr>
            <p:ph type="title"/>
          </p:nvPr>
        </p:nvSpPr>
        <p:spPr>
          <a:xfrm>
            <a:off x="517003" y="1179192"/>
            <a:ext cx="8229600" cy="792162"/>
          </a:xfrm>
        </p:spPr>
        <p:txBody>
          <a:bodyPr/>
          <a:lstStyle/>
          <a:p>
            <a:r>
              <a:rPr lang="en-IN" dirty="0">
                <a:latin typeface="Times New Roman" panose="02020603050405020304" pitchFamily="18" charset="0"/>
                <a:cs typeface="Times New Roman" panose="02020603050405020304" pitchFamily="18" charset="0"/>
              </a:rPr>
              <a:t> System Architecture</a:t>
            </a:r>
          </a:p>
        </p:txBody>
      </p:sp>
      <p:sp>
        <p:nvSpPr>
          <p:cNvPr id="3" name="Slide Number Placeholder 2">
            <a:extLst>
              <a:ext uri="{FF2B5EF4-FFF2-40B4-BE49-F238E27FC236}">
                <a16:creationId xmlns:a16="http://schemas.microsoft.com/office/drawing/2014/main" id="{8730B44D-B06F-3D2C-AF68-0042DEED5624}"/>
              </a:ext>
            </a:extLst>
          </p:cNvPr>
          <p:cNvSpPr>
            <a:spLocks noGrp="1"/>
          </p:cNvSpPr>
          <p:nvPr>
            <p:ph type="sldNum" sz="quarter" idx="12"/>
          </p:nvPr>
        </p:nvSpPr>
        <p:spPr/>
        <p:txBody>
          <a:bodyPr/>
          <a:lstStyle/>
          <a:p>
            <a:fld id="{B6F15528-21DE-4FAA-801E-634DDDAF4B2B}" type="slidenum">
              <a:rPr lang="en-US" smtClean="0"/>
              <a:pPr/>
              <a:t>9</a:t>
            </a:fld>
            <a:endParaRPr lang="en-US"/>
          </a:p>
        </p:txBody>
      </p:sp>
      <p:pic>
        <p:nvPicPr>
          <p:cNvPr id="6" name="Picture 5">
            <a:extLst>
              <a:ext uri="{FF2B5EF4-FFF2-40B4-BE49-F238E27FC236}">
                <a16:creationId xmlns:a16="http://schemas.microsoft.com/office/drawing/2014/main" id="{85D73F89-B296-43E2-A9FC-EE07D75016DC}"/>
              </a:ext>
            </a:extLst>
          </p:cNvPr>
          <p:cNvPicPr>
            <a:picLocks noChangeAspect="1"/>
          </p:cNvPicPr>
          <p:nvPr/>
        </p:nvPicPr>
        <p:blipFill>
          <a:blip r:embed="rId2"/>
          <a:stretch>
            <a:fillRect/>
          </a:stretch>
        </p:blipFill>
        <p:spPr>
          <a:xfrm>
            <a:off x="669403" y="1880073"/>
            <a:ext cx="7924800" cy="4584754"/>
          </a:xfrm>
          <a:prstGeom prst="rect">
            <a:avLst/>
          </a:prstGeom>
        </p:spPr>
      </p:pic>
    </p:spTree>
    <p:extLst>
      <p:ext uri="{BB962C8B-B14F-4D97-AF65-F5344CB8AC3E}">
        <p14:creationId xmlns:p14="http://schemas.microsoft.com/office/powerpoint/2010/main" val="26599831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TextBox 92">
            <a:extLst>
              <a:ext uri="{FF2B5EF4-FFF2-40B4-BE49-F238E27FC236}">
                <a16:creationId xmlns:a16="http://schemas.microsoft.com/office/drawing/2014/main" id="{66311977-AA11-44AD-CF5E-A414BA1F0C0E}"/>
              </a:ext>
            </a:extLst>
          </p:cNvPr>
          <p:cNvSpPr txBox="1"/>
          <p:nvPr/>
        </p:nvSpPr>
        <p:spPr>
          <a:xfrm>
            <a:off x="1143000" y="1371600"/>
            <a:ext cx="7038188" cy="646331"/>
          </a:xfrm>
          <a:prstGeom prst="rect">
            <a:avLst/>
          </a:prstGeom>
          <a:noFill/>
        </p:spPr>
        <p:txBody>
          <a:bodyPr wrap="square">
            <a:spAutoFit/>
          </a:bodyPr>
          <a:lstStyle/>
          <a:p>
            <a:pPr algn="ctr"/>
            <a:r>
              <a:rPr lang="en-IN" sz="3600" b="1" dirty="0">
                <a:latin typeface="Times New Roman" panose="02020603050405020304" pitchFamily="18" charset="0"/>
                <a:cs typeface="Times New Roman" panose="02020603050405020304" pitchFamily="18" charset="0"/>
              </a:rPr>
              <a:t>Working Flow of </a:t>
            </a:r>
            <a:r>
              <a:rPr lang="en-IN" sz="3600" b="1" dirty="0" err="1">
                <a:latin typeface="Times New Roman" panose="02020603050405020304" pitchFamily="18" charset="0"/>
                <a:cs typeface="Times New Roman" panose="02020603050405020304" pitchFamily="18" charset="0"/>
              </a:rPr>
              <a:t>TrustChain</a:t>
            </a:r>
            <a:r>
              <a:rPr lang="en-IN" sz="3600" b="1" dirty="0">
                <a:latin typeface="Times New Roman" panose="02020603050405020304" pitchFamily="18" charset="0"/>
                <a:cs typeface="Times New Roman" panose="02020603050405020304" pitchFamily="18" charset="0"/>
              </a:rPr>
              <a:t>-AI</a:t>
            </a:r>
          </a:p>
        </p:txBody>
      </p:sp>
      <p:sp>
        <p:nvSpPr>
          <p:cNvPr id="6" name="TextBox 5">
            <a:extLst>
              <a:ext uri="{FF2B5EF4-FFF2-40B4-BE49-F238E27FC236}">
                <a16:creationId xmlns:a16="http://schemas.microsoft.com/office/drawing/2014/main" id="{242516C4-8BB9-0828-B057-63FA65922D26}"/>
              </a:ext>
            </a:extLst>
          </p:cNvPr>
          <p:cNvSpPr txBox="1"/>
          <p:nvPr/>
        </p:nvSpPr>
        <p:spPr>
          <a:xfrm>
            <a:off x="5376672" y="7424928"/>
            <a:ext cx="184731" cy="369332"/>
          </a:xfrm>
          <a:prstGeom prst="rect">
            <a:avLst/>
          </a:prstGeom>
          <a:noFill/>
        </p:spPr>
        <p:txBody>
          <a:bodyPr wrap="none" rtlCol="0">
            <a:spAutoFit/>
          </a:bodyPr>
          <a:lstStyle/>
          <a:p>
            <a:endParaRPr lang="en-IN" dirty="0"/>
          </a:p>
        </p:txBody>
      </p:sp>
      <p:pic>
        <p:nvPicPr>
          <p:cNvPr id="4" name="Picture 3">
            <a:extLst>
              <a:ext uri="{FF2B5EF4-FFF2-40B4-BE49-F238E27FC236}">
                <a16:creationId xmlns:a16="http://schemas.microsoft.com/office/drawing/2014/main" id="{3BEF076F-9942-3B50-CE09-D1B06E042B5D}"/>
              </a:ext>
            </a:extLst>
          </p:cNvPr>
          <p:cNvPicPr>
            <a:picLocks noChangeAspect="1"/>
          </p:cNvPicPr>
          <p:nvPr/>
        </p:nvPicPr>
        <p:blipFill>
          <a:blip r:embed="rId3" cstate="print">
            <a:extLst>
              <a:ext uri="{28A0092B-C50C-407E-A947-70E740481C1C}">
                <a14:useLocalDpi xmlns:a14="http://schemas.microsoft.com/office/drawing/2010/main" val="0"/>
              </a:ext>
            </a:extLst>
          </a:blip>
          <a:srcRect l="1807" t="6315" r="2430" b="4847"/>
          <a:stretch>
            <a:fillRect/>
          </a:stretch>
        </p:blipFill>
        <p:spPr>
          <a:xfrm>
            <a:off x="173038" y="1905000"/>
            <a:ext cx="8476176" cy="4343400"/>
          </a:xfrm>
          <a:prstGeom prst="rect">
            <a:avLst/>
          </a:prstGeom>
        </p:spPr>
      </p:pic>
    </p:spTree>
    <p:extLst>
      <p:ext uri="{BB962C8B-B14F-4D97-AF65-F5344CB8AC3E}">
        <p14:creationId xmlns:p14="http://schemas.microsoft.com/office/powerpoint/2010/main" val="860577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25672-8BD0-6F18-9E74-3F3A16D9218C}"/>
              </a:ext>
            </a:extLst>
          </p:cNvPr>
          <p:cNvSpPr>
            <a:spLocks noGrp="1"/>
          </p:cNvSpPr>
          <p:nvPr>
            <p:ph type="title"/>
          </p:nvPr>
        </p:nvSpPr>
        <p:spPr>
          <a:xfrm>
            <a:off x="457200" y="1295400"/>
            <a:ext cx="8686800" cy="914400"/>
          </a:xfrm>
        </p:spPr>
        <p:txBody>
          <a:bodyPr>
            <a:noAutofit/>
          </a:bodyPr>
          <a:lstStyle/>
          <a:p>
            <a:r>
              <a:rPr lang="en-IN" sz="3200" dirty="0">
                <a:latin typeface="Times New Roman" panose="02020603050405020304" pitchFamily="18" charset="0"/>
                <a:cs typeface="Times New Roman" panose="02020603050405020304" pitchFamily="18" charset="0"/>
              </a:rPr>
              <a:t>Decentralized Identity and Credential Lifecycle</a:t>
            </a:r>
          </a:p>
        </p:txBody>
      </p:sp>
      <p:sp>
        <p:nvSpPr>
          <p:cNvPr id="3" name="Slide Number Placeholder 2">
            <a:extLst>
              <a:ext uri="{FF2B5EF4-FFF2-40B4-BE49-F238E27FC236}">
                <a16:creationId xmlns:a16="http://schemas.microsoft.com/office/drawing/2014/main" id="{9053D7FA-6462-23C2-86B8-0B89965EB7CF}"/>
              </a:ext>
            </a:extLst>
          </p:cNvPr>
          <p:cNvSpPr>
            <a:spLocks noGrp="1"/>
          </p:cNvSpPr>
          <p:nvPr>
            <p:ph type="sldNum" sz="quarter" idx="12"/>
          </p:nvPr>
        </p:nvSpPr>
        <p:spPr/>
        <p:txBody>
          <a:bodyPr/>
          <a:lstStyle/>
          <a:p>
            <a:fld id="{B6F15528-21DE-4FAA-801E-634DDDAF4B2B}" type="slidenum">
              <a:rPr lang="en-US" smtClean="0"/>
              <a:pPr/>
              <a:t>11</a:t>
            </a:fld>
            <a:endParaRPr lang="en-US"/>
          </a:p>
        </p:txBody>
      </p:sp>
      <p:pic>
        <p:nvPicPr>
          <p:cNvPr id="5" name="Picture 4">
            <a:extLst>
              <a:ext uri="{FF2B5EF4-FFF2-40B4-BE49-F238E27FC236}">
                <a16:creationId xmlns:a16="http://schemas.microsoft.com/office/drawing/2014/main" id="{43C880E0-A471-347C-08D5-5E0F6428A89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605" y="2057400"/>
            <a:ext cx="8788790" cy="3886200"/>
          </a:xfrm>
          <a:prstGeom prst="rect">
            <a:avLst/>
          </a:prstGeom>
        </p:spPr>
      </p:pic>
    </p:spTree>
    <p:extLst>
      <p:ext uri="{BB962C8B-B14F-4D97-AF65-F5344CB8AC3E}">
        <p14:creationId xmlns:p14="http://schemas.microsoft.com/office/powerpoint/2010/main" val="1996272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20399-2C45-6506-9921-683EE639950D}"/>
              </a:ext>
            </a:extLst>
          </p:cNvPr>
          <p:cNvSpPr>
            <a:spLocks noGrp="1"/>
          </p:cNvSpPr>
          <p:nvPr>
            <p:ph type="title"/>
          </p:nvPr>
        </p:nvSpPr>
        <p:spPr>
          <a:xfrm>
            <a:off x="457200" y="1143000"/>
            <a:ext cx="8229600" cy="914400"/>
          </a:xfrm>
        </p:spPr>
        <p:txBody>
          <a:bodyPr/>
          <a:lstStyle/>
          <a:p>
            <a:r>
              <a:rPr lang="en-IN" dirty="0">
                <a:latin typeface="Times New Roman" panose="02020603050405020304" pitchFamily="18" charset="0"/>
                <a:cs typeface="Times New Roman" panose="02020603050405020304" pitchFamily="18" charset="0"/>
              </a:rPr>
              <a:t>Core Algorithms</a:t>
            </a:r>
          </a:p>
        </p:txBody>
      </p:sp>
      <p:sp>
        <p:nvSpPr>
          <p:cNvPr id="3" name="Slide Number Placeholder 2">
            <a:extLst>
              <a:ext uri="{FF2B5EF4-FFF2-40B4-BE49-F238E27FC236}">
                <a16:creationId xmlns:a16="http://schemas.microsoft.com/office/drawing/2014/main" id="{5AFA07F8-E75F-2913-1D0F-CD5B54576B2E}"/>
              </a:ext>
            </a:extLst>
          </p:cNvPr>
          <p:cNvSpPr>
            <a:spLocks noGrp="1"/>
          </p:cNvSpPr>
          <p:nvPr>
            <p:ph type="sldNum" sz="quarter" idx="12"/>
          </p:nvPr>
        </p:nvSpPr>
        <p:spPr/>
        <p:txBody>
          <a:bodyPr/>
          <a:lstStyle/>
          <a:p>
            <a:fld id="{B6F15528-21DE-4FAA-801E-634DDDAF4B2B}" type="slidenum">
              <a:rPr lang="en-US" smtClean="0"/>
              <a:pPr/>
              <a:t>12</a:t>
            </a:fld>
            <a:endParaRPr lang="en-US"/>
          </a:p>
        </p:txBody>
      </p:sp>
      <p:graphicFrame>
        <p:nvGraphicFramePr>
          <p:cNvPr id="8" name="Table 7">
            <a:extLst>
              <a:ext uri="{FF2B5EF4-FFF2-40B4-BE49-F238E27FC236}">
                <a16:creationId xmlns:a16="http://schemas.microsoft.com/office/drawing/2014/main" id="{D9809E94-28BA-310D-D1FE-08F29198D00D}"/>
              </a:ext>
            </a:extLst>
          </p:cNvPr>
          <p:cNvGraphicFramePr>
            <a:graphicFrameLocks noGrp="1"/>
          </p:cNvGraphicFramePr>
          <p:nvPr>
            <p:extLst>
              <p:ext uri="{D42A27DB-BD31-4B8C-83A1-F6EECF244321}">
                <p14:modId xmlns:p14="http://schemas.microsoft.com/office/powerpoint/2010/main" val="2601786607"/>
              </p:ext>
            </p:extLst>
          </p:nvPr>
        </p:nvGraphicFramePr>
        <p:xfrm>
          <a:off x="249767" y="1986388"/>
          <a:ext cx="8610600" cy="4114789"/>
        </p:xfrm>
        <a:graphic>
          <a:graphicData uri="http://schemas.openxmlformats.org/drawingml/2006/table">
            <a:tbl>
              <a:tblPr>
                <a:tableStyleId>{2D5ABB26-0587-4C30-8999-92F81FD0307C}</a:tableStyleId>
              </a:tblPr>
              <a:tblGrid>
                <a:gridCol w="2870200">
                  <a:extLst>
                    <a:ext uri="{9D8B030D-6E8A-4147-A177-3AD203B41FA5}">
                      <a16:colId xmlns:a16="http://schemas.microsoft.com/office/drawing/2014/main" val="3818002997"/>
                    </a:ext>
                  </a:extLst>
                </a:gridCol>
                <a:gridCol w="2870200">
                  <a:extLst>
                    <a:ext uri="{9D8B030D-6E8A-4147-A177-3AD203B41FA5}">
                      <a16:colId xmlns:a16="http://schemas.microsoft.com/office/drawing/2014/main" val="1470900121"/>
                    </a:ext>
                  </a:extLst>
                </a:gridCol>
                <a:gridCol w="2870200">
                  <a:extLst>
                    <a:ext uri="{9D8B030D-6E8A-4147-A177-3AD203B41FA5}">
                      <a16:colId xmlns:a16="http://schemas.microsoft.com/office/drawing/2014/main" val="3577882022"/>
                    </a:ext>
                  </a:extLst>
                </a:gridCol>
              </a:tblGrid>
              <a:tr h="331378">
                <a:tc>
                  <a:txBody>
                    <a:bodyPr/>
                    <a:lstStyle/>
                    <a:p>
                      <a:pPr algn="ctr">
                        <a:buNone/>
                      </a:pPr>
                      <a:r>
                        <a:rPr lang="en-IN" sz="1400" b="1" dirty="0">
                          <a:solidFill>
                            <a:schemeClr val="tx1"/>
                          </a:solidFill>
                          <a:effectLst/>
                          <a:latin typeface="Times New Roman" panose="02020603050405020304" pitchFamily="18" charset="0"/>
                          <a:cs typeface="Times New Roman" panose="02020603050405020304" pitchFamily="18" charset="0"/>
                        </a:rPr>
                        <a:t>Algorithm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buNone/>
                      </a:pPr>
                      <a:r>
                        <a:rPr lang="en-IN" sz="1400" b="1" dirty="0">
                          <a:solidFill>
                            <a:schemeClr val="tx1"/>
                          </a:solidFill>
                          <a:effectLst/>
                          <a:latin typeface="Times New Roman" panose="02020603050405020304" pitchFamily="18" charset="0"/>
                          <a:cs typeface="Times New Roman" panose="02020603050405020304" pitchFamily="18" charset="0"/>
                        </a:rPr>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buNone/>
                      </a:pPr>
                      <a:r>
                        <a:rPr lang="en-IN" sz="1400" b="1" dirty="0">
                          <a:solidFill>
                            <a:schemeClr val="tx1"/>
                          </a:solidFill>
                          <a:effectLst/>
                          <a:latin typeface="Times New Roman" panose="02020603050405020304" pitchFamily="18" charset="0"/>
                          <a:cs typeface="Times New Roman" panose="02020603050405020304" pitchFamily="18" charset="0"/>
                        </a:rPr>
                        <a:t>Where used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81226703"/>
                  </a:ext>
                </a:extLst>
              </a:tr>
              <a:tr h="681225">
                <a:tc>
                  <a:txBody>
                    <a:bodyPr/>
                    <a:lstStyle/>
                    <a:p>
                      <a:pPr algn="ctr">
                        <a:buNone/>
                      </a:pPr>
                      <a:r>
                        <a:rPr lang="en-IN" sz="1600" dirty="0">
                          <a:effectLst/>
                          <a:latin typeface="Times New Roman" panose="02020603050405020304" pitchFamily="18" charset="0"/>
                          <a:cs typeface="Times New Roman" panose="02020603050405020304" pitchFamily="18" charset="0"/>
                        </a:rPr>
                        <a:t>Ed25519 signatures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effectLst/>
                          <a:latin typeface="Times New Roman" panose="02020603050405020304" pitchFamily="18" charset="0"/>
                          <a:cs typeface="Times New Roman" panose="02020603050405020304" pitchFamily="18" charset="0"/>
                        </a:rPr>
                        <a:t>Identity and credential authenticity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effectLst/>
                          <a:latin typeface="Times New Roman" panose="02020603050405020304" pitchFamily="18" charset="0"/>
                          <a:cs typeface="Times New Roman" panose="02020603050405020304" pitchFamily="18" charset="0"/>
                        </a:rPr>
                        <a:t>akta/did.py, akta/vc.py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9730711"/>
                  </a:ext>
                </a:extLst>
              </a:tr>
              <a:tr h="681225">
                <a:tc>
                  <a:txBody>
                    <a:bodyPr/>
                    <a:lstStyle/>
                    <a:p>
                      <a:pPr algn="ctr">
                        <a:buNone/>
                      </a:pPr>
                      <a:r>
                        <a:rPr lang="en-IN" sz="1600" dirty="0">
                          <a:effectLst/>
                          <a:latin typeface="Times New Roman" panose="02020603050405020304" pitchFamily="18" charset="0"/>
                          <a:cs typeface="Times New Roman" panose="02020603050405020304" pitchFamily="18" charset="0"/>
                        </a:rPr>
                        <a:t>Instantaneous performance 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effectLst/>
                          <a:latin typeface="Times New Roman" panose="02020603050405020304" pitchFamily="18" charset="0"/>
                          <a:cs typeface="Times New Roman" panose="02020603050405020304" pitchFamily="18" charset="0"/>
                        </a:rPr>
                        <a:t>Evaluate current behaviour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effectLst/>
                          <a:latin typeface="Times New Roman" panose="02020603050405020304" pitchFamily="18" charset="0"/>
                          <a:cs typeface="Times New Roman" panose="02020603050405020304" pitchFamily="18" charset="0"/>
                        </a:rPr>
                        <a:t>akta/trust_engine.py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0854848"/>
                  </a:ext>
                </a:extLst>
              </a:tr>
              <a:tr h="579912">
                <a:tc>
                  <a:txBody>
                    <a:bodyPr/>
                    <a:lstStyle/>
                    <a:p>
                      <a:pPr algn="ctr">
                        <a:buNone/>
                      </a:pPr>
                      <a:r>
                        <a:rPr lang="en-IN" sz="1600">
                          <a:effectLst/>
                          <a:latin typeface="Times New Roman" panose="02020603050405020304" pitchFamily="18" charset="0"/>
                          <a:cs typeface="Times New Roman" panose="02020603050405020304" pitchFamily="18" charset="0"/>
                        </a:rPr>
                        <a:t>Temporal EMA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effectLst/>
                          <a:latin typeface="Times New Roman" panose="02020603050405020304" pitchFamily="18" charset="0"/>
                          <a:cs typeface="Times New Roman" panose="02020603050405020304" pitchFamily="18" charset="0"/>
                        </a:rPr>
                        <a:t>Track trust over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effectLst/>
                          <a:latin typeface="Times New Roman" panose="02020603050405020304" pitchFamily="18" charset="0"/>
                          <a:cs typeface="Times New Roman" panose="02020603050405020304" pitchFamily="18" charset="0"/>
                        </a:rPr>
                        <a:t>akta/trust_engine.py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1302201"/>
                  </a:ext>
                </a:extLst>
              </a:tr>
              <a:tr h="681225">
                <a:tc>
                  <a:txBody>
                    <a:bodyPr/>
                    <a:lstStyle/>
                    <a:p>
                      <a:pPr algn="ctr">
                        <a:buNone/>
                      </a:pPr>
                      <a:r>
                        <a:rPr lang="en-IN" sz="1600">
                          <a:effectLst/>
                          <a:latin typeface="Times New Roman" panose="02020603050405020304" pitchFamily="18" charset="0"/>
                          <a:cs typeface="Times New Roman" panose="02020603050405020304" pitchFamily="18" charset="0"/>
                        </a:rPr>
                        <a:t>State classification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effectLst/>
                          <a:latin typeface="Times New Roman" panose="02020603050405020304" pitchFamily="18" charset="0"/>
                          <a:cs typeface="Times New Roman" panose="02020603050405020304" pitchFamily="18" charset="0"/>
                        </a:rPr>
                        <a:t>Map score to security state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effectLst/>
                          <a:latin typeface="Times New Roman" panose="02020603050405020304" pitchFamily="18" charset="0"/>
                          <a:cs typeface="Times New Roman" panose="02020603050405020304" pitchFamily="18" charset="0"/>
                        </a:rPr>
                        <a:t>akta/trust_engine.py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4979316"/>
                  </a:ext>
                </a:extLst>
              </a:tr>
              <a:tr h="579912">
                <a:tc>
                  <a:txBody>
                    <a:bodyPr/>
                    <a:lstStyle/>
                    <a:p>
                      <a:pPr algn="ctr">
                        <a:buNone/>
                      </a:pPr>
                      <a:r>
                        <a:rPr lang="en-IN" sz="1600">
                          <a:effectLst/>
                          <a:latin typeface="Times New Roman" panose="02020603050405020304" pitchFamily="18" charset="0"/>
                          <a:cs typeface="Times New Roman" panose="02020603050405020304" pitchFamily="18" charset="0"/>
                        </a:rPr>
                        <a:t>Adaptive enforcement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effectLst/>
                          <a:latin typeface="Times New Roman" panose="02020603050405020304" pitchFamily="18" charset="0"/>
                          <a:cs typeface="Times New Roman" panose="02020603050405020304" pitchFamily="18" charset="0"/>
                        </a:rPr>
                        <a:t>Allow or block requests by policy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effectLst/>
                          <a:latin typeface="Times New Roman" panose="02020603050405020304" pitchFamily="18" charset="0"/>
                          <a:cs typeface="Times New Roman" panose="02020603050405020304" pitchFamily="18" charset="0"/>
                        </a:rPr>
                        <a:t>akta/adaptive_auth.py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930530"/>
                  </a:ext>
                </a:extLst>
              </a:tr>
              <a:tr h="579912">
                <a:tc>
                  <a:txBody>
                    <a:bodyPr/>
                    <a:lstStyle/>
                    <a:p>
                      <a:pPr algn="ctr">
                        <a:buNone/>
                      </a:pPr>
                      <a:r>
                        <a:rPr lang="en-IN" sz="1600">
                          <a:effectLst/>
                          <a:latin typeface="Times New Roman" panose="02020603050405020304" pitchFamily="18" charset="0"/>
                          <a:cs typeface="Times New Roman" panose="02020603050405020304" pitchFamily="18" charset="0"/>
                        </a:rPr>
                        <a:t>MatchScore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effectLst/>
                          <a:latin typeface="Times New Roman" panose="02020603050405020304" pitchFamily="18" charset="0"/>
                          <a:cs typeface="Times New Roman" panose="02020603050405020304" pitchFamily="18" charset="0"/>
                        </a:rPr>
                        <a:t>Rank eligible agents for a task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effectLst/>
                          <a:latin typeface="Times New Roman" panose="02020603050405020304" pitchFamily="18" charset="0"/>
                          <a:cs typeface="Times New Roman" panose="02020603050405020304" pitchFamily="18" charset="0"/>
                        </a:rPr>
                        <a:t>akta/vdr/registry_crud.py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213154"/>
                  </a:ext>
                </a:extLst>
              </a:tr>
            </a:tbl>
          </a:graphicData>
        </a:graphic>
      </p:graphicFrame>
      <p:sp>
        <p:nvSpPr>
          <p:cNvPr id="10" name="TextBox 9">
            <a:extLst>
              <a:ext uri="{FF2B5EF4-FFF2-40B4-BE49-F238E27FC236}">
                <a16:creationId xmlns:a16="http://schemas.microsoft.com/office/drawing/2014/main" id="{512B247C-4818-198A-7344-A7F2C41BC7E4}"/>
              </a:ext>
            </a:extLst>
          </p:cNvPr>
          <p:cNvSpPr txBox="1"/>
          <p:nvPr/>
        </p:nvSpPr>
        <p:spPr>
          <a:xfrm>
            <a:off x="249767" y="6201855"/>
            <a:ext cx="8315097" cy="307777"/>
          </a:xfrm>
          <a:prstGeom prst="rect">
            <a:avLst/>
          </a:prstGeom>
          <a:noFill/>
        </p:spPr>
        <p:txBody>
          <a:bodyPr wrap="none" rtlCol="0">
            <a:spAutoFit/>
          </a:bodyPr>
          <a:lstStyle/>
          <a:p>
            <a:r>
              <a:rPr lang="en-IN" dirty="0"/>
              <a:t>Bottom line: Task Success + Policy Compliance + Latency, smoothed over time, gives the Trust Score.</a:t>
            </a:r>
          </a:p>
        </p:txBody>
      </p:sp>
    </p:spTree>
    <p:extLst>
      <p:ext uri="{BB962C8B-B14F-4D97-AF65-F5344CB8AC3E}">
        <p14:creationId xmlns:p14="http://schemas.microsoft.com/office/powerpoint/2010/main" val="795930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BB7C8-A2B7-5F35-EC0D-A965588CA2A4}"/>
              </a:ext>
            </a:extLst>
          </p:cNvPr>
          <p:cNvSpPr>
            <a:spLocks noGrp="1"/>
          </p:cNvSpPr>
          <p:nvPr>
            <p:ph type="title"/>
          </p:nvPr>
        </p:nvSpPr>
        <p:spPr>
          <a:xfrm>
            <a:off x="533400" y="1295400"/>
            <a:ext cx="8229600" cy="792162"/>
          </a:xfrm>
        </p:spPr>
        <p:txBody>
          <a:bodyPr/>
          <a:lstStyle/>
          <a:p>
            <a:r>
              <a:rPr lang="en-IN" dirty="0">
                <a:latin typeface="Times New Roman" panose="02020603050405020304" pitchFamily="18" charset="0"/>
                <a:cs typeface="Times New Roman" panose="02020603050405020304" pitchFamily="18" charset="0"/>
              </a:rPr>
              <a:t>Trust-State Transition Diagram</a:t>
            </a:r>
          </a:p>
        </p:txBody>
      </p:sp>
      <p:sp>
        <p:nvSpPr>
          <p:cNvPr id="3" name="Slide Number Placeholder 2">
            <a:extLst>
              <a:ext uri="{FF2B5EF4-FFF2-40B4-BE49-F238E27FC236}">
                <a16:creationId xmlns:a16="http://schemas.microsoft.com/office/drawing/2014/main" id="{E4917579-2802-70C1-7BC8-C41F4642CF9C}"/>
              </a:ext>
            </a:extLst>
          </p:cNvPr>
          <p:cNvSpPr>
            <a:spLocks noGrp="1"/>
          </p:cNvSpPr>
          <p:nvPr>
            <p:ph type="sldNum" sz="quarter" idx="12"/>
          </p:nvPr>
        </p:nvSpPr>
        <p:spPr/>
        <p:txBody>
          <a:bodyPr/>
          <a:lstStyle/>
          <a:p>
            <a:fld id="{B6F15528-21DE-4FAA-801E-634DDDAF4B2B}" type="slidenum">
              <a:rPr lang="en-US" smtClean="0"/>
              <a:pPr/>
              <a:t>13</a:t>
            </a:fld>
            <a:endParaRPr lang="en-US"/>
          </a:p>
        </p:txBody>
      </p:sp>
      <p:pic>
        <p:nvPicPr>
          <p:cNvPr id="7" name="Picture 6">
            <a:extLst>
              <a:ext uri="{FF2B5EF4-FFF2-40B4-BE49-F238E27FC236}">
                <a16:creationId xmlns:a16="http://schemas.microsoft.com/office/drawing/2014/main" id="{E4F015BE-CE43-F0ED-A5C6-44B930D11D4D}"/>
              </a:ext>
            </a:extLst>
          </p:cNvPr>
          <p:cNvPicPr>
            <a:picLocks noChangeAspect="1"/>
          </p:cNvPicPr>
          <p:nvPr/>
        </p:nvPicPr>
        <p:blipFill>
          <a:blip r:embed="rId2" cstate="print">
            <a:extLst>
              <a:ext uri="{28A0092B-C50C-407E-A947-70E740481C1C}">
                <a14:useLocalDpi xmlns:a14="http://schemas.microsoft.com/office/drawing/2010/main" val="0"/>
              </a:ext>
            </a:extLst>
          </a:blip>
          <a:srcRect t="5380"/>
          <a:stretch>
            <a:fillRect/>
          </a:stretch>
        </p:blipFill>
        <p:spPr>
          <a:xfrm>
            <a:off x="537411" y="2131511"/>
            <a:ext cx="8229600" cy="4452671"/>
          </a:xfrm>
          <a:prstGeom prst="rect">
            <a:avLst/>
          </a:prstGeom>
        </p:spPr>
      </p:pic>
    </p:spTree>
    <p:extLst>
      <p:ext uri="{BB962C8B-B14F-4D97-AF65-F5344CB8AC3E}">
        <p14:creationId xmlns:p14="http://schemas.microsoft.com/office/powerpoint/2010/main" val="3450426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EE295-ED8E-A8DB-E424-C3A2A5F0AA32}"/>
              </a:ext>
            </a:extLst>
          </p:cNvPr>
          <p:cNvSpPr>
            <a:spLocks noGrp="1"/>
          </p:cNvSpPr>
          <p:nvPr>
            <p:ph type="title"/>
          </p:nvPr>
        </p:nvSpPr>
        <p:spPr>
          <a:xfrm>
            <a:off x="609600" y="1143000"/>
            <a:ext cx="8229600" cy="914400"/>
          </a:xfrm>
        </p:spPr>
        <p:txBody>
          <a:bodyPr>
            <a:normAutofit/>
          </a:bodyPr>
          <a:lstStyle/>
          <a:p>
            <a:r>
              <a:rPr lang="en-IN" b="1" dirty="0">
                <a:latin typeface="Times New Roman" panose="02020603050405020304" pitchFamily="18" charset="0"/>
                <a:cs typeface="Times New Roman" panose="02020603050405020304" pitchFamily="18" charset="0"/>
              </a:rPr>
              <a:t>Numerical Trust Calculation Example</a:t>
            </a:r>
            <a:endParaRPr lang="en-IN"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3EF2A9E4-F3B6-5F78-3E29-5B26CBF5E329}"/>
              </a:ext>
            </a:extLst>
          </p:cNvPr>
          <p:cNvSpPr>
            <a:spLocks noGrp="1"/>
          </p:cNvSpPr>
          <p:nvPr>
            <p:ph type="sldNum" sz="quarter" idx="12"/>
          </p:nvPr>
        </p:nvSpPr>
        <p:spPr/>
        <p:txBody>
          <a:bodyPr/>
          <a:lstStyle/>
          <a:p>
            <a:fld id="{B6F15528-21DE-4FAA-801E-634DDDAF4B2B}" type="slidenum">
              <a:rPr lang="en-US" smtClean="0"/>
              <a:pPr/>
              <a:t>14</a:t>
            </a:fld>
            <a:endParaRPr lang="en-US"/>
          </a:p>
        </p:txBody>
      </p:sp>
      <p:pic>
        <p:nvPicPr>
          <p:cNvPr id="5" name="Picture 4">
            <a:extLst>
              <a:ext uri="{FF2B5EF4-FFF2-40B4-BE49-F238E27FC236}">
                <a16:creationId xmlns:a16="http://schemas.microsoft.com/office/drawing/2014/main" id="{A2CBC965-6839-F72F-D7B0-5CAF9565A1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39726"/>
            <a:ext cx="9144000" cy="4937760"/>
          </a:xfrm>
          <a:prstGeom prst="rect">
            <a:avLst/>
          </a:prstGeom>
        </p:spPr>
      </p:pic>
    </p:spTree>
    <p:extLst>
      <p:ext uri="{BB962C8B-B14F-4D97-AF65-F5344CB8AC3E}">
        <p14:creationId xmlns:p14="http://schemas.microsoft.com/office/powerpoint/2010/main" val="3566256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726F3-3196-C8AD-D163-0EFA77E0BAC9}"/>
              </a:ext>
            </a:extLst>
          </p:cNvPr>
          <p:cNvSpPr>
            <a:spLocks noGrp="1"/>
          </p:cNvSpPr>
          <p:nvPr>
            <p:ph type="title"/>
          </p:nvPr>
        </p:nvSpPr>
        <p:spPr>
          <a:xfrm>
            <a:off x="0" y="1474737"/>
            <a:ext cx="8991600" cy="762000"/>
          </a:xfrm>
        </p:spPr>
        <p:txBody>
          <a:bodyPr>
            <a:normAutofit fontScale="90000"/>
          </a:bodyPr>
          <a:lstStyle/>
          <a:p>
            <a:r>
              <a:rPr lang="en-IN" dirty="0">
                <a:latin typeface="Times New Roman" panose="02020603050405020304" pitchFamily="18" charset="0"/>
                <a:cs typeface="Times New Roman" panose="02020603050405020304" pitchFamily="18" charset="0"/>
              </a:rPr>
              <a:t>Adaptive Policy Enforcement and Access Control</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B0E81761-4EB7-E621-83BF-C6E4790B05A7}"/>
              </a:ext>
            </a:extLst>
          </p:cNvPr>
          <p:cNvSpPr>
            <a:spLocks noGrp="1"/>
          </p:cNvSpPr>
          <p:nvPr>
            <p:ph type="sldNum" sz="quarter" idx="12"/>
          </p:nvPr>
        </p:nvSpPr>
        <p:spPr/>
        <p:txBody>
          <a:bodyPr/>
          <a:lstStyle/>
          <a:p>
            <a:fld id="{B6F15528-21DE-4FAA-801E-634DDDAF4B2B}" type="slidenum">
              <a:rPr lang="en-US" smtClean="0"/>
              <a:pPr/>
              <a:t>15</a:t>
            </a:fld>
            <a:endParaRPr lang="en-US"/>
          </a:p>
        </p:txBody>
      </p:sp>
      <p:graphicFrame>
        <p:nvGraphicFramePr>
          <p:cNvPr id="6" name="Table 5">
            <a:extLst>
              <a:ext uri="{FF2B5EF4-FFF2-40B4-BE49-F238E27FC236}">
                <a16:creationId xmlns:a16="http://schemas.microsoft.com/office/drawing/2014/main" id="{293846F3-FDD9-9D93-650E-EC18348B85D5}"/>
              </a:ext>
            </a:extLst>
          </p:cNvPr>
          <p:cNvGraphicFramePr>
            <a:graphicFrameLocks noGrp="1"/>
          </p:cNvGraphicFramePr>
          <p:nvPr>
            <p:extLst>
              <p:ext uri="{D42A27DB-BD31-4B8C-83A1-F6EECF244321}">
                <p14:modId xmlns:p14="http://schemas.microsoft.com/office/powerpoint/2010/main" val="3185003600"/>
              </p:ext>
            </p:extLst>
          </p:nvPr>
        </p:nvGraphicFramePr>
        <p:xfrm>
          <a:off x="457200" y="2251285"/>
          <a:ext cx="8229600" cy="2377440"/>
        </p:xfrm>
        <a:graphic>
          <a:graphicData uri="http://schemas.openxmlformats.org/drawingml/2006/table">
            <a:tbl>
              <a:tblPr>
                <a:tableStyleId>{2D5ABB26-0587-4C30-8999-92F81FD0307C}</a:tableStyleId>
              </a:tblPr>
              <a:tblGrid>
                <a:gridCol w="2743200">
                  <a:extLst>
                    <a:ext uri="{9D8B030D-6E8A-4147-A177-3AD203B41FA5}">
                      <a16:colId xmlns:a16="http://schemas.microsoft.com/office/drawing/2014/main" val="586662761"/>
                    </a:ext>
                  </a:extLst>
                </a:gridCol>
                <a:gridCol w="2743200">
                  <a:extLst>
                    <a:ext uri="{9D8B030D-6E8A-4147-A177-3AD203B41FA5}">
                      <a16:colId xmlns:a16="http://schemas.microsoft.com/office/drawing/2014/main" val="4075646461"/>
                    </a:ext>
                  </a:extLst>
                </a:gridCol>
                <a:gridCol w="2743200">
                  <a:extLst>
                    <a:ext uri="{9D8B030D-6E8A-4147-A177-3AD203B41FA5}">
                      <a16:colId xmlns:a16="http://schemas.microsoft.com/office/drawing/2014/main" val="305573209"/>
                    </a:ext>
                  </a:extLst>
                </a:gridCol>
              </a:tblGrid>
              <a:tr h="0">
                <a:tc>
                  <a:txBody>
                    <a:bodyPr/>
                    <a:lstStyle/>
                    <a:p>
                      <a:pPr algn="ctr">
                        <a:buNone/>
                      </a:pPr>
                      <a:r>
                        <a:rPr lang="en-IN" sz="1800" b="1" dirty="0">
                          <a:effectLst/>
                          <a:latin typeface="Times New Roman" panose="02020603050405020304" pitchFamily="18" charset="0"/>
                          <a:cs typeface="Times New Roman" panose="02020603050405020304" pitchFamily="18" charset="0"/>
                        </a:rPr>
                        <a:t>State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buNone/>
                      </a:pPr>
                      <a:r>
                        <a:rPr lang="en-IN" sz="1800" b="1" dirty="0">
                          <a:effectLst/>
                          <a:latin typeface="Times New Roman" panose="02020603050405020304" pitchFamily="18" charset="0"/>
                          <a:cs typeface="Times New Roman" panose="02020603050405020304" pitchFamily="18" charset="0"/>
                        </a:rPr>
                        <a:t>Standard operations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buNone/>
                      </a:pPr>
                      <a:r>
                        <a:rPr lang="en-IN" sz="1800" b="1" dirty="0">
                          <a:effectLst/>
                          <a:latin typeface="Times New Roman" panose="02020603050405020304" pitchFamily="18" charset="0"/>
                          <a:cs typeface="Times New Roman" panose="02020603050405020304" pitchFamily="18" charset="0"/>
                        </a:rPr>
                        <a:t>Privileged operations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247261094"/>
                  </a:ext>
                </a:extLst>
              </a:tr>
              <a:tr h="0">
                <a:tc>
                  <a:txBody>
                    <a:bodyPr/>
                    <a:lstStyle/>
                    <a:p>
                      <a:pPr algn="ctr">
                        <a:buNone/>
                      </a:pPr>
                      <a:r>
                        <a:rPr lang="en-IN" sz="1800" dirty="0">
                          <a:effectLst/>
                          <a:latin typeface="Times New Roman" panose="02020603050405020304" pitchFamily="18" charset="0"/>
                          <a:cs typeface="Times New Roman" panose="02020603050405020304" pitchFamily="18" charset="0"/>
                        </a:rPr>
                        <a:t>TRUSTED (T &gt;= 0.80)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effectLst/>
                          <a:latin typeface="Times New Roman" panose="02020603050405020304" pitchFamily="18" charset="0"/>
                          <a:cs typeface="Times New Roman" panose="02020603050405020304" pitchFamily="18" charset="0"/>
                        </a:rPr>
                        <a:t>Allow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effectLst/>
                          <a:latin typeface="Times New Roman" panose="02020603050405020304" pitchFamily="18" charset="0"/>
                          <a:cs typeface="Times New Roman" panose="02020603050405020304" pitchFamily="18" charset="0"/>
                        </a:rPr>
                        <a:t>Allow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8211171"/>
                  </a:ext>
                </a:extLst>
              </a:tr>
              <a:tr h="0">
                <a:tc>
                  <a:txBody>
                    <a:bodyPr/>
                    <a:lstStyle/>
                    <a:p>
                      <a:pPr algn="ctr">
                        <a:buNone/>
                      </a:pPr>
                      <a:r>
                        <a:rPr lang="en-IN" sz="1800" dirty="0">
                          <a:effectLst/>
                          <a:latin typeface="Times New Roman" panose="02020603050405020304" pitchFamily="18" charset="0"/>
                          <a:cs typeface="Times New Roman" panose="02020603050405020304" pitchFamily="18" charset="0"/>
                        </a:rPr>
                        <a:t>SUSPICIOUS (0.50 &lt;= T &lt; 0.80)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effectLst/>
                          <a:latin typeface="Times New Roman" panose="02020603050405020304" pitchFamily="18" charset="0"/>
                          <a:cs typeface="Times New Roman" panose="02020603050405020304" pitchFamily="18" charset="0"/>
                        </a:rPr>
                        <a:t>Allow (logged)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effectLst/>
                          <a:latin typeface="Times New Roman" panose="02020603050405020304" pitchFamily="18" charset="0"/>
                          <a:cs typeface="Times New Roman" panose="02020603050405020304" pitchFamily="18" charset="0"/>
                        </a:rPr>
                        <a:t>Blocked, HTTP 403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5068256"/>
                  </a:ext>
                </a:extLst>
              </a:tr>
              <a:tr h="0">
                <a:tc>
                  <a:txBody>
                    <a:bodyPr/>
                    <a:lstStyle/>
                    <a:p>
                      <a:pPr algn="ctr">
                        <a:buNone/>
                      </a:pPr>
                      <a:r>
                        <a:rPr lang="en-IN" sz="1800" dirty="0">
                          <a:effectLst/>
                          <a:latin typeface="Times New Roman" panose="02020603050405020304" pitchFamily="18" charset="0"/>
                          <a:cs typeface="Times New Roman" panose="02020603050405020304" pitchFamily="18" charset="0"/>
                        </a:rPr>
                        <a:t>QUARANTINED (T &lt; 0.50)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effectLst/>
                          <a:latin typeface="Times New Roman" panose="02020603050405020304" pitchFamily="18" charset="0"/>
                          <a:cs typeface="Times New Roman" panose="02020603050405020304" pitchFamily="18" charset="0"/>
                        </a:rPr>
                        <a:t>Denied, HTTP 403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effectLst/>
                          <a:latin typeface="Times New Roman" panose="02020603050405020304" pitchFamily="18" charset="0"/>
                          <a:cs typeface="Times New Roman" panose="02020603050405020304" pitchFamily="18" charset="0"/>
                        </a:rPr>
                        <a:t>Denied, HTTP 403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7843834"/>
                  </a:ext>
                </a:extLst>
              </a:tr>
              <a:tr h="0">
                <a:tc>
                  <a:txBody>
                    <a:bodyPr/>
                    <a:lstStyle/>
                    <a:p>
                      <a:pPr algn="ctr">
                        <a:buNone/>
                      </a:pPr>
                      <a:r>
                        <a:rPr lang="en-IN" sz="1800">
                          <a:effectLst/>
                          <a:latin typeface="Times New Roman" panose="02020603050405020304" pitchFamily="18" charset="0"/>
                          <a:cs typeface="Times New Roman" panose="02020603050405020304" pitchFamily="18" charset="0"/>
                        </a:rPr>
                        <a:t>REVOKED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effectLst/>
                          <a:latin typeface="Times New Roman" panose="02020603050405020304" pitchFamily="18" charset="0"/>
                          <a:cs typeface="Times New Roman" panose="02020603050405020304" pitchFamily="18" charset="0"/>
                        </a:rPr>
                        <a:t>Denied, permanent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effectLst/>
                          <a:latin typeface="Times New Roman" panose="02020603050405020304" pitchFamily="18" charset="0"/>
                          <a:cs typeface="Times New Roman" panose="02020603050405020304" pitchFamily="18" charset="0"/>
                        </a:rPr>
                        <a:t>Denied, permanent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4193107"/>
                  </a:ext>
                </a:extLst>
              </a:tr>
            </a:tbl>
          </a:graphicData>
        </a:graphic>
      </p:graphicFrame>
      <p:sp>
        <p:nvSpPr>
          <p:cNvPr id="7" name="TextBox 6">
            <a:extLst>
              <a:ext uri="{FF2B5EF4-FFF2-40B4-BE49-F238E27FC236}">
                <a16:creationId xmlns:a16="http://schemas.microsoft.com/office/drawing/2014/main" id="{EF0B845E-CE87-EDCE-55F3-1BA6E824AFE3}"/>
              </a:ext>
            </a:extLst>
          </p:cNvPr>
          <p:cNvSpPr txBox="1"/>
          <p:nvPr/>
        </p:nvSpPr>
        <p:spPr>
          <a:xfrm>
            <a:off x="228601" y="4896218"/>
            <a:ext cx="8762999" cy="1477328"/>
          </a:xfrm>
          <a:prstGeom prst="rect">
            <a:avLst/>
          </a:prstGeom>
          <a:noFill/>
        </p:spPr>
        <p:txBody>
          <a:bodyPr wrap="square" rtlCol="0">
            <a:spAutoFit/>
          </a:bodyPr>
          <a:lstStyle/>
          <a:p>
            <a:r>
              <a:rPr lang="en-IN" sz="1800" b="1" dirty="0">
                <a:latin typeface="Times New Roman" panose="02020603050405020304" pitchFamily="18" charset="0"/>
                <a:cs typeface="Times New Roman" panose="02020603050405020304" pitchFamily="18" charset="0"/>
              </a:rPr>
              <a:t>Humans (RBAC):</a:t>
            </a:r>
            <a:r>
              <a:rPr lang="en-IN" sz="1800" dirty="0">
                <a:latin typeface="Times New Roman" panose="02020603050405020304" pitchFamily="18" charset="0"/>
                <a:cs typeface="Times New Roman" panose="02020603050405020304" pitchFamily="18" charset="0"/>
              </a:rPr>
              <a:t> ADMIN (full mutations, user management, manual trust override), OPERATOR (workflows, discovery, matching), VIEWER (read-only). Argon2id hashing, 5-strike lockout (HTTP 423), JWT refresh rotation. The backend is the sole enforcement boundary; frontend badges are only UI conveniences.</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16195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E558-B099-7837-C27B-CFD33B588751}"/>
              </a:ext>
            </a:extLst>
          </p:cNvPr>
          <p:cNvSpPr>
            <a:spLocks noGrp="1"/>
          </p:cNvSpPr>
          <p:nvPr>
            <p:ph type="title"/>
          </p:nvPr>
        </p:nvSpPr>
        <p:spPr>
          <a:xfrm>
            <a:off x="152400" y="1516316"/>
            <a:ext cx="7620000" cy="868362"/>
          </a:xfrm>
        </p:spPr>
        <p:txBody>
          <a:bodyPr/>
          <a:lstStyle/>
          <a:p>
            <a:r>
              <a:rPr lang="en-IN" dirty="0">
                <a:latin typeface="Times New Roman" panose="02020603050405020304" pitchFamily="18" charset="0"/>
                <a:cs typeface="Times New Roman" panose="02020603050405020304" pitchFamily="18" charset="0"/>
              </a:rPr>
              <a:t>Agent Discovery</a:t>
            </a:r>
          </a:p>
        </p:txBody>
      </p:sp>
      <p:sp>
        <p:nvSpPr>
          <p:cNvPr id="3" name="Slide Number Placeholder 2">
            <a:extLst>
              <a:ext uri="{FF2B5EF4-FFF2-40B4-BE49-F238E27FC236}">
                <a16:creationId xmlns:a16="http://schemas.microsoft.com/office/drawing/2014/main" id="{A898D3C3-F305-9C16-6F9F-BFC7771CD39A}"/>
              </a:ext>
            </a:extLst>
          </p:cNvPr>
          <p:cNvSpPr>
            <a:spLocks noGrp="1"/>
          </p:cNvSpPr>
          <p:nvPr>
            <p:ph type="sldNum" sz="quarter" idx="12"/>
          </p:nvPr>
        </p:nvSpPr>
        <p:spPr/>
        <p:txBody>
          <a:bodyPr/>
          <a:lstStyle/>
          <a:p>
            <a:fld id="{B6F15528-21DE-4FAA-801E-634DDDAF4B2B}" type="slidenum">
              <a:rPr lang="en-US" smtClean="0"/>
              <a:pPr/>
              <a:t>16</a:t>
            </a:fld>
            <a:endParaRPr lang="en-US"/>
          </a:p>
        </p:txBody>
      </p:sp>
      <p:sp>
        <p:nvSpPr>
          <p:cNvPr id="6" name="TextBox 5">
            <a:extLst>
              <a:ext uri="{FF2B5EF4-FFF2-40B4-BE49-F238E27FC236}">
                <a16:creationId xmlns:a16="http://schemas.microsoft.com/office/drawing/2014/main" id="{A1A1FB75-AC45-FB11-9EBF-EDEFECA3A4B1}"/>
              </a:ext>
            </a:extLst>
          </p:cNvPr>
          <p:cNvSpPr txBox="1"/>
          <p:nvPr/>
        </p:nvSpPr>
        <p:spPr>
          <a:xfrm>
            <a:off x="533400" y="2384678"/>
            <a:ext cx="7391399" cy="2308324"/>
          </a:xfrm>
          <a:prstGeom prst="rect">
            <a:avLst/>
          </a:prstGeom>
          <a:noFill/>
        </p:spPr>
        <p:txBody>
          <a:bodyPr wrap="square" rtlCol="0">
            <a:spAutoFit/>
          </a:bodyPr>
          <a:lstStyle/>
          <a:p>
            <a:pPr marL="342900" lvl="0" indent="-342900">
              <a:buFont typeface="+mj-lt"/>
              <a:buAutoNum type="arabicPeriod"/>
            </a:pPr>
            <a:r>
              <a:rPr lang="en-IN" sz="1800" dirty="0">
                <a:latin typeface="Times New Roman" panose="02020603050405020304" pitchFamily="18" charset="0"/>
                <a:cs typeface="Times New Roman" panose="02020603050405020304" pitchFamily="18" charset="0"/>
              </a:rPr>
              <a:t>Filters: capability tag, minimum-trust slider (0.00 to 1.00, step 0.05), availability (AVAILABLE, BUSY, OFFLINE), endpoint health probe (HTTP 200).</a:t>
            </a:r>
          </a:p>
          <a:p>
            <a:pPr marL="342900" lvl="0" indent="-342900">
              <a:buFont typeface="+mj-lt"/>
              <a:buAutoNum type="arabicPeriod"/>
            </a:pPr>
            <a:r>
              <a:rPr lang="en-IN" sz="1800" dirty="0">
                <a:latin typeface="Times New Roman" panose="02020603050405020304" pitchFamily="18" charset="0"/>
                <a:cs typeface="Times New Roman" panose="02020603050405020304" pitchFamily="18" charset="0"/>
              </a:rPr>
              <a:t>Explainable exclusion: excluded agents are shown with a reason, not silently hidden. Examples: "Under </a:t>
            </a:r>
            <a:r>
              <a:rPr lang="en-IN" sz="1800" dirty="0" err="1">
                <a:latin typeface="Times New Roman" panose="02020603050405020304" pitchFamily="18" charset="0"/>
                <a:cs typeface="Times New Roman" panose="02020603050405020304" pitchFamily="18" charset="0"/>
              </a:rPr>
              <a:t>behavioral</a:t>
            </a:r>
            <a:r>
              <a:rPr lang="en-IN" sz="1800" dirty="0">
                <a:latin typeface="Times New Roman" panose="02020603050405020304" pitchFamily="18" charset="0"/>
                <a:cs typeface="Times New Roman" panose="02020603050405020304" pitchFamily="18" charset="0"/>
              </a:rPr>
              <a:t> quarantine (T = 0.42 &lt; 0.50)"; "Trust score (0.65) below requested slider (0.80)"; "Status is BUSY on active collaboration session".</a:t>
            </a:r>
          </a:p>
          <a:p>
            <a:pPr marL="342900" lvl="0" indent="-342900">
              <a:buFont typeface="+mj-lt"/>
              <a:buAutoNum type="arabicPeriod"/>
            </a:pPr>
            <a:r>
              <a:rPr lang="en-IN" sz="1800" dirty="0">
                <a:latin typeface="Times New Roman" panose="02020603050405020304" pitchFamily="18" charset="0"/>
                <a:cs typeface="Times New Roman" panose="02020603050405020304" pitchFamily="18" charset="0"/>
              </a:rPr>
              <a:t>Discovery = eligibility exploration. Matching = ranking for a specific task.</a:t>
            </a:r>
          </a:p>
        </p:txBody>
      </p:sp>
      <p:sp>
        <p:nvSpPr>
          <p:cNvPr id="4" name="TextBox 3">
            <a:extLst>
              <a:ext uri="{FF2B5EF4-FFF2-40B4-BE49-F238E27FC236}">
                <a16:creationId xmlns:a16="http://schemas.microsoft.com/office/drawing/2014/main" id="{E09818C4-2E6A-4415-9305-7BD913E60864}"/>
              </a:ext>
            </a:extLst>
          </p:cNvPr>
          <p:cNvSpPr txBox="1"/>
          <p:nvPr/>
        </p:nvSpPr>
        <p:spPr>
          <a:xfrm>
            <a:off x="2172929" y="2094271"/>
            <a:ext cx="184731" cy="307777"/>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1188423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9699C-7680-A233-E131-9BBB6F85038E}"/>
              </a:ext>
            </a:extLst>
          </p:cNvPr>
          <p:cNvSpPr>
            <a:spLocks noGrp="1"/>
          </p:cNvSpPr>
          <p:nvPr>
            <p:ph type="title"/>
          </p:nvPr>
        </p:nvSpPr>
        <p:spPr>
          <a:xfrm>
            <a:off x="1752600" y="533400"/>
            <a:ext cx="8229600" cy="914400"/>
          </a:xfrm>
        </p:spPr>
        <p:txBody>
          <a:bodyPr>
            <a:normAutofit/>
          </a:bodyPr>
          <a:lstStyle/>
          <a:p>
            <a:r>
              <a:rPr lang="en-IN" dirty="0">
                <a:latin typeface="Times New Roman" panose="02020603050405020304" pitchFamily="18" charset="0"/>
                <a:cs typeface="Times New Roman" panose="02020603050405020304" pitchFamily="18" charset="0"/>
              </a:rPr>
              <a:t>Task-Driven Matching</a:t>
            </a:r>
          </a:p>
        </p:txBody>
      </p:sp>
      <p:sp>
        <p:nvSpPr>
          <p:cNvPr id="3" name="Slide Number Placeholder 2">
            <a:extLst>
              <a:ext uri="{FF2B5EF4-FFF2-40B4-BE49-F238E27FC236}">
                <a16:creationId xmlns:a16="http://schemas.microsoft.com/office/drawing/2014/main" id="{C40CB0DB-C518-5A3F-5FB1-34DCEFAE8A91}"/>
              </a:ext>
            </a:extLst>
          </p:cNvPr>
          <p:cNvSpPr>
            <a:spLocks noGrp="1"/>
          </p:cNvSpPr>
          <p:nvPr>
            <p:ph type="sldNum" sz="quarter" idx="12"/>
          </p:nvPr>
        </p:nvSpPr>
        <p:spPr/>
        <p:txBody>
          <a:bodyPr/>
          <a:lstStyle/>
          <a:p>
            <a:fld id="{B6F15528-21DE-4FAA-801E-634DDDAF4B2B}" type="slidenum">
              <a:rPr lang="en-US" smtClean="0"/>
              <a:pPr/>
              <a:t>17</a:t>
            </a:fld>
            <a:endParaRPr lang="en-US"/>
          </a:p>
        </p:txBody>
      </p:sp>
      <p:pic>
        <p:nvPicPr>
          <p:cNvPr id="5" name="Picture 4">
            <a:extLst>
              <a:ext uri="{FF2B5EF4-FFF2-40B4-BE49-F238E27FC236}">
                <a16:creationId xmlns:a16="http://schemas.microsoft.com/office/drawing/2014/main" id="{B7BEACE1-AFEE-BE7D-C393-F2092E5A255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332" y="1447800"/>
            <a:ext cx="7653867" cy="3768058"/>
          </a:xfrm>
          <a:prstGeom prst="rect">
            <a:avLst/>
          </a:prstGeom>
        </p:spPr>
      </p:pic>
      <p:sp>
        <p:nvSpPr>
          <p:cNvPr id="8" name="TextBox 7">
            <a:extLst>
              <a:ext uri="{FF2B5EF4-FFF2-40B4-BE49-F238E27FC236}">
                <a16:creationId xmlns:a16="http://schemas.microsoft.com/office/drawing/2014/main" id="{12993384-C26F-41A6-6396-C02C7628D880}"/>
              </a:ext>
            </a:extLst>
          </p:cNvPr>
          <p:cNvSpPr txBox="1"/>
          <p:nvPr/>
        </p:nvSpPr>
        <p:spPr>
          <a:xfrm>
            <a:off x="685800" y="5410200"/>
            <a:ext cx="7315200" cy="954107"/>
          </a:xfrm>
          <a:prstGeom prst="rect">
            <a:avLst/>
          </a:prstGeom>
          <a:noFill/>
        </p:spPr>
        <p:txBody>
          <a:bodyPr wrap="square" rtlCol="0">
            <a:spAutoFit/>
          </a:bodyPr>
          <a:lstStyle/>
          <a:p>
            <a:r>
              <a:rPr lang="en-IN" dirty="0"/>
              <a:t>Formula: </a:t>
            </a:r>
            <a:r>
              <a:rPr lang="en-IN" dirty="0" err="1"/>
              <a:t>MatchScore</a:t>
            </a:r>
            <a:r>
              <a:rPr lang="en-IN" dirty="0"/>
              <a:t> = 0.4 T + 0.3 (r/5) + 0.2 sigma + 0.1 (1 - lambda), where r is peer reputation, sigma is historical success rate, lambda is the latency penalty. QUARANTINED or REVOKED agents are forced to 0.000 ("REJECTED BY POLICY") regardless of reputation. Footnote: illustrative benchmark scenario.</a:t>
            </a:r>
          </a:p>
        </p:txBody>
      </p:sp>
    </p:spTree>
    <p:extLst>
      <p:ext uri="{BB962C8B-B14F-4D97-AF65-F5344CB8AC3E}">
        <p14:creationId xmlns:p14="http://schemas.microsoft.com/office/powerpoint/2010/main" val="4024639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263A5-EB46-346D-7CCE-5460FFA89A3C}"/>
              </a:ext>
            </a:extLst>
          </p:cNvPr>
          <p:cNvSpPr>
            <a:spLocks noGrp="1"/>
          </p:cNvSpPr>
          <p:nvPr>
            <p:ph type="title"/>
          </p:nvPr>
        </p:nvSpPr>
        <p:spPr>
          <a:xfrm>
            <a:off x="3200400" y="515985"/>
            <a:ext cx="5638800" cy="914400"/>
          </a:xfrm>
        </p:spPr>
        <p:txBody>
          <a:bodyPr>
            <a:normAutofit/>
          </a:bodyPr>
          <a:lstStyle/>
          <a:p>
            <a:r>
              <a:rPr lang="en-IN" dirty="0">
                <a:latin typeface="Times New Roman" panose="02020603050405020304" pitchFamily="18" charset="0"/>
                <a:cs typeface="Times New Roman" panose="02020603050405020304" pitchFamily="18" charset="0"/>
              </a:rPr>
              <a:t>Multi-Agent Collaboration</a:t>
            </a:r>
          </a:p>
        </p:txBody>
      </p:sp>
      <p:sp>
        <p:nvSpPr>
          <p:cNvPr id="3" name="Slide Number Placeholder 2">
            <a:extLst>
              <a:ext uri="{FF2B5EF4-FFF2-40B4-BE49-F238E27FC236}">
                <a16:creationId xmlns:a16="http://schemas.microsoft.com/office/drawing/2014/main" id="{C988EE89-8F57-4BEE-35C3-7AE94824DF55}"/>
              </a:ext>
            </a:extLst>
          </p:cNvPr>
          <p:cNvSpPr>
            <a:spLocks noGrp="1"/>
          </p:cNvSpPr>
          <p:nvPr>
            <p:ph type="sldNum" sz="quarter" idx="12"/>
          </p:nvPr>
        </p:nvSpPr>
        <p:spPr/>
        <p:txBody>
          <a:bodyPr/>
          <a:lstStyle/>
          <a:p>
            <a:fld id="{B6F15528-21DE-4FAA-801E-634DDDAF4B2B}" type="slidenum">
              <a:rPr lang="en-US" smtClean="0"/>
              <a:pPr/>
              <a:t>18</a:t>
            </a:fld>
            <a:endParaRPr lang="en-US"/>
          </a:p>
        </p:txBody>
      </p:sp>
      <p:pic>
        <p:nvPicPr>
          <p:cNvPr id="5" name="Picture 4">
            <a:extLst>
              <a:ext uri="{FF2B5EF4-FFF2-40B4-BE49-F238E27FC236}">
                <a16:creationId xmlns:a16="http://schemas.microsoft.com/office/drawing/2014/main" id="{A5EA9267-B839-16C4-73D0-CD31C4DF8594}"/>
              </a:ext>
            </a:extLst>
          </p:cNvPr>
          <p:cNvPicPr>
            <a:picLocks noChangeAspect="1"/>
          </p:cNvPicPr>
          <p:nvPr/>
        </p:nvPicPr>
        <p:blipFill>
          <a:blip r:embed="rId2" cstate="print">
            <a:extLst>
              <a:ext uri="{28A0092B-C50C-407E-A947-70E740481C1C}">
                <a14:useLocalDpi xmlns:a14="http://schemas.microsoft.com/office/drawing/2010/main" val="0"/>
              </a:ext>
            </a:extLst>
          </a:blip>
          <a:srcRect l="5434" r="6523"/>
          <a:stretch>
            <a:fillRect/>
          </a:stretch>
        </p:blipFill>
        <p:spPr>
          <a:xfrm>
            <a:off x="76200" y="1430385"/>
            <a:ext cx="5255952" cy="3979815"/>
          </a:xfrm>
          <a:prstGeom prst="rect">
            <a:avLst/>
          </a:prstGeom>
        </p:spPr>
      </p:pic>
      <p:sp>
        <p:nvSpPr>
          <p:cNvPr id="8" name="TextBox 7">
            <a:extLst>
              <a:ext uri="{FF2B5EF4-FFF2-40B4-BE49-F238E27FC236}">
                <a16:creationId xmlns:a16="http://schemas.microsoft.com/office/drawing/2014/main" id="{15A22A4D-E903-50FE-343C-1EAC2A34FEFE}"/>
              </a:ext>
            </a:extLst>
          </p:cNvPr>
          <p:cNvSpPr txBox="1"/>
          <p:nvPr/>
        </p:nvSpPr>
        <p:spPr>
          <a:xfrm>
            <a:off x="5029200" y="2270879"/>
            <a:ext cx="3812458" cy="341632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342900" lvl="0" indent="-342900">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Session states: PENDING, ACTIVE, COMPLETED, TERMINATED.</a:t>
            </a:r>
          </a:p>
          <a:p>
            <a:pPr marL="342900" lvl="0" indent="-342900">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Both agents must be TRUSTED to activate a session.</a:t>
            </a:r>
          </a:p>
          <a:p>
            <a:pPr marL="342900" lvl="0" indent="-342900">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Telemetry is recorded after every step of a sequential pipeline (e.g. Planning, Coding, Review); if trust drops below 0.50 mid-session the workflow stops.</a:t>
            </a:r>
          </a:p>
          <a:p>
            <a:pPr marL="342900" lvl="0" indent="-342900">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Post-task 1-to-5 rating updates agent reputation.</a:t>
            </a:r>
          </a:p>
        </p:txBody>
      </p:sp>
    </p:spTree>
    <p:extLst>
      <p:ext uri="{BB962C8B-B14F-4D97-AF65-F5344CB8AC3E}">
        <p14:creationId xmlns:p14="http://schemas.microsoft.com/office/powerpoint/2010/main" val="3244742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DA1F8-189D-C1B5-1689-CFFB706AC815}"/>
              </a:ext>
            </a:extLst>
          </p:cNvPr>
          <p:cNvSpPr>
            <a:spLocks noGrp="1"/>
          </p:cNvSpPr>
          <p:nvPr>
            <p:ph type="title"/>
          </p:nvPr>
        </p:nvSpPr>
        <p:spPr>
          <a:xfrm>
            <a:off x="457200" y="1165000"/>
            <a:ext cx="8229600" cy="914400"/>
          </a:xfrm>
        </p:spPr>
        <p:txBody>
          <a:bodyPr>
            <a:normAutofit fontScale="90000"/>
          </a:bodyPr>
          <a:lstStyle/>
          <a:p>
            <a:r>
              <a:rPr lang="en-IN" dirty="0">
                <a:latin typeface="Times New Roman" panose="02020603050405020304" pitchFamily="18" charset="0"/>
                <a:cs typeface="Times New Roman" panose="02020603050405020304" pitchFamily="18" charset="0"/>
              </a:rPr>
              <a:t>Verifiable Data Registry and Audit Trails </a:t>
            </a:r>
          </a:p>
        </p:txBody>
      </p:sp>
      <p:sp>
        <p:nvSpPr>
          <p:cNvPr id="3" name="Slide Number Placeholder 2">
            <a:extLst>
              <a:ext uri="{FF2B5EF4-FFF2-40B4-BE49-F238E27FC236}">
                <a16:creationId xmlns:a16="http://schemas.microsoft.com/office/drawing/2014/main" id="{28C9A365-A308-CB68-D56A-C2F842508A6B}"/>
              </a:ext>
            </a:extLst>
          </p:cNvPr>
          <p:cNvSpPr>
            <a:spLocks noGrp="1"/>
          </p:cNvSpPr>
          <p:nvPr>
            <p:ph type="sldNum" sz="quarter" idx="12"/>
          </p:nvPr>
        </p:nvSpPr>
        <p:spPr/>
        <p:txBody>
          <a:bodyPr/>
          <a:lstStyle/>
          <a:p>
            <a:fld id="{B6F15528-21DE-4FAA-801E-634DDDAF4B2B}" type="slidenum">
              <a:rPr lang="en-US" smtClean="0"/>
              <a:pPr/>
              <a:t>19</a:t>
            </a:fld>
            <a:endParaRPr lang="en-US"/>
          </a:p>
        </p:txBody>
      </p:sp>
      <p:pic>
        <p:nvPicPr>
          <p:cNvPr id="5" name="Picture 4">
            <a:extLst>
              <a:ext uri="{FF2B5EF4-FFF2-40B4-BE49-F238E27FC236}">
                <a16:creationId xmlns:a16="http://schemas.microsoft.com/office/drawing/2014/main" id="{9F5E60CC-5341-692C-00B1-60597B0412D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581" y="1860936"/>
            <a:ext cx="9144000" cy="4642338"/>
          </a:xfrm>
          <a:prstGeom prst="rect">
            <a:avLst/>
          </a:prstGeom>
        </p:spPr>
      </p:pic>
    </p:spTree>
    <p:extLst>
      <p:ext uri="{BB962C8B-B14F-4D97-AF65-F5344CB8AC3E}">
        <p14:creationId xmlns:p14="http://schemas.microsoft.com/office/powerpoint/2010/main" val="40652215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29225-AB58-A28F-D472-3A44E7D65D81}"/>
              </a:ext>
            </a:extLst>
          </p:cNvPr>
          <p:cNvSpPr>
            <a:spLocks noGrp="1"/>
          </p:cNvSpPr>
          <p:nvPr>
            <p:ph type="title"/>
          </p:nvPr>
        </p:nvSpPr>
        <p:spPr/>
        <p:txBody>
          <a:bodyPr>
            <a:normAutofit/>
          </a:bodyPr>
          <a:lstStyle/>
          <a:p>
            <a:r>
              <a:rPr lang="en-IN" dirty="0">
                <a:latin typeface="Times New Roman" panose="02020603050405020304" pitchFamily="18" charset="0"/>
                <a:cs typeface="Times New Roman" panose="02020603050405020304" pitchFamily="18" charset="0"/>
              </a:rPr>
              <a:t>SOC Portal and Investigation Drawer</a:t>
            </a:r>
          </a:p>
        </p:txBody>
      </p:sp>
      <p:sp>
        <p:nvSpPr>
          <p:cNvPr id="3" name="Slide Number Placeholder 2">
            <a:extLst>
              <a:ext uri="{FF2B5EF4-FFF2-40B4-BE49-F238E27FC236}">
                <a16:creationId xmlns:a16="http://schemas.microsoft.com/office/drawing/2014/main" id="{F8413638-5425-3712-110A-7187E8529F88}"/>
              </a:ext>
            </a:extLst>
          </p:cNvPr>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42566100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D2BAC-7261-75A7-981C-B09CD5A25633}"/>
              </a:ext>
            </a:extLst>
          </p:cNvPr>
          <p:cNvSpPr>
            <a:spLocks noGrp="1"/>
          </p:cNvSpPr>
          <p:nvPr>
            <p:ph type="title"/>
          </p:nvPr>
        </p:nvSpPr>
        <p:spPr>
          <a:xfrm>
            <a:off x="457200" y="1178429"/>
            <a:ext cx="8229600" cy="914400"/>
          </a:xfrm>
        </p:spPr>
        <p:txBody>
          <a:bodyPr>
            <a:normAutofit/>
          </a:bodyPr>
          <a:lstStyle/>
          <a:p>
            <a:r>
              <a:rPr lang="en-IN" dirty="0">
                <a:latin typeface="Times New Roman" panose="02020603050405020304" pitchFamily="18" charset="0"/>
                <a:cs typeface="Times New Roman" panose="02020603050405020304" pitchFamily="18" charset="0"/>
              </a:rPr>
              <a:t>Implementation Status</a:t>
            </a:r>
          </a:p>
        </p:txBody>
      </p:sp>
      <p:sp>
        <p:nvSpPr>
          <p:cNvPr id="3" name="Slide Number Placeholder 2">
            <a:extLst>
              <a:ext uri="{FF2B5EF4-FFF2-40B4-BE49-F238E27FC236}">
                <a16:creationId xmlns:a16="http://schemas.microsoft.com/office/drawing/2014/main" id="{D021BD95-1100-C712-EEBF-ABE79C341410}"/>
              </a:ext>
            </a:extLst>
          </p:cNvPr>
          <p:cNvSpPr>
            <a:spLocks noGrp="1"/>
          </p:cNvSpPr>
          <p:nvPr>
            <p:ph type="sldNum" sz="quarter" idx="12"/>
          </p:nvPr>
        </p:nvSpPr>
        <p:spPr/>
        <p:txBody>
          <a:bodyPr/>
          <a:lstStyle/>
          <a:p>
            <a:fld id="{B6F15528-21DE-4FAA-801E-634DDDAF4B2B}" type="slidenum">
              <a:rPr lang="en-US" smtClean="0"/>
              <a:pPr/>
              <a:t>21</a:t>
            </a:fld>
            <a:endParaRPr lang="en-US"/>
          </a:p>
        </p:txBody>
      </p:sp>
      <p:graphicFrame>
        <p:nvGraphicFramePr>
          <p:cNvPr id="4" name="Table 3">
            <a:extLst>
              <a:ext uri="{FF2B5EF4-FFF2-40B4-BE49-F238E27FC236}">
                <a16:creationId xmlns:a16="http://schemas.microsoft.com/office/drawing/2014/main" id="{BDAC97AB-0A41-3ACF-F637-0A092577AA6F}"/>
              </a:ext>
            </a:extLst>
          </p:cNvPr>
          <p:cNvGraphicFramePr>
            <a:graphicFrameLocks noGrp="1"/>
          </p:cNvGraphicFramePr>
          <p:nvPr>
            <p:extLst>
              <p:ext uri="{D42A27DB-BD31-4B8C-83A1-F6EECF244321}">
                <p14:modId xmlns:p14="http://schemas.microsoft.com/office/powerpoint/2010/main" val="3758012187"/>
              </p:ext>
            </p:extLst>
          </p:nvPr>
        </p:nvGraphicFramePr>
        <p:xfrm>
          <a:off x="680328" y="1981200"/>
          <a:ext cx="7783344" cy="3778335"/>
        </p:xfrm>
        <a:graphic>
          <a:graphicData uri="http://schemas.openxmlformats.org/drawingml/2006/table">
            <a:tbl>
              <a:tblPr>
                <a:tableStyleId>{2D5ABB26-0587-4C30-8999-92F81FD0307C}</a:tableStyleId>
              </a:tblPr>
              <a:tblGrid>
                <a:gridCol w="2587152">
                  <a:extLst>
                    <a:ext uri="{9D8B030D-6E8A-4147-A177-3AD203B41FA5}">
                      <a16:colId xmlns:a16="http://schemas.microsoft.com/office/drawing/2014/main" val="2915198884"/>
                    </a:ext>
                  </a:extLst>
                </a:gridCol>
                <a:gridCol w="2598096">
                  <a:extLst>
                    <a:ext uri="{9D8B030D-6E8A-4147-A177-3AD203B41FA5}">
                      <a16:colId xmlns:a16="http://schemas.microsoft.com/office/drawing/2014/main" val="2295925442"/>
                    </a:ext>
                  </a:extLst>
                </a:gridCol>
                <a:gridCol w="2598096">
                  <a:extLst>
                    <a:ext uri="{9D8B030D-6E8A-4147-A177-3AD203B41FA5}">
                      <a16:colId xmlns:a16="http://schemas.microsoft.com/office/drawing/2014/main" val="3064566695"/>
                    </a:ext>
                  </a:extLst>
                </a:gridCol>
              </a:tblGrid>
              <a:tr h="288677">
                <a:tc>
                  <a:txBody>
                    <a:bodyPr/>
                    <a:lstStyle/>
                    <a:p>
                      <a:pPr algn="ctr">
                        <a:buNone/>
                      </a:pPr>
                      <a:r>
                        <a:rPr lang="en-IN" sz="1400" b="1" dirty="0">
                          <a:effectLst/>
                          <a:latin typeface="Times New Roman" panose="02020603050405020304" pitchFamily="18" charset="0"/>
                          <a:cs typeface="Times New Roman" panose="02020603050405020304" pitchFamily="18" charset="0"/>
                        </a:rPr>
                        <a:t>Component</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buNone/>
                      </a:pPr>
                      <a:r>
                        <a:rPr lang="en-IN" sz="1400" b="1" dirty="0">
                          <a:effectLst/>
                          <a:latin typeface="Times New Roman" panose="02020603050405020304" pitchFamily="18" charset="0"/>
                          <a:cs typeface="Times New Roman" panose="02020603050405020304" pitchFamily="18" charset="0"/>
                        </a:rPr>
                        <a:t>Status</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buNone/>
                      </a:pPr>
                      <a:r>
                        <a:rPr lang="en-IN" sz="1400" b="1" dirty="0">
                          <a:effectLst/>
                          <a:latin typeface="Times New Roman" panose="02020603050405020304" pitchFamily="18" charset="0"/>
                          <a:cs typeface="Times New Roman" panose="02020603050405020304" pitchFamily="18" charset="0"/>
                        </a:rPr>
                        <a:t>Evidence</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508395868"/>
                  </a:ext>
                </a:extLst>
              </a:tr>
              <a:tr h="351975">
                <a:tc>
                  <a:txBody>
                    <a:bodyPr/>
                    <a:lstStyle/>
                    <a:p>
                      <a:pPr algn="ctr">
                        <a:buNone/>
                      </a:pPr>
                      <a:r>
                        <a:rPr lang="en-IN" sz="1400">
                          <a:effectLst/>
                          <a:latin typeface="Times New Roman" panose="02020603050405020304" pitchFamily="18" charset="0"/>
                          <a:cs typeface="Times New Roman" panose="02020603050405020304" pitchFamily="18" charset="0"/>
                        </a:rPr>
                        <a:t>did:key identity, Ed25519</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Implemented + tested</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akta/did.py, pytest</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1585954"/>
                  </a:ext>
                </a:extLst>
              </a:tr>
              <a:tr h="288677">
                <a:tc>
                  <a:txBody>
                    <a:bodyPr/>
                    <a:lstStyle/>
                    <a:p>
                      <a:pPr algn="ctr">
                        <a:buNone/>
                      </a:pPr>
                      <a:r>
                        <a:rPr lang="en-IN" sz="1400">
                          <a:effectLst/>
                          <a:latin typeface="Times New Roman" panose="02020603050405020304" pitchFamily="18" charset="0"/>
                          <a:cs typeface="Times New Roman" panose="02020603050405020304" pitchFamily="18" charset="0"/>
                        </a:rPr>
                        <a:t>VC issuance and verification</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effectLst/>
                          <a:latin typeface="Times New Roman" panose="02020603050405020304" pitchFamily="18" charset="0"/>
                          <a:cs typeface="Times New Roman" panose="02020603050405020304" pitchFamily="18" charset="0"/>
                        </a:rPr>
                        <a:t>Implemented + tested</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akta/vc.py, pytest</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0125379"/>
                  </a:ext>
                </a:extLst>
              </a:tr>
              <a:tr h="288677">
                <a:tc>
                  <a:txBody>
                    <a:bodyPr/>
                    <a:lstStyle/>
                    <a:p>
                      <a:pPr algn="ctr">
                        <a:buNone/>
                      </a:pPr>
                      <a:r>
                        <a:rPr lang="en-IN" sz="1400">
                          <a:effectLst/>
                          <a:latin typeface="Times New Roman" panose="02020603050405020304" pitchFamily="18" charset="0"/>
                          <a:cs typeface="Times New Roman" panose="02020603050405020304" pitchFamily="18" charset="0"/>
                        </a:rPr>
                        <a:t>Telemetry, trust engine, states</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Fully implemented</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akta/trust_engine.py</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235819"/>
                  </a:ext>
                </a:extLst>
              </a:tr>
              <a:tr h="288677">
                <a:tc>
                  <a:txBody>
                    <a:bodyPr/>
                    <a:lstStyle/>
                    <a:p>
                      <a:pPr algn="ctr">
                        <a:buNone/>
                      </a:pPr>
                      <a:r>
                        <a:rPr lang="en-IN" sz="1400">
                          <a:effectLst/>
                          <a:latin typeface="Times New Roman" panose="02020603050405020304" pitchFamily="18" charset="0"/>
                          <a:cs typeface="Times New Roman" panose="02020603050405020304" pitchFamily="18" charset="0"/>
                        </a:rPr>
                        <a:t>Adaptive policy gateway</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Implemented + tested</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akta/adaptive_auth.py</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2439713"/>
                  </a:ext>
                </a:extLst>
              </a:tr>
              <a:tr h="288677">
                <a:tc>
                  <a:txBody>
                    <a:bodyPr/>
                    <a:lstStyle/>
                    <a:p>
                      <a:pPr algn="ctr">
                        <a:buNone/>
                      </a:pPr>
                      <a:r>
                        <a:rPr lang="en-IN" sz="1400">
                          <a:effectLst/>
                          <a:latin typeface="Times New Roman" panose="02020603050405020304" pitchFamily="18" charset="0"/>
                          <a:cs typeface="Times New Roman" panose="02020603050405020304" pitchFamily="18" charset="0"/>
                        </a:rPr>
                        <a:t>Revocation, audit trail</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Fully implemented</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/trust/revoke, trust_audit_trails</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5174405"/>
                  </a:ext>
                </a:extLst>
              </a:tr>
              <a:tr h="288677">
                <a:tc>
                  <a:txBody>
                    <a:bodyPr/>
                    <a:lstStyle/>
                    <a:p>
                      <a:pPr algn="ctr">
                        <a:buNone/>
                      </a:pPr>
                      <a:r>
                        <a:rPr lang="en-IN" sz="1400">
                          <a:effectLst/>
                          <a:latin typeface="Times New Roman" panose="02020603050405020304" pitchFamily="18" charset="0"/>
                          <a:cs typeface="Times New Roman" panose="02020603050405020304" pitchFamily="18" charset="0"/>
                        </a:rPr>
                        <a:t>Discovery, matching</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Implemented + tested</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registry_crud.py</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2432269"/>
                  </a:ext>
                </a:extLst>
              </a:tr>
              <a:tr h="490751">
                <a:tc>
                  <a:txBody>
                    <a:bodyPr/>
                    <a:lstStyle/>
                    <a:p>
                      <a:pPr algn="ctr">
                        <a:buNone/>
                      </a:pPr>
                      <a:r>
                        <a:rPr lang="en-IN" sz="1400">
                          <a:effectLst/>
                          <a:latin typeface="Times New Roman" panose="02020603050405020304" pitchFamily="18" charset="0"/>
                          <a:cs typeface="Times New Roman" panose="02020603050405020304" pitchFamily="18" charset="0"/>
                        </a:rPr>
                        <a:t>Collaboration sessions, workflows</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Implemented + tested</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collaboration tables, tests</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8886231"/>
                  </a:ext>
                </a:extLst>
              </a:tr>
              <a:tr h="288677">
                <a:tc>
                  <a:txBody>
                    <a:bodyPr/>
                    <a:lstStyle/>
                    <a:p>
                      <a:pPr algn="ctr">
                        <a:buNone/>
                      </a:pPr>
                      <a:r>
                        <a:rPr lang="en-IN" sz="1400">
                          <a:effectLst/>
                          <a:latin typeface="Times New Roman" panose="02020603050405020304" pitchFamily="18" charset="0"/>
                          <a:cs typeface="Times New Roman" panose="02020603050405020304" pitchFamily="18" charset="0"/>
                        </a:rPr>
                        <a:t>Authentication and RBAC</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Implemented + tested</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akta/auth/, pytest</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8694709"/>
                  </a:ext>
                </a:extLst>
              </a:tr>
              <a:tr h="288677">
                <a:tc>
                  <a:txBody>
                    <a:bodyPr/>
                    <a:lstStyle/>
                    <a:p>
                      <a:pPr algn="ctr">
                        <a:buNone/>
                      </a:pPr>
                      <a:r>
                        <a:rPr lang="en-IN" sz="1400">
                          <a:effectLst/>
                          <a:latin typeface="Times New Roman" panose="02020603050405020304" pitchFamily="18" charset="0"/>
                          <a:cs typeface="Times New Roman" panose="02020603050405020304" pitchFamily="18" charset="0"/>
                        </a:rPr>
                        <a:t>SQLite WAL VDR (13 tables)</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Fully implemented</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akta/vdr/</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0620659"/>
                  </a:ext>
                </a:extLst>
              </a:tr>
              <a:tr h="490751">
                <a:tc>
                  <a:txBody>
                    <a:bodyPr/>
                    <a:lstStyle/>
                    <a:p>
                      <a:pPr algn="ctr">
                        <a:buNone/>
                      </a:pPr>
                      <a:r>
                        <a:rPr lang="en-IN" sz="1400">
                          <a:effectLst/>
                          <a:latin typeface="Times New Roman" panose="02020603050405020304" pitchFamily="18" charset="0"/>
                          <a:cs typeface="Times New Roman" panose="02020603050405020304" pitchFamily="18" charset="0"/>
                        </a:rPr>
                        <a:t>FastAPI backend, React portal, CLI</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effectLst/>
                          <a:latin typeface="Times New Roman" panose="02020603050405020304" pitchFamily="18" charset="0"/>
                          <a:cs typeface="Times New Roman" panose="02020603050405020304" pitchFamily="18" charset="0"/>
                        </a:rPr>
                        <a:t>Fully implemented</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err="1">
                          <a:effectLst/>
                          <a:latin typeface="Times New Roman" panose="02020603050405020304" pitchFamily="18" charset="0"/>
                          <a:cs typeface="Times New Roman" panose="02020603050405020304" pitchFamily="18" charset="0"/>
                        </a:rPr>
                        <a:t>akta</a:t>
                      </a:r>
                      <a:r>
                        <a:rPr lang="en-IN" sz="1400" dirty="0">
                          <a:effectLst/>
                          <a:latin typeface="Times New Roman" panose="02020603050405020304" pitchFamily="18" charset="0"/>
                          <a:cs typeface="Times New Roman" panose="02020603050405020304" pitchFamily="18" charset="0"/>
                        </a:rPr>
                        <a:t>/server.py, frontend/</a:t>
                      </a:r>
                    </a:p>
                  </a:txBody>
                  <a:tcPr marL="86603" marR="86603" marT="43302" marB="433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6821148"/>
                  </a:ext>
                </a:extLst>
              </a:tr>
            </a:tbl>
          </a:graphicData>
        </a:graphic>
      </p:graphicFrame>
    </p:spTree>
    <p:extLst>
      <p:ext uri="{BB962C8B-B14F-4D97-AF65-F5344CB8AC3E}">
        <p14:creationId xmlns:p14="http://schemas.microsoft.com/office/powerpoint/2010/main" val="2222144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0F0CA6-4F16-601B-4D42-2968DE180FB8}"/>
              </a:ext>
            </a:extLst>
          </p:cNvPr>
          <p:cNvSpPr>
            <a:spLocks noGrp="1"/>
          </p:cNvSpPr>
          <p:nvPr>
            <p:ph type="sldNum" sz="quarter" idx="12"/>
          </p:nvPr>
        </p:nvSpPr>
        <p:spPr/>
        <p:txBody>
          <a:bodyPr/>
          <a:lstStyle/>
          <a:p>
            <a:fld id="{B6F15528-21DE-4FAA-801E-634DDDAF4B2B}" type="slidenum">
              <a:rPr lang="en-US" smtClean="0"/>
              <a:pPr/>
              <a:t>22</a:t>
            </a:fld>
            <a:endParaRPr lang="en-US"/>
          </a:p>
        </p:txBody>
      </p:sp>
      <p:sp>
        <p:nvSpPr>
          <p:cNvPr id="4" name="TextBox 3">
            <a:extLst>
              <a:ext uri="{FF2B5EF4-FFF2-40B4-BE49-F238E27FC236}">
                <a16:creationId xmlns:a16="http://schemas.microsoft.com/office/drawing/2014/main" id="{26F2832E-617D-92C7-1672-0DB46E3A972F}"/>
              </a:ext>
            </a:extLst>
          </p:cNvPr>
          <p:cNvSpPr txBox="1"/>
          <p:nvPr/>
        </p:nvSpPr>
        <p:spPr>
          <a:xfrm>
            <a:off x="1246425" y="2057400"/>
            <a:ext cx="7477246" cy="3539430"/>
          </a:xfrm>
          <a:prstGeom prst="rect">
            <a:avLst/>
          </a:prstGeom>
          <a:noFill/>
        </p:spPr>
        <p:txBody>
          <a:bodyPr wrap="square">
            <a:spAutoFit/>
          </a:bodyPr>
          <a:lstStyle/>
          <a:p>
            <a:pPr marL="342900" lvl="0" indent="-342900" algn="just">
              <a:buFont typeface="+mj-lt"/>
              <a:buAutoNum type="arabicPeriod"/>
            </a:pPr>
            <a:r>
              <a:rPr lang="en-IN" sz="1600" b="1" dirty="0">
                <a:latin typeface="Times New Roman" panose="02020603050405020304" pitchFamily="18" charset="0"/>
                <a:cs typeface="Times New Roman" panose="02020603050405020304" pitchFamily="18" charset="0"/>
              </a:rPr>
              <a:t>Decentralized AI Identity:</a:t>
            </a:r>
            <a:r>
              <a:rPr lang="en-IN" sz="1600" dirty="0">
                <a:latin typeface="Times New Roman" panose="02020603050405020304" pitchFamily="18" charset="0"/>
                <a:cs typeface="Times New Roman" panose="02020603050405020304" pitchFamily="18" charset="0"/>
              </a:rPr>
              <a:t> Assigns each AI agent a unique W3C DID for secure and self-sovereign digital identity. </a:t>
            </a:r>
          </a:p>
          <a:p>
            <a:pPr marL="342900" lvl="0" indent="-342900" algn="just">
              <a:buFont typeface="+mj-lt"/>
              <a:buAutoNum type="arabicPeriod"/>
            </a:pPr>
            <a:r>
              <a:rPr lang="en-IN" sz="1600" b="1" dirty="0">
                <a:latin typeface="Times New Roman" panose="02020603050405020304" pitchFamily="18" charset="0"/>
                <a:cs typeface="Times New Roman" panose="02020603050405020304" pitchFamily="18" charset="0"/>
              </a:rPr>
              <a:t>Verifiable Credential Authentication:</a:t>
            </a:r>
            <a:r>
              <a:rPr lang="en-IN" sz="1600" dirty="0">
                <a:latin typeface="Times New Roman" panose="02020603050405020304" pitchFamily="18" charset="0"/>
                <a:cs typeface="Times New Roman" panose="02020603050405020304" pitchFamily="18" charset="0"/>
              </a:rPr>
              <a:t> Authenticates AI agents using trusted Verifiable Credentials (VCs) before collaboration. </a:t>
            </a:r>
          </a:p>
          <a:p>
            <a:pPr marL="342900" lvl="0" indent="-342900" algn="just">
              <a:buFont typeface="+mj-lt"/>
              <a:buAutoNum type="arabicPeriod"/>
            </a:pPr>
            <a:r>
              <a:rPr lang="en-IN" sz="1600" b="1" dirty="0">
                <a:latin typeface="Times New Roman" panose="02020603050405020304" pitchFamily="18" charset="0"/>
                <a:cs typeface="Times New Roman" panose="02020603050405020304" pitchFamily="18" charset="0"/>
              </a:rPr>
              <a:t>Blockchain-Based Trust Ledger:</a:t>
            </a:r>
            <a:r>
              <a:rPr lang="en-IN" sz="1600" dirty="0">
                <a:latin typeface="Times New Roman" panose="02020603050405020304" pitchFamily="18" charset="0"/>
                <a:cs typeface="Times New Roman" panose="02020603050405020304" pitchFamily="18" charset="0"/>
              </a:rPr>
              <a:t> Stores identity, trust records, and audit logs in a tamper-proof blockchain. </a:t>
            </a:r>
          </a:p>
          <a:p>
            <a:pPr marL="342900" lvl="0" indent="-342900" algn="just">
              <a:buFont typeface="+mj-lt"/>
              <a:buAutoNum type="arabicPeriod"/>
            </a:pPr>
            <a:r>
              <a:rPr lang="en-IN" sz="1600" b="1" dirty="0">
                <a:latin typeface="Times New Roman" panose="02020603050405020304" pitchFamily="18" charset="0"/>
                <a:cs typeface="Times New Roman" panose="02020603050405020304" pitchFamily="18" charset="0"/>
              </a:rPr>
              <a:t>Dynamic Trust Intelligence Engine:</a:t>
            </a:r>
            <a:r>
              <a:rPr lang="en-IN" sz="1600" dirty="0">
                <a:latin typeface="Times New Roman" panose="02020603050405020304" pitchFamily="18" charset="0"/>
                <a:cs typeface="Times New Roman" panose="02020603050405020304" pitchFamily="18" charset="0"/>
              </a:rPr>
              <a:t> Continuously calculates trust scores using credentials, reputation, and agent behaviour. </a:t>
            </a:r>
          </a:p>
          <a:p>
            <a:pPr marL="342900" lvl="0" indent="-342900" algn="just">
              <a:buFont typeface="+mj-lt"/>
              <a:buAutoNum type="arabicPeriod"/>
            </a:pPr>
            <a:r>
              <a:rPr lang="en-IN" sz="1600" b="1" dirty="0">
                <a:latin typeface="Times New Roman" panose="02020603050405020304" pitchFamily="18" charset="0"/>
                <a:cs typeface="Times New Roman" panose="02020603050405020304" pitchFamily="18" charset="0"/>
              </a:rPr>
              <a:t>Reputation &amp; Malicious Agent Detection:</a:t>
            </a:r>
            <a:r>
              <a:rPr lang="en-IN" sz="1600" dirty="0">
                <a:latin typeface="Times New Roman" panose="02020603050405020304" pitchFamily="18" charset="0"/>
                <a:cs typeface="Times New Roman" panose="02020603050405020304" pitchFamily="18" charset="0"/>
              </a:rPr>
              <a:t> Evaluates agent reliability and identifies compromised or suspicious AI agents. </a:t>
            </a:r>
          </a:p>
          <a:p>
            <a:pPr marL="342900" lvl="0" indent="-342900" algn="just">
              <a:buFont typeface="+mj-lt"/>
              <a:buAutoNum type="arabicPeriod"/>
            </a:pPr>
            <a:r>
              <a:rPr lang="en-IN" sz="1600" b="1" dirty="0">
                <a:latin typeface="Times New Roman" panose="02020603050405020304" pitchFamily="18" charset="0"/>
                <a:cs typeface="Times New Roman" panose="02020603050405020304" pitchFamily="18" charset="0"/>
              </a:rPr>
              <a:t>Adaptive Trust-Based Collaboration:</a:t>
            </a:r>
            <a:r>
              <a:rPr lang="en-IN" sz="1600" dirty="0">
                <a:latin typeface="Times New Roman" panose="02020603050405020304" pitchFamily="18" charset="0"/>
                <a:cs typeface="Times New Roman" panose="02020603050405020304" pitchFamily="18" charset="0"/>
              </a:rPr>
              <a:t> Enables secure cross-domain collaboration through intelligent authorization and privacy-preserving credential sharing. </a:t>
            </a:r>
          </a:p>
          <a:p>
            <a:pPr marL="342900" lvl="0" indent="-342900" algn="just">
              <a:buFont typeface="+mj-lt"/>
              <a:buAutoNum type="arabicPeriod"/>
            </a:pPr>
            <a:r>
              <a:rPr lang="en-IN" sz="1600" b="1" dirty="0">
                <a:latin typeface="Times New Roman" panose="02020603050405020304" pitchFamily="18" charset="0"/>
                <a:cs typeface="Times New Roman" panose="02020603050405020304" pitchFamily="18" charset="0"/>
              </a:rPr>
              <a:t>Continuous Monitoring &amp; Audit Trail:</a:t>
            </a:r>
            <a:r>
              <a:rPr lang="en-IN" sz="1600" dirty="0">
                <a:latin typeface="Times New Roman" panose="02020603050405020304" pitchFamily="18" charset="0"/>
                <a:cs typeface="Times New Roman" panose="02020603050405020304" pitchFamily="18" charset="0"/>
              </a:rPr>
              <a:t> Tracks agent activities, trust updates, and security events to ensure transparency and accountability.</a:t>
            </a:r>
          </a:p>
        </p:txBody>
      </p:sp>
      <p:sp>
        <p:nvSpPr>
          <p:cNvPr id="5" name="TextBox 4">
            <a:extLst>
              <a:ext uri="{FF2B5EF4-FFF2-40B4-BE49-F238E27FC236}">
                <a16:creationId xmlns:a16="http://schemas.microsoft.com/office/drawing/2014/main" id="{12502CE6-9A42-6726-5227-E195AB7F06A1}"/>
              </a:ext>
            </a:extLst>
          </p:cNvPr>
          <p:cNvSpPr txBox="1"/>
          <p:nvPr/>
        </p:nvSpPr>
        <p:spPr>
          <a:xfrm>
            <a:off x="2209800" y="1295400"/>
            <a:ext cx="3844724" cy="984885"/>
          </a:xfrm>
          <a:prstGeom prst="rect">
            <a:avLst/>
          </a:prstGeom>
          <a:noFill/>
        </p:spPr>
        <p:txBody>
          <a:bodyPr wrap="square" rtlCol="0">
            <a:spAutoFit/>
          </a:bodyPr>
          <a:lstStyle/>
          <a:p>
            <a:r>
              <a:rPr lang="en-IN" sz="4000" b="1" dirty="0"/>
              <a:t>Key Features</a:t>
            </a:r>
          </a:p>
          <a:p>
            <a:endParaRPr lang="en-IN" dirty="0"/>
          </a:p>
        </p:txBody>
      </p:sp>
    </p:spTree>
    <p:extLst>
      <p:ext uri="{BB962C8B-B14F-4D97-AF65-F5344CB8AC3E}">
        <p14:creationId xmlns:p14="http://schemas.microsoft.com/office/powerpoint/2010/main" val="6297112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F925F8-9580-393F-C994-DE1F376C8049}"/>
              </a:ext>
            </a:extLst>
          </p:cNvPr>
          <p:cNvSpPr>
            <a:spLocks noGrp="1"/>
          </p:cNvSpPr>
          <p:nvPr>
            <p:ph type="sldNum" sz="quarter" idx="12"/>
          </p:nvPr>
        </p:nvSpPr>
        <p:spPr/>
        <p:txBody>
          <a:bodyPr/>
          <a:lstStyle/>
          <a:p>
            <a:fld id="{B6F15528-21DE-4FAA-801E-634DDDAF4B2B}" type="slidenum">
              <a:rPr lang="en-US" smtClean="0"/>
              <a:pPr/>
              <a:t>23</a:t>
            </a:fld>
            <a:endParaRPr lang="en-US"/>
          </a:p>
        </p:txBody>
      </p:sp>
      <p:sp>
        <p:nvSpPr>
          <p:cNvPr id="4" name="TextBox 3">
            <a:extLst>
              <a:ext uri="{FF2B5EF4-FFF2-40B4-BE49-F238E27FC236}">
                <a16:creationId xmlns:a16="http://schemas.microsoft.com/office/drawing/2014/main" id="{60EF30C3-8AAC-A26E-614A-FBAABF60836B}"/>
              </a:ext>
            </a:extLst>
          </p:cNvPr>
          <p:cNvSpPr txBox="1"/>
          <p:nvPr/>
        </p:nvSpPr>
        <p:spPr>
          <a:xfrm>
            <a:off x="805178" y="1308486"/>
            <a:ext cx="7840608" cy="646331"/>
          </a:xfrm>
          <a:prstGeom prst="rect">
            <a:avLst/>
          </a:prstGeom>
          <a:noFill/>
        </p:spPr>
        <p:txBody>
          <a:bodyPr wrap="none" rtlCol="0">
            <a:spAutoFit/>
          </a:bodyPr>
          <a:lstStyle/>
          <a:p>
            <a:pPr algn="ctr"/>
            <a:r>
              <a:rPr lang="en-IN" sz="3600" b="1" dirty="0">
                <a:latin typeface="Times New Roman" pitchFamily="18" charset="0"/>
                <a:cs typeface="Times New Roman" pitchFamily="18" charset="0"/>
              </a:rPr>
              <a:t>Software and Hardware </a:t>
            </a:r>
            <a:r>
              <a:rPr lang="en-US" sz="3600" b="1" dirty="0">
                <a:latin typeface="Times New Roman" pitchFamily="18" charset="0"/>
                <a:cs typeface="Times New Roman" pitchFamily="18" charset="0"/>
              </a:rPr>
              <a:t>Requirements</a:t>
            </a:r>
            <a:endParaRPr lang="en-IN" sz="3600" b="1" dirty="0">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9D27A15D-70C3-5A15-1325-B9F71076D62E}"/>
              </a:ext>
            </a:extLst>
          </p:cNvPr>
          <p:cNvSpPr txBox="1"/>
          <p:nvPr/>
        </p:nvSpPr>
        <p:spPr>
          <a:xfrm>
            <a:off x="609600" y="2057400"/>
            <a:ext cx="7391400" cy="3970318"/>
          </a:xfrm>
          <a:prstGeom prst="rect">
            <a:avLst/>
          </a:prstGeom>
          <a:noFill/>
        </p:spPr>
        <p:txBody>
          <a:bodyPr wrap="square">
            <a:spAutoFit/>
          </a:bodyPr>
          <a:lstStyle/>
          <a:p>
            <a:pPr algn="just">
              <a:buNone/>
            </a:pPr>
            <a:r>
              <a:rPr lang="en-IN" b="1" dirty="0">
                <a:latin typeface="Times New Roman" panose="02020603050405020304" pitchFamily="18" charset="0"/>
                <a:cs typeface="Times New Roman" panose="02020603050405020304" pitchFamily="18" charset="0"/>
              </a:rPr>
              <a:t>Hardware Requirements</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Processor:</a:t>
            </a:r>
            <a:r>
              <a:rPr lang="en-IN" dirty="0">
                <a:latin typeface="Times New Roman" panose="02020603050405020304" pitchFamily="18" charset="0"/>
                <a:cs typeface="Times New Roman" panose="02020603050405020304" pitchFamily="18" charset="0"/>
              </a:rPr>
              <a:t> Intel Core i5 (10th Gen or higher) / AMD </a:t>
            </a:r>
            <a:r>
              <a:rPr lang="en-IN" dirty="0" err="1">
                <a:latin typeface="Times New Roman" panose="02020603050405020304" pitchFamily="18" charset="0"/>
                <a:cs typeface="Times New Roman" panose="02020603050405020304" pitchFamily="18" charset="0"/>
              </a:rPr>
              <a:t>Ryzen</a:t>
            </a:r>
            <a:r>
              <a:rPr lang="en-IN" dirty="0">
                <a:latin typeface="Times New Roman" panose="02020603050405020304" pitchFamily="18" charset="0"/>
                <a:cs typeface="Times New Roman" panose="02020603050405020304" pitchFamily="18" charset="0"/>
              </a:rPr>
              <a:t> 5 or higher </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RAM:</a:t>
            </a:r>
            <a:r>
              <a:rPr lang="en-IN" dirty="0">
                <a:latin typeface="Times New Roman" panose="02020603050405020304" pitchFamily="18" charset="0"/>
                <a:cs typeface="Times New Roman" panose="02020603050405020304" pitchFamily="18" charset="0"/>
              </a:rPr>
              <a:t> Minimum 8 GB (16 GB Recommended) </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Storage:</a:t>
            </a:r>
            <a:r>
              <a:rPr lang="en-IN" dirty="0">
                <a:latin typeface="Times New Roman" panose="02020603050405020304" pitchFamily="18" charset="0"/>
                <a:cs typeface="Times New Roman" panose="02020603050405020304" pitchFamily="18" charset="0"/>
              </a:rPr>
              <a:t> 256 GB SSD or higher </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Graphics:</a:t>
            </a:r>
            <a:r>
              <a:rPr lang="en-IN" dirty="0">
                <a:latin typeface="Times New Roman" panose="02020603050405020304" pitchFamily="18" charset="0"/>
                <a:cs typeface="Times New Roman" panose="02020603050405020304" pitchFamily="18" charset="0"/>
              </a:rPr>
              <a:t> NVIDIA GTX 1650 / RTX 2050 or equivalent</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Internet:</a:t>
            </a:r>
            <a:r>
              <a:rPr lang="en-IN" dirty="0">
                <a:latin typeface="Times New Roman" panose="02020603050405020304" pitchFamily="18" charset="0"/>
                <a:cs typeface="Times New Roman" panose="02020603050405020304" pitchFamily="18" charset="0"/>
              </a:rPr>
              <a:t> Stable broadband connection </a:t>
            </a:r>
          </a:p>
          <a:p>
            <a:pPr algn="just">
              <a:buNone/>
            </a:pPr>
            <a:endParaRPr lang="en-IN" dirty="0">
              <a:latin typeface="Times New Roman" panose="02020603050405020304" pitchFamily="18" charset="0"/>
              <a:cs typeface="Times New Roman" panose="02020603050405020304" pitchFamily="18" charset="0"/>
            </a:endParaRPr>
          </a:p>
          <a:p>
            <a:pPr algn="just">
              <a:buNone/>
            </a:pPr>
            <a:r>
              <a:rPr lang="en-IN" b="1" dirty="0">
                <a:latin typeface="Times New Roman" panose="02020603050405020304" pitchFamily="18" charset="0"/>
                <a:cs typeface="Times New Roman" panose="02020603050405020304" pitchFamily="18" charset="0"/>
              </a:rPr>
              <a:t>Software Requirements</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Operating System:</a:t>
            </a:r>
            <a:r>
              <a:rPr lang="en-IN" dirty="0">
                <a:latin typeface="Times New Roman" panose="02020603050405020304" pitchFamily="18" charset="0"/>
                <a:cs typeface="Times New Roman" panose="02020603050405020304" pitchFamily="18" charset="0"/>
              </a:rPr>
              <a:t> Windows 10/11, Ubuntu 22.04 LTS, or macOS </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Programming Language:</a:t>
            </a:r>
            <a:r>
              <a:rPr lang="en-IN" dirty="0">
                <a:latin typeface="Times New Roman" panose="02020603050405020304" pitchFamily="18" charset="0"/>
                <a:cs typeface="Times New Roman" panose="02020603050405020304" pitchFamily="18" charset="0"/>
              </a:rPr>
              <a:t> Python 3.12+ </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Development Environment:</a:t>
            </a:r>
            <a:r>
              <a:rPr lang="en-IN" dirty="0">
                <a:latin typeface="Times New Roman" panose="02020603050405020304" pitchFamily="18" charset="0"/>
                <a:cs typeface="Times New Roman" panose="02020603050405020304" pitchFamily="18" charset="0"/>
              </a:rPr>
              <a:t> </a:t>
            </a:r>
            <a:r>
              <a:rPr lang="en-IN" dirty="0"/>
              <a:t>Visual Studio Code / PyCharm</a:t>
            </a:r>
          </a:p>
          <a:p>
            <a:pPr marL="342900" indent="-342900" algn="just">
              <a:buFont typeface="Arial" panose="020B0604020202020204" pitchFamily="34" charset="0"/>
              <a:buChar char="•"/>
            </a:pPr>
            <a:r>
              <a:rPr lang="en-IN" b="1" dirty="0"/>
              <a:t>Frontend Framework:</a:t>
            </a:r>
            <a:r>
              <a:rPr lang="en-IN" dirty="0"/>
              <a:t> React.js, Tailwind CSS </a:t>
            </a:r>
          </a:p>
          <a:p>
            <a:pPr marL="342900" indent="-342900" algn="just">
              <a:buFont typeface="Arial" panose="020B0604020202020204" pitchFamily="34" charset="0"/>
              <a:buChar char="•"/>
            </a:pPr>
            <a:r>
              <a:rPr lang="en-IN" b="1" dirty="0"/>
              <a:t>Backend Framework:</a:t>
            </a:r>
            <a:r>
              <a:rPr lang="en-IN" dirty="0"/>
              <a:t> </a:t>
            </a:r>
            <a:r>
              <a:rPr lang="en-IN" dirty="0" err="1"/>
              <a:t>FastAPI</a:t>
            </a:r>
            <a:r>
              <a:rPr lang="en-IN" dirty="0"/>
              <a:t> / Flask </a:t>
            </a:r>
          </a:p>
          <a:p>
            <a:pPr marL="342900" indent="-342900" algn="just">
              <a:buFont typeface="Arial" panose="020B0604020202020204" pitchFamily="34" charset="0"/>
              <a:buChar char="•"/>
            </a:pPr>
            <a:r>
              <a:rPr lang="en-IN" b="1" dirty="0"/>
              <a:t>Database:</a:t>
            </a:r>
            <a:r>
              <a:rPr lang="en-IN" dirty="0"/>
              <a:t> MongoDB / SQLite</a:t>
            </a:r>
            <a:endParaRPr lang="en-IN"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Blockchain Framework:</a:t>
            </a:r>
            <a:r>
              <a:rPr lang="en-IN" dirty="0">
                <a:latin typeface="Times New Roman" panose="02020603050405020304" pitchFamily="18" charset="0"/>
                <a:cs typeface="Times New Roman" panose="02020603050405020304" pitchFamily="18" charset="0"/>
              </a:rPr>
              <a:t> Hyperledger Fabric or Ethereum (Ganache for testing) </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Libraries &amp; Frameworks: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FastAPI</a:t>
            </a:r>
            <a:r>
              <a:rPr lang="en-IN" dirty="0">
                <a:latin typeface="Times New Roman" panose="02020603050405020304" pitchFamily="18" charset="0"/>
                <a:cs typeface="Times New Roman" panose="02020603050405020304" pitchFamily="18" charset="0"/>
              </a:rPr>
              <a:t>/Flask, Web3.py, NumPy, Pandas, Scikit-learn </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Version Control:</a:t>
            </a:r>
            <a:r>
              <a:rPr lang="en-IN" dirty="0">
                <a:latin typeface="Times New Roman" panose="02020603050405020304" pitchFamily="18" charset="0"/>
                <a:cs typeface="Times New Roman" panose="02020603050405020304" pitchFamily="18" charset="0"/>
              </a:rPr>
              <a:t> Git &amp; GitHub </a:t>
            </a:r>
          </a:p>
          <a:p>
            <a:pPr marL="342900" lvl="0" indent="-34290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API Testing:</a:t>
            </a:r>
            <a:r>
              <a:rPr lang="en-IN" dirty="0">
                <a:latin typeface="Times New Roman" panose="02020603050405020304" pitchFamily="18" charset="0"/>
                <a:cs typeface="Times New Roman" panose="02020603050405020304" pitchFamily="18" charset="0"/>
              </a:rPr>
              <a:t> Postman </a:t>
            </a:r>
          </a:p>
        </p:txBody>
      </p:sp>
    </p:spTree>
    <p:extLst>
      <p:ext uri="{BB962C8B-B14F-4D97-AF65-F5344CB8AC3E}">
        <p14:creationId xmlns:p14="http://schemas.microsoft.com/office/powerpoint/2010/main" val="35402325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F753BA-DD16-4FD9-9F93-ADF283A8631D}"/>
              </a:ext>
            </a:extLst>
          </p:cNvPr>
          <p:cNvSpPr>
            <a:spLocks noGrp="1"/>
          </p:cNvSpPr>
          <p:nvPr>
            <p:ph type="sldNum" sz="quarter" idx="12"/>
          </p:nvPr>
        </p:nvSpPr>
        <p:spPr/>
        <p:txBody>
          <a:bodyPr/>
          <a:lstStyle/>
          <a:p>
            <a:fld id="{B6F15528-21DE-4FAA-801E-634DDDAF4B2B}" type="slidenum">
              <a:rPr lang="en-US" smtClean="0"/>
              <a:pPr/>
              <a:t>24</a:t>
            </a:fld>
            <a:endParaRPr lang="en-US"/>
          </a:p>
        </p:txBody>
      </p:sp>
      <p:sp>
        <p:nvSpPr>
          <p:cNvPr id="3" name="TextBox 2">
            <a:extLst>
              <a:ext uri="{FF2B5EF4-FFF2-40B4-BE49-F238E27FC236}">
                <a16:creationId xmlns:a16="http://schemas.microsoft.com/office/drawing/2014/main" id="{F5410EFC-64B3-FBB8-BE89-3F2B44115311}"/>
              </a:ext>
            </a:extLst>
          </p:cNvPr>
          <p:cNvSpPr txBox="1"/>
          <p:nvPr/>
        </p:nvSpPr>
        <p:spPr>
          <a:xfrm>
            <a:off x="381000" y="739914"/>
            <a:ext cx="9144000" cy="707886"/>
          </a:xfrm>
          <a:prstGeom prst="rect">
            <a:avLst/>
          </a:prstGeom>
          <a:noFill/>
        </p:spPr>
        <p:txBody>
          <a:bodyPr wrap="square" rtlCol="0">
            <a:spAutoFit/>
          </a:bodyPr>
          <a:lstStyle/>
          <a:p>
            <a:pPr algn="ctr"/>
            <a:r>
              <a:rPr lang="en-IN" sz="4000" b="1" dirty="0">
                <a:latin typeface="Times New Roman" pitchFamily="18" charset="0"/>
                <a:cs typeface="Times New Roman" pitchFamily="18" charset="0"/>
              </a:rPr>
              <a:t>Gantt Chart</a:t>
            </a:r>
          </a:p>
        </p:txBody>
      </p:sp>
      <p:pic>
        <p:nvPicPr>
          <p:cNvPr id="6" name="Picture 5">
            <a:extLst>
              <a:ext uri="{FF2B5EF4-FFF2-40B4-BE49-F238E27FC236}">
                <a16:creationId xmlns:a16="http://schemas.microsoft.com/office/drawing/2014/main" id="{84A9032A-5F12-6A32-62E2-4B87BCB79201}"/>
              </a:ext>
            </a:extLst>
          </p:cNvPr>
          <p:cNvPicPr>
            <a:picLocks noChangeAspect="1"/>
          </p:cNvPicPr>
          <p:nvPr/>
        </p:nvPicPr>
        <p:blipFill>
          <a:blip r:embed="rId3"/>
          <a:stretch>
            <a:fillRect/>
          </a:stretch>
        </p:blipFill>
        <p:spPr>
          <a:xfrm>
            <a:off x="114300" y="1447800"/>
            <a:ext cx="8915400" cy="5105400"/>
          </a:xfrm>
          <a:prstGeom prst="rect">
            <a:avLst/>
          </a:prstGeom>
        </p:spPr>
      </p:pic>
    </p:spTree>
    <p:extLst>
      <p:ext uri="{BB962C8B-B14F-4D97-AF65-F5344CB8AC3E}">
        <p14:creationId xmlns:p14="http://schemas.microsoft.com/office/powerpoint/2010/main" val="397479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573F37-0C5B-9177-8935-CF5CD82924DA}"/>
              </a:ext>
            </a:extLst>
          </p:cNvPr>
          <p:cNvSpPr>
            <a:spLocks noGrp="1"/>
          </p:cNvSpPr>
          <p:nvPr>
            <p:ph type="sldNum" sz="quarter" idx="12"/>
          </p:nvPr>
        </p:nvSpPr>
        <p:spPr/>
        <p:txBody>
          <a:bodyPr/>
          <a:lstStyle/>
          <a:p>
            <a:fld id="{B6F15528-21DE-4FAA-801E-634DDDAF4B2B}" type="slidenum">
              <a:rPr lang="en-US" smtClean="0"/>
              <a:pPr/>
              <a:t>25</a:t>
            </a:fld>
            <a:endParaRPr lang="en-US"/>
          </a:p>
        </p:txBody>
      </p:sp>
      <p:sp>
        <p:nvSpPr>
          <p:cNvPr id="3" name="Rounded Rectangle 2"/>
          <p:cNvSpPr/>
          <p:nvPr/>
        </p:nvSpPr>
        <p:spPr>
          <a:xfrm>
            <a:off x="914400" y="1645920"/>
            <a:ext cx="7315200" cy="3474720"/>
          </a:xfrm>
          <a:prstGeom prst="roundRect">
            <a:avLst/>
          </a:prstGeom>
          <a:solidFill>
            <a:srgbClr val="F8FAFC"/>
          </a:solidFill>
          <a:ln w="25400">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tIns="274320" lIns="365760" rIns="365760"/>
          <a:lstStyle/>
          <a:p>
            <a:pPr algn="ctr">
              <a:spcAft>
                <a:spcPts val="800"/>
              </a:spcAft>
              <a:defRPr sz="1300" b="1">
                <a:solidFill>
                  <a:srgbClr val="3B82F6"/>
                </a:solidFill>
                <a:latin typeface="Times New Roman"/>
              </a:defRPr>
            </a:pPr>
            <a:r>
              <a:t>SECTION V: TECHNICAL VALIDATION &amp; PROJECT OUTCOMES</a:t>
            </a:r>
          </a:p>
          <a:p>
            <a:pPr algn="ctr">
              <a:spcAft>
                <a:spcPts val="1600"/>
              </a:spcAft>
              <a:defRPr sz="2000" b="1">
                <a:solidFill>
                  <a:srgbClr val="1F497D"/>
                </a:solidFill>
                <a:latin typeface="Times New Roman"/>
              </a:defRPr>
            </a:pPr>
            <a:r>
              <a:t>System Implementation, Empirical Results &amp; Capstone Conclusion</a:t>
            </a:r>
          </a:p>
          <a:p>
            <a:pPr algn="l">
              <a:spcAft>
                <a:spcPts val="600"/>
              </a:spcAft>
              <a:defRPr sz="1050">
                <a:solidFill>
                  <a:srgbClr val="1E293B"/>
                </a:solidFill>
                <a:latin typeface="Times New Roman"/>
              </a:defRPr>
            </a:pPr>
            <a:r>
              <a:t>• 1. Implementation &amp; Technical Validation: W3C DID, Ed25519, Trust Engine, 80/80 Tests, SQLite WAL VDR.</a:t>
            </a:r>
          </a:p>
          <a:p>
            <a:pPr algn="l">
              <a:spcAft>
                <a:spcPts val="600"/>
              </a:spcAft>
              <a:defRPr sz="1050">
                <a:solidFill>
                  <a:srgbClr val="1E293B"/>
                </a:solidFill>
                <a:latin typeface="Times New Roman"/>
              </a:defRPr>
            </a:pPr>
            <a:r>
              <a:t>• 2. Results Analysis &amp; System Evaluation: Dynamic Trust Formula, Adaptive Matrix, Discovery vs. Matching.</a:t>
            </a:r>
          </a:p>
          <a:p>
            <a:pPr algn="l">
              <a:spcAft>
                <a:spcPts val="600"/>
              </a:spcAft>
              <a:defRPr sz="1050">
                <a:solidFill>
                  <a:srgbClr val="1E293B"/>
                </a:solidFill>
                <a:latin typeface="Times New Roman"/>
              </a:defRPr>
            </a:pPr>
            <a:r>
              <a:t>• 3. Project Outcomes &amp; Conclusion: Zero-Trust Deliverables, Research Contributions, Limitations &amp; Roadmap.</a:t>
            </a:r>
          </a:p>
        </p:txBody>
      </p:sp>
    </p:spTree>
    <p:extLst>
      <p:ext uri="{BB962C8B-B14F-4D97-AF65-F5344CB8AC3E}">
        <p14:creationId xmlns:p14="http://schemas.microsoft.com/office/powerpoint/2010/main" val="41350549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A0FF13-D040-D2A3-3A43-4DC3A64F90BC}"/>
              </a:ext>
            </a:extLst>
          </p:cNvPr>
          <p:cNvSpPr>
            <a:spLocks noGrp="1"/>
          </p:cNvSpPr>
          <p:nvPr>
            <p:ph type="sldNum" sz="quarter" idx="12"/>
          </p:nvPr>
        </p:nvSpPr>
        <p:spPr/>
        <p:txBody>
          <a:bodyPr/>
          <a:lstStyle/>
          <a:p>
            <a:pPr algn="r">
              <a:defRPr sz="1200">
                <a:solidFill>
                  <a:srgbClr val="64748B"/>
                </a:solidFill>
                <a:latin typeface="Times New Roman"/>
              </a:defRPr>
            </a:pPr>
            <a:r>
              <a:t>29</a:t>
            </a:r>
          </a:p>
        </p:txBody>
      </p:sp>
      <p:sp>
        <p:nvSpPr>
          <p:cNvPr id="4" name="TextBox 3">
            <a:extLst>
              <a:ext uri="{FF2B5EF4-FFF2-40B4-BE49-F238E27FC236}">
                <a16:creationId xmlns:a16="http://schemas.microsoft.com/office/drawing/2014/main" id="{020B35A6-6951-E700-7148-AD2F5D4E893B}"/>
              </a:ext>
            </a:extLst>
          </p:cNvPr>
          <p:cNvSpPr txBox="1"/>
          <p:nvPr/>
        </p:nvSpPr>
        <p:spPr>
          <a:xfrm>
            <a:off x="2667000" y="1219200"/>
            <a:ext cx="2568652" cy="707886"/>
          </a:xfrm>
          <a:prstGeom prst="rect">
            <a:avLst/>
          </a:prstGeom>
          <a:noFill/>
        </p:spPr>
        <p:txBody>
          <a:bodyPr wrap="none" rtlCol="0">
            <a:spAutoFit/>
          </a:bodyPr>
          <a:lstStyle/>
          <a:p>
            <a:pPr algn="ctr"/>
            <a:r>
              <a:rPr lang="en-US" sz="4000" b="1" dirty="0">
                <a:latin typeface="Times New Roman" pitchFamily="18" charset="0"/>
                <a:cs typeface="Times New Roman" pitchFamily="18" charset="0"/>
              </a:rPr>
              <a:t>References</a:t>
            </a:r>
            <a:endParaRPr lang="en-IN" sz="4000" b="1" dirty="0">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168FBB36-5DDA-7520-4867-1B2A3432764E}"/>
              </a:ext>
            </a:extLst>
          </p:cNvPr>
          <p:cNvSpPr txBox="1"/>
          <p:nvPr/>
        </p:nvSpPr>
        <p:spPr>
          <a:xfrm>
            <a:off x="533400" y="1956583"/>
            <a:ext cx="8077200" cy="3977997"/>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[1] S. Rodriguez Garzon, A. </a:t>
            </a:r>
            <a:r>
              <a:rPr lang="en-IN" dirty="0" err="1">
                <a:latin typeface="Times New Roman" panose="02020603050405020304" pitchFamily="18" charset="0"/>
                <a:cs typeface="Times New Roman" panose="02020603050405020304" pitchFamily="18" charset="0"/>
              </a:rPr>
              <a:t>Vaziry</a:t>
            </a:r>
            <a:r>
              <a:rPr lang="en-IN" dirty="0">
                <a:latin typeface="Times New Roman" panose="02020603050405020304" pitchFamily="18" charset="0"/>
                <a:cs typeface="Times New Roman" panose="02020603050405020304" pitchFamily="18" charset="0"/>
              </a:rPr>
              <a:t>, E. M. Kuzu, D. E. Gehrmann, B. </a:t>
            </a:r>
            <a:r>
              <a:rPr lang="en-IN" dirty="0" err="1">
                <a:latin typeface="Times New Roman" panose="02020603050405020304" pitchFamily="18" charset="0"/>
                <a:cs typeface="Times New Roman" panose="02020603050405020304" pitchFamily="18" charset="0"/>
              </a:rPr>
              <a:t>Varkan</a:t>
            </a:r>
            <a:r>
              <a:rPr lang="en-IN" dirty="0">
                <a:latin typeface="Times New Roman" panose="02020603050405020304" pitchFamily="18" charset="0"/>
                <a:cs typeface="Times New Roman" panose="02020603050405020304" pitchFamily="18" charset="0"/>
              </a:rPr>
              <a:t>, A. Gaballa, and A. Küpper, "AI Agents with Decentralized Identifiers and Verifiable Credentials," </a:t>
            </a:r>
            <a:r>
              <a:rPr lang="en-IN" i="1" dirty="0" err="1">
                <a:latin typeface="Times New Roman" panose="02020603050405020304" pitchFamily="18" charset="0"/>
                <a:cs typeface="Times New Roman" panose="02020603050405020304" pitchFamily="18" charset="0"/>
              </a:rPr>
              <a:t>arXiv</a:t>
            </a:r>
            <a:r>
              <a:rPr lang="en-IN" i="1" dirty="0">
                <a:latin typeface="Times New Roman" panose="02020603050405020304" pitchFamily="18" charset="0"/>
                <a:cs typeface="Times New Roman" panose="02020603050405020304" pitchFamily="18" charset="0"/>
              </a:rPr>
              <a:t> preprint</a:t>
            </a:r>
            <a:r>
              <a:rPr lang="en-IN" dirty="0">
                <a:latin typeface="Times New Roman" panose="02020603050405020304" pitchFamily="18" charset="0"/>
                <a:cs typeface="Times New Roman" panose="02020603050405020304" pitchFamily="18" charset="0"/>
              </a:rPr>
              <a:t>, 2025.</a:t>
            </a:r>
          </a:p>
          <a:p>
            <a:pPr algn="just"/>
            <a:r>
              <a:rPr lang="en-IN" dirty="0">
                <a:latin typeface="Times New Roman" panose="02020603050405020304" pitchFamily="18" charset="0"/>
                <a:cs typeface="Times New Roman" panose="02020603050405020304" pitchFamily="18" charset="0"/>
              </a:rPr>
              <a:t>[2] R. Ranjan, S. Gupta, and S. N. Singh, "LOKA Protocol: A Decentralized Framework for Trustworthy and Ethical AI Agent Ecosystems," </a:t>
            </a:r>
            <a:r>
              <a:rPr lang="en-IN" i="1" dirty="0" err="1">
                <a:latin typeface="Times New Roman" panose="02020603050405020304" pitchFamily="18" charset="0"/>
                <a:cs typeface="Times New Roman" panose="02020603050405020304" pitchFamily="18" charset="0"/>
              </a:rPr>
              <a:t>arXiv</a:t>
            </a:r>
            <a:r>
              <a:rPr lang="en-IN" i="1" dirty="0">
                <a:latin typeface="Times New Roman" panose="02020603050405020304" pitchFamily="18" charset="0"/>
                <a:cs typeface="Times New Roman" panose="02020603050405020304" pitchFamily="18" charset="0"/>
              </a:rPr>
              <a:t> preprint</a:t>
            </a:r>
            <a:r>
              <a:rPr lang="en-IN" dirty="0">
                <a:latin typeface="Times New Roman" panose="02020603050405020304" pitchFamily="18" charset="0"/>
                <a:cs typeface="Times New Roman" panose="02020603050405020304" pitchFamily="18" charset="0"/>
              </a:rPr>
              <a:t>, 2025.</a:t>
            </a:r>
          </a:p>
          <a:p>
            <a:pPr algn="just"/>
            <a:r>
              <a:rPr lang="en-IN" dirty="0">
                <a:latin typeface="Times New Roman" panose="02020603050405020304" pitchFamily="18" charset="0"/>
                <a:cs typeface="Times New Roman" panose="02020603050405020304" pitchFamily="18" charset="0"/>
              </a:rPr>
              <a:t>[3] World Wide Web Consortium (W3C), "Verifiable Credentials Data Model Version 2.0," Recommendation, 2024.</a:t>
            </a:r>
          </a:p>
          <a:p>
            <a:pPr algn="just"/>
            <a:r>
              <a:rPr lang="en-IN" dirty="0">
                <a:latin typeface="Times New Roman" panose="02020603050405020304" pitchFamily="18" charset="0"/>
                <a:cs typeface="Times New Roman" panose="02020603050405020304" pitchFamily="18" charset="0"/>
              </a:rPr>
              <a:t>[4] K. J. </a:t>
            </a:r>
            <a:r>
              <a:rPr lang="en-IN" dirty="0" err="1">
                <a:latin typeface="Times New Roman" panose="02020603050405020304" pitchFamily="18" charset="0"/>
                <a:cs typeface="Times New Roman" panose="02020603050405020304" pitchFamily="18" charset="0"/>
              </a:rPr>
              <a:t>Eer</a:t>
            </a:r>
            <a:r>
              <a:rPr lang="en-IN" dirty="0">
                <a:latin typeface="Times New Roman" panose="02020603050405020304" pitchFamily="18" charset="0"/>
                <a:cs typeface="Times New Roman" panose="02020603050405020304" pitchFamily="18" charset="0"/>
              </a:rPr>
              <a:t>, J. Diaz, and M. </a:t>
            </a:r>
            <a:r>
              <a:rPr lang="en-IN" dirty="0" err="1">
                <a:latin typeface="Times New Roman" panose="02020603050405020304" pitchFamily="18" charset="0"/>
                <a:cs typeface="Times New Roman" panose="02020603050405020304" pitchFamily="18" charset="0"/>
              </a:rPr>
              <a:t>Kohlweiss</a:t>
            </a:r>
            <a:r>
              <a:rPr lang="en-IN" dirty="0">
                <a:latin typeface="Times New Roman" panose="02020603050405020304" pitchFamily="18" charset="0"/>
                <a:cs typeface="Times New Roman" panose="02020603050405020304" pitchFamily="18" charset="0"/>
              </a:rPr>
              <a:t>, "Bottom-up Trust Registry in Self-Sovereign Identity," </a:t>
            </a:r>
            <a:r>
              <a:rPr lang="en-IN" i="1" dirty="0" err="1">
                <a:latin typeface="Times New Roman" panose="02020603050405020304" pitchFamily="18" charset="0"/>
                <a:cs typeface="Times New Roman" panose="02020603050405020304" pitchFamily="18" charset="0"/>
              </a:rPr>
              <a:t>arXiv</a:t>
            </a:r>
            <a:r>
              <a:rPr lang="en-IN" i="1" dirty="0">
                <a:latin typeface="Times New Roman" panose="02020603050405020304" pitchFamily="18" charset="0"/>
                <a:cs typeface="Times New Roman" panose="02020603050405020304" pitchFamily="18" charset="0"/>
              </a:rPr>
              <a:t> preprint</a:t>
            </a:r>
            <a:r>
              <a:rPr lang="en-IN" dirty="0">
                <a:latin typeface="Times New Roman" panose="02020603050405020304" pitchFamily="18" charset="0"/>
                <a:cs typeface="Times New Roman" panose="02020603050405020304" pitchFamily="18" charset="0"/>
              </a:rPr>
              <a:t>, 2022.</a:t>
            </a:r>
          </a:p>
          <a:p>
            <a:pPr algn="just"/>
            <a:r>
              <a:rPr lang="en-IN" dirty="0">
                <a:latin typeface="Times New Roman" panose="02020603050405020304" pitchFamily="18" charset="0"/>
                <a:cs typeface="Times New Roman" panose="02020603050405020304" pitchFamily="18" charset="0"/>
              </a:rPr>
              <a:t>[5] C. Allen, "The Path to Self-Sovereign Identity," 2016.</a:t>
            </a:r>
          </a:p>
          <a:p>
            <a:pPr algn="just"/>
            <a:r>
              <a:rPr lang="en-IN" dirty="0">
                <a:latin typeface="Times New Roman" panose="02020603050405020304" pitchFamily="18" charset="0"/>
                <a:cs typeface="Times New Roman" panose="02020603050405020304" pitchFamily="18" charset="0"/>
              </a:rPr>
              <a:t>[6] World Wide Web Consortium (W3C), "Decentralized Identifiers (DID) Version 1.0," Recommendation, 2022.</a:t>
            </a:r>
          </a:p>
          <a:p>
            <a:pPr algn="just"/>
            <a:r>
              <a:rPr lang="en-IN" dirty="0">
                <a:latin typeface="Times New Roman" panose="02020603050405020304" pitchFamily="18" charset="0"/>
                <a:cs typeface="Times New Roman" panose="02020603050405020304" pitchFamily="18" charset="0"/>
              </a:rPr>
              <a:t>[7] J. Kim, Y. Lee, and D. Choi, "Key-Audit Chain (KAC): A Resilient and Reliable Key Management Framework for DID-Based Decentralized Environments," </a:t>
            </a:r>
            <a:r>
              <a:rPr lang="en-IN" i="1" dirty="0">
                <a:latin typeface="Times New Roman" panose="02020603050405020304" pitchFamily="18" charset="0"/>
                <a:cs typeface="Times New Roman" panose="02020603050405020304" pitchFamily="18" charset="0"/>
              </a:rPr>
              <a:t>IEEE Access</a:t>
            </a:r>
            <a:r>
              <a:rPr lang="en-IN" dirty="0">
                <a:latin typeface="Times New Roman" panose="02020603050405020304" pitchFamily="18" charset="0"/>
                <a:cs typeface="Times New Roman" panose="02020603050405020304" pitchFamily="18" charset="0"/>
              </a:rPr>
              <a:t>, 2025.</a:t>
            </a:r>
          </a:p>
          <a:p>
            <a:pPr algn="just"/>
            <a:r>
              <a:rPr lang="en-IN" dirty="0">
                <a:latin typeface="Times New Roman" panose="02020603050405020304" pitchFamily="18" charset="0"/>
                <a:cs typeface="Times New Roman" panose="02020603050405020304" pitchFamily="18" charset="0"/>
              </a:rPr>
              <a:t>[8] R. Mukta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"VCTP: A Verifiable Credential-based Trust Propagation Protocol for Personal Issuers in Self-Sovereign Identity Platforms," </a:t>
            </a:r>
            <a:r>
              <a:rPr lang="en-IN" i="1" dirty="0" err="1">
                <a:latin typeface="Times New Roman" panose="02020603050405020304" pitchFamily="18" charset="0"/>
                <a:cs typeface="Times New Roman" panose="02020603050405020304" pitchFamily="18" charset="0"/>
              </a:rPr>
              <a:t>arXiv</a:t>
            </a:r>
            <a:r>
              <a:rPr lang="en-IN" i="1" dirty="0">
                <a:latin typeface="Times New Roman" panose="02020603050405020304" pitchFamily="18" charset="0"/>
                <a:cs typeface="Times New Roman" panose="02020603050405020304" pitchFamily="18" charset="0"/>
              </a:rPr>
              <a:t> preprint</a:t>
            </a:r>
            <a:r>
              <a:rPr lang="en-IN" dirty="0">
                <a:latin typeface="Times New Roman" panose="02020603050405020304" pitchFamily="18" charset="0"/>
                <a:cs typeface="Times New Roman" panose="02020603050405020304" pitchFamily="18" charset="0"/>
              </a:rPr>
              <a:t>, 2023.</a:t>
            </a:r>
          </a:p>
          <a:p>
            <a:pPr algn="just"/>
            <a:r>
              <a:rPr lang="en-IN" dirty="0">
                <a:latin typeface="Times New Roman" panose="02020603050405020304" pitchFamily="18" charset="0"/>
                <a:cs typeface="Times New Roman" panose="02020603050405020304" pitchFamily="18" charset="0"/>
              </a:rPr>
              <a:t>[9] Y. Lee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"Transition of Self-Sovereign Identity to Post-Quantum Cryptography," </a:t>
            </a:r>
            <a:r>
              <a:rPr lang="en-IN" i="1" dirty="0">
                <a:latin typeface="Times New Roman" panose="02020603050405020304" pitchFamily="18" charset="0"/>
                <a:cs typeface="Times New Roman" panose="02020603050405020304" pitchFamily="18" charset="0"/>
              </a:rPr>
              <a:t>IEEE Quantum Week</a:t>
            </a:r>
            <a:r>
              <a:rPr lang="en-IN" dirty="0">
                <a:latin typeface="Times New Roman" panose="02020603050405020304" pitchFamily="18" charset="0"/>
                <a:cs typeface="Times New Roman" panose="02020603050405020304" pitchFamily="18" charset="0"/>
              </a:rPr>
              <a:t>, 2025.</a:t>
            </a:r>
          </a:p>
          <a:p>
            <a:pPr algn="just"/>
            <a:r>
              <a:rPr lang="en-IN" dirty="0">
                <a:latin typeface="Times New Roman" panose="02020603050405020304" pitchFamily="18" charset="0"/>
                <a:cs typeface="Times New Roman" panose="02020603050405020304" pitchFamily="18" charset="0"/>
              </a:rPr>
              <a:t>[10] W. Kim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"Threat Analysis for Self-Sovereign Identity Systems," 2024.</a:t>
            </a:r>
          </a:p>
        </p:txBody>
      </p:sp>
    </p:spTree>
    <p:extLst>
      <p:ext uri="{BB962C8B-B14F-4D97-AF65-F5344CB8AC3E}">
        <p14:creationId xmlns:p14="http://schemas.microsoft.com/office/powerpoint/2010/main" val="7433963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2D9B8-B8CF-7C17-0D88-051E2D9802D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77C7AC5-03C5-474B-4037-E32F5C000C50}"/>
              </a:ext>
            </a:extLst>
          </p:cNvPr>
          <p:cNvSpPr>
            <a:spLocks noGrp="1"/>
          </p:cNvSpPr>
          <p:nvPr>
            <p:ph type="sldNum" sz="quarter" idx="12"/>
          </p:nvPr>
        </p:nvSpPr>
        <p:spPr/>
        <p:txBody>
          <a:bodyPr/>
          <a:lstStyle/>
          <a:p>
            <a:pPr algn="r">
              <a:defRPr sz="1200">
                <a:solidFill>
                  <a:srgbClr val="64748B"/>
                </a:solidFill>
                <a:latin typeface="Times New Roman"/>
              </a:defRPr>
            </a:pPr>
            <a:r>
              <a:t>30</a:t>
            </a:r>
          </a:p>
        </p:txBody>
      </p:sp>
      <p:sp>
        <p:nvSpPr>
          <p:cNvPr id="4" name="TextBox 3">
            <a:extLst>
              <a:ext uri="{FF2B5EF4-FFF2-40B4-BE49-F238E27FC236}">
                <a16:creationId xmlns:a16="http://schemas.microsoft.com/office/drawing/2014/main" id="{9DFBB310-73FD-9224-2240-EA4B4A1E1AC3}"/>
              </a:ext>
            </a:extLst>
          </p:cNvPr>
          <p:cNvSpPr txBox="1"/>
          <p:nvPr/>
        </p:nvSpPr>
        <p:spPr>
          <a:xfrm>
            <a:off x="2667000" y="1219200"/>
            <a:ext cx="2568652" cy="707886"/>
          </a:xfrm>
          <a:prstGeom prst="rect">
            <a:avLst/>
          </a:prstGeom>
          <a:noFill/>
        </p:spPr>
        <p:txBody>
          <a:bodyPr wrap="none" rtlCol="0">
            <a:spAutoFit/>
          </a:bodyPr>
          <a:lstStyle/>
          <a:p>
            <a:pPr algn="ctr"/>
            <a:r>
              <a:rPr lang="en-US" sz="4000" b="1" dirty="0">
                <a:latin typeface="Times New Roman" pitchFamily="18" charset="0"/>
                <a:cs typeface="Times New Roman" pitchFamily="18" charset="0"/>
              </a:rPr>
              <a:t>References</a:t>
            </a:r>
            <a:endParaRPr lang="en-IN" sz="4000" b="1" dirty="0">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C1CB57E2-989F-643D-E85B-F37BC77C59E7}"/>
              </a:ext>
            </a:extLst>
          </p:cNvPr>
          <p:cNvSpPr txBox="1"/>
          <p:nvPr/>
        </p:nvSpPr>
        <p:spPr>
          <a:xfrm>
            <a:off x="533400" y="1956583"/>
            <a:ext cx="8077200" cy="3977997"/>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[11] H. Huang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"A Novel Zero-Trust Identity Framework for Agentic AI: Decentralized Authentication and Fine-Grained Access Control," </a:t>
            </a:r>
            <a:r>
              <a:rPr lang="en-IN" i="1" dirty="0">
                <a:latin typeface="Times New Roman" panose="02020603050405020304" pitchFamily="18" charset="0"/>
                <a:cs typeface="Times New Roman" panose="02020603050405020304" pitchFamily="18" charset="0"/>
              </a:rPr>
              <a:t>arXiv preprint</a:t>
            </a:r>
            <a:r>
              <a:rPr lang="en-IN" dirty="0">
                <a:latin typeface="Times New Roman" panose="02020603050405020304" pitchFamily="18" charset="0"/>
                <a:cs typeface="Times New Roman" panose="02020603050405020304" pitchFamily="18" charset="0"/>
              </a:rPr>
              <a:t>, 2025.</a:t>
            </a:r>
          </a:p>
          <a:p>
            <a:pPr algn="just"/>
            <a:r>
              <a:rPr lang="en-IN" dirty="0">
                <a:latin typeface="Times New Roman" panose="02020603050405020304" pitchFamily="18" charset="0"/>
                <a:cs typeface="Times New Roman" panose="02020603050405020304" pitchFamily="18" charset="0"/>
              </a:rPr>
              <a:t>[12] R. Raza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TRiSM</a:t>
            </a:r>
            <a:r>
              <a:rPr lang="en-IN" dirty="0">
                <a:latin typeface="Times New Roman" panose="02020603050405020304" pitchFamily="18" charset="0"/>
                <a:cs typeface="Times New Roman" panose="02020603050405020304" pitchFamily="18" charset="0"/>
              </a:rPr>
              <a:t> for Agentic AI: A Review of Trust, Risk, and Security Management in LLM-based Agentic Multi-Agent Systems," </a:t>
            </a:r>
            <a:r>
              <a:rPr lang="en-IN" i="1" dirty="0">
                <a:latin typeface="Times New Roman" panose="02020603050405020304" pitchFamily="18" charset="0"/>
                <a:cs typeface="Times New Roman" panose="02020603050405020304" pitchFamily="18" charset="0"/>
              </a:rPr>
              <a:t>arXiv preprint</a:t>
            </a:r>
            <a:r>
              <a:rPr lang="en-IN" dirty="0">
                <a:latin typeface="Times New Roman" panose="02020603050405020304" pitchFamily="18" charset="0"/>
                <a:cs typeface="Times New Roman" panose="02020603050405020304" pitchFamily="18" charset="0"/>
              </a:rPr>
              <a:t>, 2025.</a:t>
            </a:r>
          </a:p>
          <a:p>
            <a:pPr algn="just"/>
            <a:r>
              <a:rPr lang="en-IN" dirty="0">
                <a:latin typeface="Times New Roman" panose="02020603050405020304" pitchFamily="18" charset="0"/>
                <a:cs typeface="Times New Roman" panose="02020603050405020304" pitchFamily="18" charset="0"/>
              </a:rPr>
              <a:t>[13] D. Kong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"A Survey of LLM-Driven AI Agent Communication: Protocols, Security Risks, and </a:t>
            </a:r>
            <a:r>
              <a:rPr lang="en-IN" dirty="0" err="1">
                <a:latin typeface="Times New Roman" panose="02020603050405020304" pitchFamily="18" charset="0"/>
                <a:cs typeface="Times New Roman" panose="02020603050405020304" pitchFamily="18" charset="0"/>
              </a:rPr>
              <a:t>Defense</a:t>
            </a:r>
            <a:r>
              <a:rPr lang="en-IN" dirty="0">
                <a:latin typeface="Times New Roman" panose="02020603050405020304" pitchFamily="18" charset="0"/>
                <a:cs typeface="Times New Roman" panose="02020603050405020304" pitchFamily="18" charset="0"/>
              </a:rPr>
              <a:t> Countermeasures," </a:t>
            </a:r>
            <a:r>
              <a:rPr lang="en-IN" i="1" dirty="0">
                <a:latin typeface="Times New Roman" panose="02020603050405020304" pitchFamily="18" charset="0"/>
                <a:cs typeface="Times New Roman" panose="02020603050405020304" pitchFamily="18" charset="0"/>
              </a:rPr>
              <a:t>arXiv preprint</a:t>
            </a:r>
            <a:r>
              <a:rPr lang="en-IN" dirty="0">
                <a:latin typeface="Times New Roman" panose="02020603050405020304" pitchFamily="18" charset="0"/>
                <a:cs typeface="Times New Roman" panose="02020603050405020304" pitchFamily="18" charset="0"/>
              </a:rPr>
              <a:t>, 2025.</a:t>
            </a:r>
          </a:p>
          <a:p>
            <a:pPr algn="just"/>
            <a:r>
              <a:rPr lang="en-IN" dirty="0">
                <a:latin typeface="Times New Roman" panose="02020603050405020304" pitchFamily="18" charset="0"/>
                <a:cs typeface="Times New Roman" panose="02020603050405020304" pitchFamily="18" charset="0"/>
              </a:rPr>
              <a:t>[14] R. Sharma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"Collaborative Agentic AI Needs Interoperability Across Ecosystems," </a:t>
            </a:r>
            <a:r>
              <a:rPr lang="en-IN" i="1" dirty="0">
                <a:latin typeface="Times New Roman" panose="02020603050405020304" pitchFamily="18" charset="0"/>
                <a:cs typeface="Times New Roman" panose="02020603050405020304" pitchFamily="18" charset="0"/>
              </a:rPr>
              <a:t>arXiv preprint</a:t>
            </a:r>
            <a:r>
              <a:rPr lang="en-IN" dirty="0">
                <a:latin typeface="Times New Roman" panose="02020603050405020304" pitchFamily="18" charset="0"/>
                <a:cs typeface="Times New Roman" panose="02020603050405020304" pitchFamily="18" charset="0"/>
              </a:rPr>
              <a:t>, 2025.</a:t>
            </a:r>
          </a:p>
          <a:p>
            <a:pPr algn="just"/>
            <a:r>
              <a:rPr lang="en-IN" dirty="0">
                <a:latin typeface="Times New Roman" panose="02020603050405020304" pitchFamily="18" charset="0"/>
                <a:cs typeface="Times New Roman" panose="02020603050405020304" pitchFamily="18" charset="0"/>
              </a:rPr>
              <a:t>[15] T. South </a:t>
            </a:r>
            <a:r>
              <a:rPr lang="en-IN" i="1" dirty="0">
                <a:latin typeface="Times New Roman" panose="02020603050405020304" pitchFamily="18" charset="0"/>
                <a:cs typeface="Times New Roman" panose="02020603050405020304" pitchFamily="18" charset="0"/>
              </a:rPr>
              <a:t>et al.</a:t>
            </a:r>
            <a:r>
              <a:rPr lang="en-IN" dirty="0">
                <a:latin typeface="Times New Roman" panose="02020603050405020304" pitchFamily="18" charset="0"/>
                <a:cs typeface="Times New Roman" panose="02020603050405020304" pitchFamily="18" charset="0"/>
              </a:rPr>
              <a:t>, "Authenticated Delegation and Authorized AI Agents," </a:t>
            </a:r>
            <a:r>
              <a:rPr lang="en-IN" i="1" dirty="0">
                <a:latin typeface="Times New Roman" panose="02020603050405020304" pitchFamily="18" charset="0"/>
                <a:cs typeface="Times New Roman" panose="02020603050405020304" pitchFamily="18" charset="0"/>
              </a:rPr>
              <a:t>arXiv preprint</a:t>
            </a:r>
            <a:r>
              <a:rPr lang="en-IN" dirty="0">
                <a:latin typeface="Times New Roman" panose="02020603050405020304" pitchFamily="18" charset="0"/>
                <a:cs typeface="Times New Roman" panose="02020603050405020304" pitchFamily="18" charset="0"/>
              </a:rPr>
              <a:t>, 2025.</a:t>
            </a:r>
          </a:p>
          <a:p>
            <a:pPr algn="just"/>
            <a:r>
              <a:rPr lang="en-IN" dirty="0">
                <a:latin typeface="Times New Roman" panose="02020603050405020304" pitchFamily="18" charset="0"/>
                <a:cs typeface="Times New Roman" panose="02020603050405020304" pitchFamily="18" charset="0"/>
              </a:rPr>
              <a:t>[16] National Institute of Standards and Technology (NIST), "Artificial Intelligence Risk Management Framework (AI RMF 1.0)," 2023.</a:t>
            </a:r>
          </a:p>
          <a:p>
            <a:pPr algn="just"/>
            <a:r>
              <a:rPr lang="en-IN" dirty="0">
                <a:latin typeface="Times New Roman" panose="02020603050405020304" pitchFamily="18" charset="0"/>
                <a:cs typeface="Times New Roman" panose="02020603050405020304" pitchFamily="18" charset="0"/>
              </a:rPr>
              <a:t>[17] National Institute of Standards and Technology (NIST), "Module-Lattice-Based Digital Signature Standard (FIPS 204)," 2024.</a:t>
            </a:r>
          </a:p>
          <a:p>
            <a:pPr algn="just"/>
            <a:r>
              <a:rPr lang="en-IN" dirty="0">
                <a:latin typeface="Times New Roman" panose="02020603050405020304" pitchFamily="18" charset="0"/>
                <a:cs typeface="Times New Roman" panose="02020603050405020304" pitchFamily="18" charset="0"/>
              </a:rPr>
              <a:t>[18] National Institute of Standards and Technology (NIST), "Module-Lattice-Based Key-Encapsulation Mechanism Standard (FIPS 203)," 2024.</a:t>
            </a:r>
          </a:p>
          <a:p>
            <a:pPr algn="just"/>
            <a:r>
              <a:rPr lang="en-IN" dirty="0">
                <a:latin typeface="Times New Roman" panose="02020603050405020304" pitchFamily="18" charset="0"/>
                <a:cs typeface="Times New Roman" panose="02020603050405020304" pitchFamily="18" charset="0"/>
              </a:rPr>
              <a:t>[19] M. Wooldridge, "An Introduction to </a:t>
            </a:r>
            <a:r>
              <a:rPr lang="en-IN" dirty="0" err="1">
                <a:latin typeface="Times New Roman" panose="02020603050405020304" pitchFamily="18" charset="0"/>
                <a:cs typeface="Times New Roman" panose="02020603050405020304" pitchFamily="18" charset="0"/>
              </a:rPr>
              <a:t>MultiAgent</a:t>
            </a:r>
            <a:r>
              <a:rPr lang="en-IN" dirty="0">
                <a:latin typeface="Times New Roman" panose="02020603050405020304" pitchFamily="18" charset="0"/>
                <a:cs typeface="Times New Roman" panose="02020603050405020304" pitchFamily="18" charset="0"/>
              </a:rPr>
              <a:t> Systems," 2nd Edition, John Wiley &amp; Sons, 2009.</a:t>
            </a:r>
          </a:p>
          <a:p>
            <a:pPr algn="just"/>
            <a:r>
              <a:rPr lang="en-IN" dirty="0">
                <a:latin typeface="Times New Roman" panose="02020603050405020304" pitchFamily="18" charset="0"/>
                <a:cs typeface="Times New Roman" panose="02020603050405020304" pitchFamily="18" charset="0"/>
              </a:rPr>
              <a:t>[20] F. L. Lewis, H. Zhang, K. </a:t>
            </a:r>
            <a:r>
              <a:rPr lang="en-IN" dirty="0" err="1">
                <a:latin typeface="Times New Roman" panose="02020603050405020304" pitchFamily="18" charset="0"/>
                <a:cs typeface="Times New Roman" panose="02020603050405020304" pitchFamily="18" charset="0"/>
              </a:rPr>
              <a:t>Hengster-Movrić</a:t>
            </a:r>
            <a:r>
              <a:rPr lang="en-IN" dirty="0">
                <a:latin typeface="Times New Roman" panose="02020603050405020304" pitchFamily="18" charset="0"/>
                <a:cs typeface="Times New Roman" panose="02020603050405020304" pitchFamily="18" charset="0"/>
              </a:rPr>
              <a:t>, and A. Das, "Cooperative Control of Multi-Agent Systems: Optimal and Adaptive Design Approaches," Springer, 2014.</a:t>
            </a:r>
          </a:p>
        </p:txBody>
      </p:sp>
    </p:spTree>
    <p:extLst>
      <p:ext uri="{BB962C8B-B14F-4D97-AF65-F5344CB8AC3E}">
        <p14:creationId xmlns:p14="http://schemas.microsoft.com/office/powerpoint/2010/main" val="2820989790"/>
      </p:ext>
    </p:extLst>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02920"/>
          </a:xfrm>
          <a:prstGeom prst="rect">
            <a:avLst/>
          </a:prstGeom>
          <a:noFill/>
        </p:spPr>
        <p:txBody>
          <a:bodyPr wrap="square" lIns="0" tIns="0" rIns="0" bIns="0">
            <a:spAutoFit/>
          </a:bodyPr>
          <a:lstStyle/>
          <a:p>
            <a:pPr>
              <a:defRPr sz="2200" b="1">
                <a:solidFill>
                  <a:srgbClr val="1F497D"/>
                </a:solidFill>
                <a:latin typeface="Times New Roman"/>
              </a:defRPr>
            </a:pPr>
            <a:r>
              <a:t>Implementation &amp; Technical Validation</a:t>
            </a:r>
          </a:p>
        </p:txBody>
      </p:sp>
      <p:sp>
        <p:nvSpPr>
          <p:cNvPr id="3" name="TextBox 2"/>
          <p:cNvSpPr txBox="1"/>
          <p:nvPr/>
        </p:nvSpPr>
        <p:spPr>
          <a:xfrm>
            <a:off x="457200" y="804672"/>
            <a:ext cx="8229600" cy="256032"/>
          </a:xfrm>
          <a:prstGeom prst="rect">
            <a:avLst/>
          </a:prstGeom>
          <a:noFill/>
        </p:spPr>
        <p:txBody>
          <a:bodyPr wrap="square" lIns="0" tIns="0" rIns="0" bIns="0">
            <a:spAutoFit/>
          </a:bodyPr>
          <a:lstStyle/>
          <a:p>
            <a:pPr>
              <a:defRPr sz="1000" i="1">
                <a:solidFill>
                  <a:srgbClr val="64748B"/>
                </a:solidFill>
                <a:latin typeface="Times New Roman"/>
              </a:defRPr>
            </a:pPr>
            <a:r>
              <a:t>Complete Architecture Integration • Forensic Codebase Verification • Automated CI/CD Metrics</a:t>
            </a:r>
          </a:p>
        </p:txBody>
      </p:sp>
      <p:sp>
        <p:nvSpPr>
          <p:cNvPr id="4" name="TextBox 3"/>
          <p:cNvSpPr txBox="1"/>
          <p:nvPr/>
        </p:nvSpPr>
        <p:spPr>
          <a:xfrm>
            <a:off x="6547104" y="6355080"/>
            <a:ext cx="2130552" cy="320040"/>
          </a:xfrm>
          <a:prstGeom prst="rect">
            <a:avLst/>
          </a:prstGeom>
          <a:noFill/>
        </p:spPr>
        <p:txBody>
          <a:bodyPr wrap="none" lIns="0" tIns="0" rIns="0" bIns="0">
            <a:spAutoFit/>
          </a:bodyPr>
          <a:lstStyle/>
          <a:p>
            <a:pPr algn="r">
              <a:defRPr sz="1200">
                <a:solidFill>
                  <a:srgbClr val="64748B"/>
                </a:solidFill>
                <a:latin typeface="Times New Roman"/>
              </a:defRPr>
            </a:pPr>
            <a:r>
              <a:t>26</a:t>
            </a:r>
          </a:p>
        </p:txBody>
      </p:sp>
      <p:sp>
        <p:nvSpPr>
          <p:cNvPr id="5" name="Rounded Rectangle 4"/>
          <p:cNvSpPr/>
          <p:nvPr/>
        </p:nvSpPr>
        <p:spPr>
          <a:xfrm>
            <a:off x="457200" y="1115568"/>
            <a:ext cx="1947672" cy="3794760"/>
          </a:xfrm>
          <a:prstGeom prst="roundRect">
            <a:avLst/>
          </a:prstGeom>
          <a:solidFill>
            <a:srgbClr val="EFF6FF"/>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91440"/>
          <a:lstStyle/>
          <a:p>
            <a:pPr algn="ctr">
              <a:spcAft>
                <a:spcPts val="400"/>
              </a:spcAft>
              <a:defRPr sz="1100" b="1">
                <a:solidFill>
                  <a:srgbClr val="1F497D"/>
                </a:solidFill>
                <a:latin typeface="Times New Roman"/>
              </a:defRPr>
            </a:pPr>
            <a:r>
              <a:t>1. Identity &amp; Cryptography</a:t>
            </a:r>
          </a:p>
          <a:p>
            <a:pPr>
              <a:spcAft>
                <a:spcPts val="300"/>
              </a:spcAft>
              <a:defRPr sz="850">
                <a:latin typeface="Times New Roman"/>
              </a:defRPr>
            </a:pPr>
            <a:r>
              <a:rPr b="1">
                <a:solidFill>
                  <a:srgbClr val="1F497D"/>
                </a:solidFill>
              </a:rPr>
              <a:t>• </a:t>
            </a:r>
            <a:r>
              <a:rPr b="1">
                <a:solidFill>
                  <a:srgbClr val="1E293B"/>
                </a:solidFill>
              </a:rPr>
              <a:t>W3C DID Specification: </a:t>
            </a:r>
            <a:r>
              <a:rPr>
                <a:solidFill>
                  <a:srgbClr val="1E293B"/>
                </a:solidFill>
              </a:rPr>
              <a:t>did:key format with multicodec prefix 0xed01 for sovereign agent identity.</a:t>
            </a:r>
          </a:p>
          <a:p>
            <a:pPr>
              <a:spcAft>
                <a:spcPts val="300"/>
              </a:spcAft>
              <a:defRPr sz="850">
                <a:latin typeface="Times New Roman"/>
              </a:defRPr>
            </a:pPr>
            <a:r>
              <a:rPr b="1">
                <a:solidFill>
                  <a:srgbClr val="1F497D"/>
                </a:solidFill>
              </a:rPr>
              <a:t>• </a:t>
            </a:r>
            <a:r>
              <a:rPr b="1">
                <a:solidFill>
                  <a:srgbClr val="1E293B"/>
                </a:solidFill>
              </a:rPr>
              <a:t>Ed25519 Cryptography: </a:t>
            </a:r>
            <a:r>
              <a:rPr>
                <a:solidFill>
                  <a:srgbClr val="1E293B"/>
                </a:solidFill>
              </a:rPr>
              <a:t>RFC 8032 asymmetric signing &amp; verification; 256-bit elliptic-curve keys.</a:t>
            </a:r>
          </a:p>
          <a:p>
            <a:pPr>
              <a:spcAft>
                <a:spcPts val="300"/>
              </a:spcAft>
              <a:defRPr sz="850">
                <a:latin typeface="Times New Roman"/>
              </a:defRPr>
            </a:pPr>
            <a:r>
              <a:rPr b="1">
                <a:solidFill>
                  <a:srgbClr val="1F497D"/>
                </a:solidFill>
              </a:rPr>
              <a:t>• </a:t>
            </a:r>
            <a:r>
              <a:rPr b="1">
                <a:solidFill>
                  <a:srgbClr val="1E293B"/>
                </a:solidFill>
              </a:rPr>
              <a:t>Verifiable Credentials: </a:t>
            </a:r>
            <a:r>
              <a:rPr>
                <a:solidFill>
                  <a:srgbClr val="1E293B"/>
                </a:solidFill>
              </a:rPr>
              <a:t>W3C VC 2.0 JSON-LD data model with SHA-256 tamper-evident integrity hashes.</a:t>
            </a:r>
          </a:p>
          <a:p>
            <a:pPr>
              <a:spcAft>
                <a:spcPts val="300"/>
              </a:spcAft>
              <a:defRPr sz="850">
                <a:latin typeface="Times New Roman"/>
              </a:defRPr>
            </a:pPr>
            <a:r>
              <a:rPr b="1">
                <a:solidFill>
                  <a:srgbClr val="1F497D"/>
                </a:solidFill>
              </a:rPr>
              <a:t>• </a:t>
            </a:r>
            <a:r>
              <a:rPr b="1">
                <a:solidFill>
                  <a:srgbClr val="1E293B"/>
                </a:solidFill>
              </a:rPr>
              <a:t>Human Auth &amp; RBAC: </a:t>
            </a:r>
            <a:r>
              <a:rPr>
                <a:solidFill>
                  <a:srgbClr val="1E293B"/>
                </a:solidFill>
              </a:rPr>
              <a:t>Argon2id password hashing, 5-strike lockout (HTTP 423), JWT rotation, 3-tier RBAC (ADMIN, OPERATOR, VIEWER).</a:t>
            </a:r>
          </a:p>
        </p:txBody>
      </p:sp>
      <p:sp>
        <p:nvSpPr>
          <p:cNvPr id="6" name="Rounded Rectangle 5"/>
          <p:cNvSpPr/>
          <p:nvPr/>
        </p:nvSpPr>
        <p:spPr>
          <a:xfrm>
            <a:off x="2551176" y="1115568"/>
            <a:ext cx="1947672" cy="3794760"/>
          </a:xfrm>
          <a:prstGeom prst="roundRect">
            <a:avLst/>
          </a:prstGeom>
          <a:solidFill>
            <a:srgbClr val="F0FDF4"/>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91440"/>
          <a:lstStyle/>
          <a:p>
            <a:pPr algn="ctr">
              <a:spcAft>
                <a:spcPts val="400"/>
              </a:spcAft>
              <a:defRPr sz="1100" b="1">
                <a:solidFill>
                  <a:srgbClr val="15803D"/>
                </a:solidFill>
                <a:latin typeface="Times New Roman"/>
              </a:defRPr>
            </a:pPr>
            <a:r>
              <a:t>2. Trust Intelligence Engine</a:t>
            </a:r>
          </a:p>
          <a:p>
            <a:pPr>
              <a:spcAft>
                <a:spcPts val="300"/>
              </a:spcAft>
              <a:defRPr sz="850">
                <a:latin typeface="Times New Roman"/>
              </a:defRPr>
            </a:pPr>
            <a:r>
              <a:rPr b="1">
                <a:solidFill>
                  <a:srgbClr val="15803D"/>
                </a:solidFill>
              </a:rPr>
              <a:t>• </a:t>
            </a:r>
            <a:r>
              <a:rPr b="1">
                <a:solidFill>
                  <a:srgbClr val="1E293B"/>
                </a:solidFill>
              </a:rPr>
              <a:t>Telemetry Ingestion: </a:t>
            </a:r>
            <a:r>
              <a:rPr>
                <a:solidFill>
                  <a:srgbClr val="1E293B"/>
                </a:solidFill>
              </a:rPr>
              <a:t>Real-time recording of Task Success (Si), Compliance (Ci), and Latency penalty (Li).</a:t>
            </a:r>
          </a:p>
          <a:p>
            <a:pPr>
              <a:spcAft>
                <a:spcPts val="300"/>
              </a:spcAft>
              <a:defRPr sz="850">
                <a:latin typeface="Times New Roman"/>
              </a:defRPr>
            </a:pPr>
            <a:r>
              <a:rPr b="1">
                <a:solidFill>
                  <a:srgbClr val="15803D"/>
                </a:solidFill>
              </a:rPr>
              <a:t>• </a:t>
            </a:r>
            <a:r>
              <a:rPr b="1">
                <a:solidFill>
                  <a:srgbClr val="1E293B"/>
                </a:solidFill>
              </a:rPr>
              <a:t>Single-Period Score: </a:t>
            </a:r>
            <a:r>
              <a:rPr>
                <a:solidFill>
                  <a:srgbClr val="1E293B"/>
                </a:solidFill>
              </a:rPr>
              <a:t>Pi(t) = 0.6 Si(t) + 0.3 Ci(t) + 0.1(1 - Li(t)).</a:t>
            </a:r>
          </a:p>
          <a:p>
            <a:pPr>
              <a:spcAft>
                <a:spcPts val="300"/>
              </a:spcAft>
              <a:defRPr sz="850">
                <a:latin typeface="Times New Roman"/>
              </a:defRPr>
            </a:pPr>
            <a:r>
              <a:rPr b="1">
                <a:solidFill>
                  <a:srgbClr val="15803D"/>
                </a:solidFill>
              </a:rPr>
              <a:t>• </a:t>
            </a:r>
            <a:r>
              <a:rPr b="1">
                <a:solidFill>
                  <a:srgbClr val="1E293B"/>
                </a:solidFill>
              </a:rPr>
              <a:t>Temporal Trust (EMA): </a:t>
            </a:r>
            <a:r>
              <a:rPr>
                <a:solidFill>
                  <a:srgbClr val="1E293B"/>
                </a:solidFill>
              </a:rPr>
              <a:t>Ti(t) = 0.70 Ti(t-1) + 0.30 Pi(t); lambda=0.70 provides hysteresis &amp; dampening.</a:t>
            </a:r>
          </a:p>
          <a:p>
            <a:pPr>
              <a:spcAft>
                <a:spcPts val="300"/>
              </a:spcAft>
              <a:defRPr sz="850">
                <a:latin typeface="Times New Roman"/>
              </a:defRPr>
            </a:pPr>
            <a:r>
              <a:rPr b="1">
                <a:solidFill>
                  <a:srgbClr val="15803D"/>
                </a:solidFill>
              </a:rPr>
              <a:t>• </a:t>
            </a:r>
            <a:r>
              <a:rPr b="1">
                <a:solidFill>
                  <a:srgbClr val="1E293B"/>
                </a:solidFill>
              </a:rPr>
              <a:t>Trust-State Machine: </a:t>
            </a:r>
            <a:r>
              <a:rPr>
                <a:solidFill>
                  <a:srgbClr val="1E293B"/>
                </a:solidFill>
              </a:rPr>
              <a:t>Graduated 4-tier classification: TRUSTED (&gt;=0.80), SUSPICIOUS (0.50-0.79), QUARANTINED (&lt;0.50), REVOKED (blacklist).</a:t>
            </a:r>
          </a:p>
          <a:p>
            <a:pPr>
              <a:spcAft>
                <a:spcPts val="300"/>
              </a:spcAft>
              <a:defRPr sz="850">
                <a:latin typeface="Times New Roman"/>
              </a:defRPr>
            </a:pPr>
            <a:r>
              <a:rPr b="1">
                <a:solidFill>
                  <a:srgbClr val="15803D"/>
                </a:solidFill>
              </a:rPr>
              <a:t>• </a:t>
            </a:r>
            <a:r>
              <a:rPr b="1">
                <a:solidFill>
                  <a:srgbClr val="1E293B"/>
                </a:solidFill>
              </a:rPr>
              <a:t>Adaptive Policy Gateway: </a:t>
            </a:r>
            <a:r>
              <a:rPr>
                <a:solidFill>
                  <a:srgbClr val="1E293B"/>
                </a:solidFill>
              </a:rPr>
              <a:t>Intercepts all invocations to dynamically enforce least privilege.</a:t>
            </a:r>
          </a:p>
        </p:txBody>
      </p:sp>
      <p:sp>
        <p:nvSpPr>
          <p:cNvPr id="7" name="Rounded Rectangle 6"/>
          <p:cNvSpPr/>
          <p:nvPr/>
        </p:nvSpPr>
        <p:spPr>
          <a:xfrm>
            <a:off x="4645152" y="1115568"/>
            <a:ext cx="1947672" cy="3794760"/>
          </a:xfrm>
          <a:prstGeom prst="roundRect">
            <a:avLst/>
          </a:prstGeom>
          <a:solidFill>
            <a:srgbClr val="FEFCE8"/>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91440"/>
          <a:lstStyle/>
          <a:p>
            <a:pPr algn="ctr">
              <a:spcAft>
                <a:spcPts val="400"/>
              </a:spcAft>
              <a:defRPr sz="1100" b="1">
                <a:solidFill>
                  <a:srgbClr val="B45309"/>
                </a:solidFill>
                <a:latin typeface="Times New Roman"/>
              </a:defRPr>
            </a:pPr>
            <a:r>
              <a:t>3. Collaboration &amp; Workflows</a:t>
            </a:r>
          </a:p>
          <a:p>
            <a:pPr>
              <a:spcAft>
                <a:spcPts val="300"/>
              </a:spcAft>
              <a:defRPr sz="850">
                <a:latin typeface="Times New Roman"/>
              </a:defRPr>
            </a:pPr>
            <a:r>
              <a:rPr b="1">
                <a:solidFill>
                  <a:srgbClr val="B45309"/>
                </a:solidFill>
              </a:rPr>
              <a:t>• </a:t>
            </a:r>
            <a:r>
              <a:rPr b="1">
                <a:solidFill>
                  <a:srgbClr val="1E293B"/>
                </a:solidFill>
              </a:rPr>
              <a:t>Capability Discovery: </a:t>
            </a:r>
            <a:r>
              <a:rPr>
                <a:solidFill>
                  <a:srgbClr val="1E293B"/>
                </a:solidFill>
              </a:rPr>
              <a:t>Multi-attribute filtering (tag, min-trust slider 0.0-1.0, status, HTTP health probe).</a:t>
            </a:r>
          </a:p>
          <a:p>
            <a:pPr>
              <a:spcAft>
                <a:spcPts val="300"/>
              </a:spcAft>
              <a:defRPr sz="850">
                <a:latin typeface="Times New Roman"/>
              </a:defRPr>
            </a:pPr>
            <a:r>
              <a:rPr b="1">
                <a:solidFill>
                  <a:srgbClr val="B45309"/>
                </a:solidFill>
              </a:rPr>
              <a:t>• </a:t>
            </a:r>
            <a:r>
              <a:rPr b="1">
                <a:solidFill>
                  <a:srgbClr val="1E293B"/>
                </a:solidFill>
              </a:rPr>
              <a:t>Explainable Exclusion: </a:t>
            </a:r>
            <a:r>
              <a:rPr>
                <a:solidFill>
                  <a:srgbClr val="1E293B"/>
                </a:solidFill>
              </a:rPr>
              <a:t>Transparent failure rationale (e.g. 'Trust 0.42 &lt; 0.80 requested').</a:t>
            </a:r>
          </a:p>
          <a:p>
            <a:pPr>
              <a:spcAft>
                <a:spcPts val="300"/>
              </a:spcAft>
              <a:defRPr sz="850">
                <a:latin typeface="Times New Roman"/>
              </a:defRPr>
            </a:pPr>
            <a:r>
              <a:rPr b="1">
                <a:solidFill>
                  <a:srgbClr val="B45309"/>
                </a:solidFill>
              </a:rPr>
              <a:t>• </a:t>
            </a:r>
            <a:r>
              <a:rPr b="1">
                <a:solidFill>
                  <a:srgbClr val="1E293B"/>
                </a:solidFill>
              </a:rPr>
              <a:t>Task-Driven Matching: </a:t>
            </a:r>
            <a:r>
              <a:rPr>
                <a:solidFill>
                  <a:srgbClr val="1E293B"/>
                </a:solidFill>
              </a:rPr>
              <a:t>MatchScore = 0.4 T + 0.3 (r/5) + 0.2 sigma + 0.1 (1 - lambda); quarantined capped to 0.000.</a:t>
            </a:r>
          </a:p>
          <a:p>
            <a:pPr>
              <a:spcAft>
                <a:spcPts val="300"/>
              </a:spcAft>
              <a:defRPr sz="850">
                <a:latin typeface="Times New Roman"/>
              </a:defRPr>
            </a:pPr>
            <a:r>
              <a:rPr b="1">
                <a:solidFill>
                  <a:srgbClr val="B45309"/>
                </a:solidFill>
              </a:rPr>
              <a:t>• </a:t>
            </a:r>
            <a:r>
              <a:rPr b="1">
                <a:solidFill>
                  <a:srgbClr val="1E293B"/>
                </a:solidFill>
              </a:rPr>
              <a:t>Multi-Agent Sessions: </a:t>
            </a:r>
            <a:r>
              <a:rPr>
                <a:solidFill>
                  <a:srgbClr val="1E293B"/>
                </a:solidFill>
              </a:rPr>
              <a:t>State machine (PENDING, ACTIVE, COMPLETED, TERMINATED).</a:t>
            </a:r>
          </a:p>
          <a:p>
            <a:pPr>
              <a:spcAft>
                <a:spcPts val="300"/>
              </a:spcAft>
              <a:defRPr sz="850">
                <a:latin typeface="Times New Roman"/>
              </a:defRPr>
            </a:pPr>
            <a:r>
              <a:rPr b="1">
                <a:solidFill>
                  <a:srgbClr val="B45309"/>
                </a:solidFill>
              </a:rPr>
              <a:t>• </a:t>
            </a:r>
            <a:r>
              <a:rPr b="1">
                <a:solidFill>
                  <a:srgbClr val="1E293B"/>
                </a:solidFill>
              </a:rPr>
              <a:t>Sequential Pipelines: </a:t>
            </a:r>
            <a:r>
              <a:rPr>
                <a:solidFill>
                  <a:srgbClr val="1E293B"/>
                </a:solidFill>
              </a:rPr>
              <a:t>Step-wise telemetry collection with mid-workflow abort if Ti(t) &lt; 0.50.</a:t>
            </a:r>
          </a:p>
        </p:txBody>
      </p:sp>
      <p:sp>
        <p:nvSpPr>
          <p:cNvPr id="8" name="Rounded Rectangle 7"/>
          <p:cNvSpPr/>
          <p:nvPr/>
        </p:nvSpPr>
        <p:spPr>
          <a:xfrm>
            <a:off x="6739128" y="1115568"/>
            <a:ext cx="1947672" cy="3794760"/>
          </a:xfrm>
          <a:prstGeom prst="roundRect">
            <a:avLst/>
          </a:prstGeom>
          <a:solidFill>
            <a:srgbClr val="F8FAFC"/>
          </a:solidFill>
          <a:ln w="1524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91440"/>
          <a:lstStyle/>
          <a:p>
            <a:pPr algn="ctr">
              <a:spcAft>
                <a:spcPts val="400"/>
              </a:spcAft>
              <a:defRPr sz="1100" b="1">
                <a:solidFill>
                  <a:srgbClr val="334155"/>
                </a:solidFill>
                <a:latin typeface="Times New Roman"/>
              </a:defRPr>
            </a:pPr>
            <a:r>
              <a:t>4. Verified Technology Stack</a:t>
            </a:r>
          </a:p>
          <a:p>
            <a:pPr>
              <a:spcAft>
                <a:spcPts val="300"/>
              </a:spcAft>
              <a:defRPr sz="850">
                <a:latin typeface="Times New Roman"/>
              </a:defRPr>
            </a:pPr>
            <a:r>
              <a:rPr b="1">
                <a:solidFill>
                  <a:srgbClr val="334155"/>
                </a:solidFill>
              </a:rPr>
              <a:t>• </a:t>
            </a:r>
            <a:r>
              <a:rPr b="1">
                <a:solidFill>
                  <a:srgbClr val="1E293B"/>
                </a:solidFill>
              </a:rPr>
              <a:t>Backend Architecture: </a:t>
            </a:r>
            <a:r>
              <a:rPr>
                <a:solidFill>
                  <a:srgbClr val="1E293B"/>
                </a:solidFill>
              </a:rPr>
              <a:t>Python 3.12, FastAPI (5 modular REST routers), Pydantic v2 schemas.</a:t>
            </a:r>
          </a:p>
          <a:p>
            <a:pPr>
              <a:spcAft>
                <a:spcPts val="300"/>
              </a:spcAft>
              <a:defRPr sz="850">
                <a:latin typeface="Times New Roman"/>
              </a:defRPr>
            </a:pPr>
            <a:r>
              <a:rPr b="1">
                <a:solidFill>
                  <a:srgbClr val="334155"/>
                </a:solidFill>
              </a:rPr>
              <a:t>• </a:t>
            </a:r>
            <a:r>
              <a:rPr b="1">
                <a:solidFill>
                  <a:srgbClr val="1E293B"/>
                </a:solidFill>
              </a:rPr>
              <a:t>Verifiable Data Registry: </a:t>
            </a:r>
            <a:r>
              <a:rPr>
                <a:solidFill>
                  <a:srgbClr val="1E293B"/>
                </a:solidFill>
              </a:rPr>
              <a:t>SQLite 3 in WAL mode (13 relational tables, zero external daemon, ACID integrity).</a:t>
            </a:r>
          </a:p>
          <a:p>
            <a:pPr>
              <a:spcAft>
                <a:spcPts val="300"/>
              </a:spcAft>
              <a:defRPr sz="850">
                <a:latin typeface="Times New Roman"/>
              </a:defRPr>
            </a:pPr>
            <a:r>
              <a:rPr b="1">
                <a:solidFill>
                  <a:srgbClr val="334155"/>
                </a:solidFill>
              </a:rPr>
              <a:t>• </a:t>
            </a:r>
            <a:r>
              <a:rPr b="1">
                <a:solidFill>
                  <a:srgbClr val="1E293B"/>
                </a:solidFill>
              </a:rPr>
              <a:t>Frontend Application: </a:t>
            </a:r>
            <a:r>
              <a:rPr>
                <a:solidFill>
                  <a:srgbClr val="1E293B"/>
                </a:solidFill>
              </a:rPr>
              <a:t>React 18/19, Vite 5, Tailwind CSS, Lucide icons, Axios client.</a:t>
            </a:r>
          </a:p>
          <a:p>
            <a:pPr>
              <a:spcAft>
                <a:spcPts val="300"/>
              </a:spcAft>
              <a:defRPr sz="850">
                <a:latin typeface="Times New Roman"/>
              </a:defRPr>
            </a:pPr>
            <a:r>
              <a:rPr b="1">
                <a:solidFill>
                  <a:srgbClr val="334155"/>
                </a:solidFill>
              </a:rPr>
              <a:t>• </a:t>
            </a:r>
            <a:r>
              <a:rPr b="1">
                <a:solidFill>
                  <a:srgbClr val="1E293B"/>
                </a:solidFill>
              </a:rPr>
              <a:t>Security &amp; Crypto: </a:t>
            </a:r>
            <a:r>
              <a:rPr>
                <a:solidFill>
                  <a:srgbClr val="1E293B"/>
                </a:solidFill>
              </a:rPr>
              <a:t>cryptography (Ed25519), passlib (Argon2id), python-jose (JWT auth).</a:t>
            </a:r>
          </a:p>
          <a:p>
            <a:pPr>
              <a:spcAft>
                <a:spcPts val="300"/>
              </a:spcAft>
              <a:defRPr sz="850">
                <a:latin typeface="Times New Roman"/>
              </a:defRPr>
            </a:pPr>
            <a:r>
              <a:rPr b="1">
                <a:solidFill>
                  <a:srgbClr val="334155"/>
                </a:solidFill>
              </a:rPr>
              <a:t>• </a:t>
            </a:r>
            <a:r>
              <a:rPr b="1">
                <a:solidFill>
                  <a:srgbClr val="1E293B"/>
                </a:solidFill>
              </a:rPr>
              <a:t>CI &amp; Quality Assurance: </a:t>
            </a:r>
            <a:r>
              <a:rPr>
                <a:solidFill>
                  <a:srgbClr val="1E293B"/>
                </a:solidFill>
              </a:rPr>
              <a:t>Pytest 8.4 test runner, Oxlint linter, Docker containerization.</a:t>
            </a:r>
          </a:p>
        </p:txBody>
      </p:sp>
      <p:sp>
        <p:nvSpPr>
          <p:cNvPr id="9" name="Rectangle 8"/>
          <p:cNvSpPr/>
          <p:nvPr/>
        </p:nvSpPr>
        <p:spPr>
          <a:xfrm>
            <a:off x="457200" y="5010912"/>
            <a:ext cx="8229600" cy="1243584"/>
          </a:xfrm>
          <a:prstGeom prst="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tIns="73152" lIns="137160" rIns="137160"/>
          <a:lstStyle/>
          <a:p>
            <a:pPr algn="ctr">
              <a:defRPr sz="1000" b="1">
                <a:solidFill>
                  <a:srgbClr val="38BDF8"/>
                </a:solidFill>
                <a:latin typeface="Times New Roman"/>
              </a:defRPr>
            </a:pPr>
            <a:r>
              <a:t>VERIFIED IMPLEMENTATION EVIDENCE &amp; REPRODUCIBILITY DOSSIER</a:t>
            </a:r>
          </a:p>
        </p:txBody>
      </p:sp>
      <p:sp>
        <p:nvSpPr>
          <p:cNvPr id="10" name="Rounded Rectangle 9"/>
          <p:cNvSpPr/>
          <p:nvPr/>
        </p:nvSpPr>
        <p:spPr>
          <a:xfrm>
            <a:off x="548640" y="5285232"/>
            <a:ext cx="1920240" cy="877824"/>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54864" rIns="54864" tIns="36576" bIns="18288"/>
          <a:lstStyle/>
          <a:p>
            <a:pPr algn="ctr">
              <a:defRPr sz="950" b="1">
                <a:solidFill>
                  <a:srgbClr val="10B981"/>
                </a:solidFill>
                <a:latin typeface="Times New Roman"/>
              </a:defRPr>
            </a:pPr>
            <a:r>
              <a:t>80 / 80 Tests Passed</a:t>
            </a:r>
          </a:p>
          <a:p>
            <a:pPr algn="ctr">
              <a:defRPr sz="750" b="1">
                <a:solidFill>
                  <a:srgbClr val="FFFFFF"/>
                </a:solidFill>
                <a:latin typeface="Times New Roman"/>
              </a:defRPr>
            </a:pPr>
            <a:r>
              <a:t>100% Pass Rate (18.76s)</a:t>
            </a:r>
          </a:p>
          <a:p>
            <a:pPr algn="ctr">
              <a:defRPr sz="680">
                <a:solidFill>
                  <a:srgbClr val="CBD5E1"/>
                </a:solidFill>
                <a:latin typeface="Times New Roman"/>
              </a:defRPr>
            </a:pPr>
            <a:r>
              <a:t>Pytest 8.4 across 7 test suites:</a:t>
            </a:r>
            <a:br/>
            <a:r>
              <a:t>DID, VC, Trust, Auth, Matching.</a:t>
            </a:r>
          </a:p>
        </p:txBody>
      </p:sp>
      <p:sp>
        <p:nvSpPr>
          <p:cNvPr id="11" name="Rounded Rectangle 10"/>
          <p:cNvSpPr/>
          <p:nvPr/>
        </p:nvSpPr>
        <p:spPr>
          <a:xfrm>
            <a:off x="2578608" y="5285232"/>
            <a:ext cx="1920240" cy="877824"/>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54864" rIns="54864" tIns="36576" bIns="18288"/>
          <a:lstStyle/>
          <a:p>
            <a:pPr algn="ctr">
              <a:defRPr sz="950" b="1">
                <a:solidFill>
                  <a:srgbClr val="38BDF8"/>
                </a:solidFill>
                <a:latin typeface="Times New Roman"/>
              </a:defRPr>
            </a:pPr>
            <a:r>
              <a:t>2,478 Modules Built</a:t>
            </a:r>
          </a:p>
          <a:p>
            <a:pPr algn="ctr">
              <a:defRPr sz="750" b="1">
                <a:solidFill>
                  <a:srgbClr val="FFFFFF"/>
                </a:solidFill>
                <a:latin typeface="Times New Roman"/>
              </a:defRPr>
            </a:pPr>
            <a:r>
              <a:t>Production Vite 5 Build</a:t>
            </a:r>
          </a:p>
          <a:p>
            <a:pPr algn="ctr">
              <a:defRPr sz="680">
                <a:solidFill>
                  <a:srgbClr val="CBD5E1"/>
                </a:solidFill>
                <a:latin typeface="Times New Roman"/>
              </a:defRPr>
            </a:pPr>
            <a:r>
              <a:t>Clean frontend bundle compile;</a:t>
            </a:r>
            <a:br/>
            <a:r>
              <a:t>0 syntax errors, 0 linter flaws.</a:t>
            </a:r>
          </a:p>
        </p:txBody>
      </p:sp>
      <p:sp>
        <p:nvSpPr>
          <p:cNvPr id="12" name="Rounded Rectangle 11"/>
          <p:cNvSpPr/>
          <p:nvPr/>
        </p:nvSpPr>
        <p:spPr>
          <a:xfrm>
            <a:off x="4608576" y="5285232"/>
            <a:ext cx="1920240" cy="877824"/>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54864" rIns="54864" tIns="36576" bIns="18288"/>
          <a:lstStyle/>
          <a:p>
            <a:pPr algn="ctr">
              <a:defRPr sz="950" b="1">
                <a:solidFill>
                  <a:srgbClr val="F59E0B"/>
                </a:solidFill>
                <a:latin typeface="Times New Roman"/>
              </a:defRPr>
            </a:pPr>
            <a:r>
              <a:t>13 VDR Tables</a:t>
            </a:r>
          </a:p>
          <a:p>
            <a:pPr algn="ctr">
              <a:defRPr sz="750" b="1">
                <a:solidFill>
                  <a:srgbClr val="FFFFFF"/>
                </a:solidFill>
                <a:latin typeface="Times New Roman"/>
              </a:defRPr>
            </a:pPr>
            <a:r>
              <a:t>SQLite WAL Persistence</a:t>
            </a:r>
          </a:p>
          <a:p>
            <a:pPr algn="ctr">
              <a:defRPr sz="680">
                <a:solidFill>
                  <a:srgbClr val="CBD5E1"/>
                </a:solidFill>
                <a:latin typeface="Times New Roman"/>
              </a:defRPr>
            </a:pPr>
            <a:r>
              <a:t>Relational ACID audit ledger;</a:t>
            </a:r>
            <a:br/>
            <a:r>
              <a:t>Foreign-key enforced integrity.</a:t>
            </a:r>
          </a:p>
        </p:txBody>
      </p:sp>
      <p:sp>
        <p:nvSpPr>
          <p:cNvPr id="13" name="Rounded Rectangle 12"/>
          <p:cNvSpPr/>
          <p:nvPr/>
        </p:nvSpPr>
        <p:spPr>
          <a:xfrm>
            <a:off x="6638544" y="5285232"/>
            <a:ext cx="1920240" cy="877824"/>
          </a:xfrm>
          <a:prstGeom prst="roundRect">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lIns="54864" rIns="54864" tIns="36576" bIns="18288"/>
          <a:lstStyle/>
          <a:p>
            <a:pPr algn="ctr">
              <a:defRPr sz="950" b="1">
                <a:solidFill>
                  <a:srgbClr val="A855F7"/>
                </a:solidFill>
                <a:latin typeface="Times New Roman"/>
              </a:defRPr>
            </a:pPr>
            <a:r>
              <a:t>5 REST Routers</a:t>
            </a:r>
          </a:p>
          <a:p>
            <a:pPr algn="ctr">
              <a:defRPr sz="750" b="1">
                <a:solidFill>
                  <a:srgbClr val="FFFFFF"/>
                </a:solidFill>
                <a:latin typeface="Times New Roman"/>
              </a:defRPr>
            </a:pPr>
            <a:r>
              <a:t>FastAPI Endpoints</a:t>
            </a:r>
          </a:p>
          <a:p>
            <a:pPr algn="ctr">
              <a:defRPr sz="680">
                <a:solidFill>
                  <a:srgbClr val="CBD5E1"/>
                </a:solidFill>
                <a:latin typeface="Times New Roman"/>
              </a:defRPr>
            </a:pPr>
            <a:r>
              <a:t>/agents, /trust, /discovery,</a:t>
            </a:r>
            <a:br/>
            <a:r>
              <a:t>/collaboration, /audit live.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02920"/>
          </a:xfrm>
          <a:prstGeom prst="rect">
            <a:avLst/>
          </a:prstGeom>
          <a:noFill/>
        </p:spPr>
        <p:txBody>
          <a:bodyPr wrap="square" lIns="0" tIns="0" rIns="0" bIns="0">
            <a:spAutoFit/>
          </a:bodyPr>
          <a:lstStyle/>
          <a:p>
            <a:pPr>
              <a:defRPr sz="2200" b="1">
                <a:solidFill>
                  <a:srgbClr val="1F497D"/>
                </a:solidFill>
                <a:latin typeface="Times New Roman"/>
              </a:defRPr>
            </a:pPr>
            <a:r>
              <a:t>Results Analysis &amp; System Evaluation</a:t>
            </a:r>
          </a:p>
        </p:txBody>
      </p:sp>
      <p:sp>
        <p:nvSpPr>
          <p:cNvPr id="3" name="TextBox 2"/>
          <p:cNvSpPr txBox="1"/>
          <p:nvPr/>
        </p:nvSpPr>
        <p:spPr>
          <a:xfrm>
            <a:off x="457200" y="804672"/>
            <a:ext cx="8229600" cy="256032"/>
          </a:xfrm>
          <a:prstGeom prst="rect">
            <a:avLst/>
          </a:prstGeom>
          <a:noFill/>
        </p:spPr>
        <p:txBody>
          <a:bodyPr wrap="square" lIns="0" tIns="0" rIns="0" bIns="0">
            <a:spAutoFit/>
          </a:bodyPr>
          <a:lstStyle/>
          <a:p>
            <a:pPr>
              <a:defRPr sz="1000" i="1">
                <a:solidFill>
                  <a:srgbClr val="64748B"/>
                </a:solidFill>
                <a:latin typeface="Times New Roman"/>
              </a:defRPr>
            </a:pPr>
            <a:r>
              <a:t>Dynamic Trust Evaluation • Adaptive Authorization Matrix • Empirical Validation Metrics</a:t>
            </a:r>
          </a:p>
        </p:txBody>
      </p:sp>
      <p:sp>
        <p:nvSpPr>
          <p:cNvPr id="4" name="TextBox 3"/>
          <p:cNvSpPr txBox="1"/>
          <p:nvPr/>
        </p:nvSpPr>
        <p:spPr>
          <a:xfrm>
            <a:off x="6547104" y="6355080"/>
            <a:ext cx="2130552" cy="320040"/>
          </a:xfrm>
          <a:prstGeom prst="rect">
            <a:avLst/>
          </a:prstGeom>
          <a:noFill/>
        </p:spPr>
        <p:txBody>
          <a:bodyPr wrap="none" lIns="0" tIns="0" rIns="0" bIns="0">
            <a:spAutoFit/>
          </a:bodyPr>
          <a:lstStyle/>
          <a:p>
            <a:pPr algn="r">
              <a:defRPr sz="1200">
                <a:solidFill>
                  <a:srgbClr val="64748B"/>
                </a:solidFill>
                <a:latin typeface="Times New Roman"/>
              </a:defRPr>
            </a:pPr>
            <a:r>
              <a:t>27</a:t>
            </a:r>
          </a:p>
        </p:txBody>
      </p:sp>
      <p:sp>
        <p:nvSpPr>
          <p:cNvPr id="5" name="Rounded Rectangle 4"/>
          <p:cNvSpPr/>
          <p:nvPr/>
        </p:nvSpPr>
        <p:spPr>
          <a:xfrm>
            <a:off x="457200" y="1115568"/>
            <a:ext cx="4005072" cy="1572768"/>
          </a:xfrm>
          <a:prstGeom prst="roundRect">
            <a:avLst/>
          </a:prstGeom>
          <a:solidFill>
            <a:srgbClr val="EFF6FF"/>
          </a:solidFill>
          <a:ln w="15240">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spcAft>
                <a:spcPts val="200"/>
              </a:spcAft>
              <a:defRPr sz="1050" b="1">
                <a:solidFill>
                  <a:srgbClr val="1F497D"/>
                </a:solidFill>
                <a:latin typeface="Times New Roman"/>
              </a:defRPr>
            </a:pPr>
            <a:r>
              <a:t>1. Dynamic Trust Formulation &amp; Behavioral Response</a:t>
            </a:r>
          </a:p>
          <a:p>
            <a:pPr>
              <a:spcAft>
                <a:spcPts val="150"/>
              </a:spcAft>
              <a:defRPr sz="780">
                <a:solidFill>
                  <a:srgbClr val="1E293B"/>
                </a:solidFill>
                <a:latin typeface="Times New Roman"/>
              </a:defRPr>
            </a:pPr>
            <a:r>
              <a:t>• Single-Period Score: Pi(t) = 0.60 Si(t) + 0.30 Ci(t) + 0.10 (1 - Li(t))</a:t>
            </a:r>
          </a:p>
          <a:p>
            <a:pPr>
              <a:spcAft>
                <a:spcPts val="150"/>
              </a:spcAft>
              <a:defRPr sz="780">
                <a:solidFill>
                  <a:srgbClr val="1E293B"/>
                </a:solidFill>
                <a:latin typeface="Times New Roman"/>
              </a:defRPr>
            </a:pPr>
            <a:r>
              <a:t>• Temporal Trust (EMA): Ti(t) = 0.70 Ti(t-1) + 0.30 Pi(t) (lambda = 0.70)</a:t>
            </a:r>
          </a:p>
          <a:p>
            <a:pPr>
              <a:spcAft>
                <a:spcPts val="150"/>
              </a:spcAft>
              <a:defRPr sz="780">
                <a:solidFill>
                  <a:srgbClr val="1E293B"/>
                </a:solidFill>
                <a:latin typeface="Times New Roman"/>
              </a:defRPr>
            </a:pPr>
            <a:r>
              <a:t>• Degradation Dynamics: Consistent success asymptotes toward 1.00; injected compliance failures or latency cause immediate drop into SUSPICIOUS (0.74 -&gt; 0.61).</a:t>
            </a:r>
          </a:p>
          <a:p>
            <a:pPr>
              <a:spcAft>
                <a:spcPts val="150"/>
              </a:spcAft>
              <a:defRPr sz="780">
                <a:solidFill>
                  <a:srgbClr val="1E293B"/>
                </a:solidFill>
                <a:latin typeface="Times New Roman"/>
              </a:defRPr>
            </a:pPr>
            <a:r>
              <a:t>• Verification Scope: 10-round trajectory serves as an illustrative benchmark; test suite validates exact numerical bounds and deterministic state transitions.</a:t>
            </a:r>
          </a:p>
        </p:txBody>
      </p:sp>
      <p:sp>
        <p:nvSpPr>
          <p:cNvPr id="6" name="Rounded Rectangle 5"/>
          <p:cNvSpPr/>
          <p:nvPr/>
        </p:nvSpPr>
        <p:spPr>
          <a:xfrm>
            <a:off x="4681728" y="1115568"/>
            <a:ext cx="4005072" cy="1572768"/>
          </a:xfrm>
          <a:prstGeom prst="roundRect">
            <a:avLst/>
          </a:prstGeom>
          <a:solidFill>
            <a:srgbClr val="F0FDF4"/>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spcAft>
                <a:spcPts val="200"/>
              </a:spcAft>
              <a:defRPr sz="1050" b="1">
                <a:solidFill>
                  <a:srgbClr val="15803D"/>
                </a:solidFill>
                <a:latin typeface="Times New Roman"/>
              </a:defRPr>
            </a:pPr>
            <a:r>
              <a:t>2. Two-Phase Agent Delegation: Discovery vs. Matching</a:t>
            </a:r>
          </a:p>
          <a:p>
            <a:pPr>
              <a:spcAft>
                <a:spcPts val="150"/>
              </a:spcAft>
              <a:defRPr sz="780">
                <a:solidFill>
                  <a:srgbClr val="1E293B"/>
                </a:solidFill>
                <a:latin typeface="Times New Roman"/>
              </a:defRPr>
            </a:pPr>
            <a:r>
              <a:t>• Phase 1 - Discovery (Eligibility): Boolean filter over capability tags, minimum trust slider (0.00-1.00), availability status (AVAILABLE), and HTTP health probe.</a:t>
            </a:r>
          </a:p>
          <a:p>
            <a:pPr>
              <a:spcAft>
                <a:spcPts val="150"/>
              </a:spcAft>
              <a:defRPr sz="780">
                <a:solidFill>
                  <a:srgbClr val="1E293B"/>
                </a:solidFill>
                <a:latin typeface="Times New Roman"/>
              </a:defRPr>
            </a:pPr>
            <a:r>
              <a:t>• Explainable Exclusion: Excluded agents are not silently omitted; clear rationale provided (e.g. 'Trust 0.42 &lt; 0.80 requested', 'BUSY on active session').</a:t>
            </a:r>
          </a:p>
          <a:p>
            <a:pPr>
              <a:spcAft>
                <a:spcPts val="150"/>
              </a:spcAft>
              <a:defRPr sz="780">
                <a:solidFill>
                  <a:srgbClr val="1E293B"/>
                </a:solidFill>
                <a:latin typeface="Times New Roman"/>
              </a:defRPr>
            </a:pPr>
            <a:r>
              <a:t>• Phase 2 - Matching (Multi-Factor Ranker): Multi-objective weighted ranker:</a:t>
            </a:r>
            <a:br/>
            <a:r>
              <a:t>  MatchScore = 0.40 T + 0.30 (r / 5) + 0.20 sigma + 0.10 (1 - lambda)</a:t>
            </a:r>
          </a:p>
          <a:p>
            <a:pPr>
              <a:spcAft>
                <a:spcPts val="150"/>
              </a:spcAft>
              <a:defRPr sz="780">
                <a:solidFill>
                  <a:srgbClr val="1E293B"/>
                </a:solidFill>
                <a:latin typeface="Times New Roman"/>
              </a:defRPr>
            </a:pPr>
            <a:r>
              <a:t>• Zero-Trust Policy Clamp: QUARANTINED (&lt;0.50) or REVOKED agents are hard-capped to 0.000 ('REJECTED BY POLICY') regardless of reputation.</a:t>
            </a:r>
          </a:p>
        </p:txBody>
      </p:sp>
      <p:graphicFrame>
        <p:nvGraphicFramePr>
          <p:cNvPr id="7" name="Table 6"/>
          <p:cNvGraphicFramePr>
            <a:graphicFrameLocks noGrp="1"/>
          </p:cNvGraphicFramePr>
          <p:nvPr/>
        </p:nvGraphicFramePr>
        <p:xfrm>
          <a:off x="457200" y="2761488"/>
          <a:ext cx="8229600" cy="1691640"/>
        </p:xfrm>
        <a:graphic>
          <a:graphicData uri="http://schemas.openxmlformats.org/drawingml/2006/table">
            <a:tbl>
              <a:tblPr firstRow="1" bandRow="1">
                <a:tableStyleId>{5C22544A-7EE6-4342-B048-85BDC9FD1C3A}</a:tableStyleId>
              </a:tblPr>
              <a:tblGrid>
                <a:gridCol w="1188720"/>
                <a:gridCol w="868680"/>
                <a:gridCol w="2057400"/>
                <a:gridCol w="960120"/>
                <a:gridCol w="1051560"/>
                <a:gridCol w="2103120"/>
              </a:tblGrid>
              <a:tr h="338328">
                <a:tc>
                  <a:txBody>
                    <a:bodyPr/>
                    <a:lstStyle/>
                    <a:p>
                      <a:pPr algn="ctr">
                        <a:defRPr sz="850" b="1">
                          <a:solidFill>
                            <a:srgbClr val="FFFFFF"/>
                          </a:solidFill>
                          <a:latin typeface="Times New Roman"/>
                        </a:defRPr>
                      </a:pPr>
                      <a:r>
                        <a:t>Trust State</a:t>
                      </a:r>
                    </a:p>
                  </a:txBody>
                  <a:tcPr anchor="ctr">
                    <a:solidFill>
                      <a:srgbClr val="1F497D"/>
                    </a:solidFill>
                  </a:tcPr>
                </a:tc>
                <a:tc>
                  <a:txBody>
                    <a:bodyPr/>
                    <a:lstStyle/>
                    <a:p>
                      <a:pPr algn="ctr">
                        <a:defRPr sz="850" b="1">
                          <a:solidFill>
                            <a:srgbClr val="FFFFFF"/>
                          </a:solidFill>
                          <a:latin typeface="Times New Roman"/>
                        </a:defRPr>
                      </a:pPr>
                      <a:r>
                        <a:t>Score Range</a:t>
                      </a:r>
                    </a:p>
                  </a:txBody>
                  <a:tcPr anchor="ctr">
                    <a:solidFill>
                      <a:srgbClr val="1F497D"/>
                    </a:solidFill>
                  </a:tcPr>
                </a:tc>
                <a:tc>
                  <a:txBody>
                    <a:bodyPr/>
                    <a:lstStyle/>
                    <a:p>
                      <a:pPr algn="ctr">
                        <a:defRPr sz="850" b="1">
                          <a:solidFill>
                            <a:srgbClr val="FFFFFF"/>
                          </a:solidFill>
                          <a:latin typeface="Times New Roman"/>
                        </a:defRPr>
                      </a:pPr>
                      <a:r>
                        <a:t>Operational Permissions</a:t>
                      </a:r>
                    </a:p>
                  </a:txBody>
                  <a:tcPr anchor="ctr">
                    <a:solidFill>
                      <a:srgbClr val="1F497D"/>
                    </a:solidFill>
                  </a:tcPr>
                </a:tc>
                <a:tc>
                  <a:txBody>
                    <a:bodyPr/>
                    <a:lstStyle/>
                    <a:p>
                      <a:pPr algn="ctr">
                        <a:defRPr sz="850" b="1">
                          <a:solidFill>
                            <a:srgbClr val="FFFFFF"/>
                          </a:solidFill>
                          <a:latin typeface="Times New Roman"/>
                        </a:defRPr>
                      </a:pPr>
                      <a:r>
                        <a:t>Rate Limit</a:t>
                      </a:r>
                    </a:p>
                  </a:txBody>
                  <a:tcPr anchor="ctr">
                    <a:solidFill>
                      <a:srgbClr val="1F497D"/>
                    </a:solidFill>
                  </a:tcPr>
                </a:tc>
                <a:tc>
                  <a:txBody>
                    <a:bodyPr/>
                    <a:lstStyle/>
                    <a:p>
                      <a:pPr algn="ctr">
                        <a:defRPr sz="850" b="1">
                          <a:solidFill>
                            <a:srgbClr val="FFFFFF"/>
                          </a:solidFill>
                          <a:latin typeface="Times New Roman"/>
                        </a:defRPr>
                      </a:pPr>
                      <a:r>
                        <a:t>Telemetry Rate</a:t>
                      </a:r>
                    </a:p>
                  </a:txBody>
                  <a:tcPr anchor="ctr">
                    <a:solidFill>
                      <a:srgbClr val="1F497D"/>
                    </a:solidFill>
                  </a:tcPr>
                </a:tc>
                <a:tc>
                  <a:txBody>
                    <a:bodyPr/>
                    <a:lstStyle/>
                    <a:p>
                      <a:pPr algn="ctr">
                        <a:defRPr sz="850" b="1">
                          <a:solidFill>
                            <a:srgbClr val="FFFFFF"/>
                          </a:solidFill>
                          <a:latin typeface="Times New Roman"/>
                        </a:defRPr>
                      </a:pPr>
                      <a:r>
                        <a:t>Adaptive Enforcement Action</a:t>
                      </a:r>
                    </a:p>
                  </a:txBody>
                  <a:tcPr anchor="ctr">
                    <a:solidFill>
                      <a:srgbClr val="1F497D"/>
                    </a:solidFill>
                  </a:tcPr>
                </a:tc>
              </a:tr>
              <a:tr h="338328">
                <a:tc>
                  <a:txBody>
                    <a:bodyPr/>
                    <a:lstStyle/>
                    <a:p>
                      <a:pPr algn="ctr">
                        <a:defRPr sz="800" b="1">
                          <a:solidFill>
                            <a:srgbClr val="16A34A"/>
                          </a:solidFill>
                          <a:latin typeface="Times New Roman"/>
                        </a:defRPr>
                      </a:pPr>
                      <a:r>
                        <a:t>TRUSTED</a:t>
                      </a:r>
                    </a:p>
                  </a:txBody>
                  <a:tcPr anchor="ctr">
                    <a:solidFill>
                      <a:srgbClr val="F0FDF4"/>
                    </a:solidFill>
                  </a:tcPr>
                </a:tc>
                <a:tc>
                  <a:txBody>
                    <a:bodyPr/>
                    <a:lstStyle/>
                    <a:p>
                      <a:pPr algn="ctr">
                        <a:defRPr sz="800">
                          <a:solidFill>
                            <a:srgbClr val="1E293B"/>
                          </a:solidFill>
                          <a:latin typeface="Times New Roman"/>
                        </a:defRPr>
                      </a:pPr>
                      <a:r>
                        <a:t>T &gt;= 0.80</a:t>
                      </a:r>
                    </a:p>
                  </a:txBody>
                  <a:tcPr anchor="ctr">
                    <a:solidFill>
                      <a:srgbClr val="F0FDF4"/>
                    </a:solidFill>
                  </a:tcPr>
                </a:tc>
                <a:tc>
                  <a:txBody>
                    <a:bodyPr/>
                    <a:lstStyle/>
                    <a:p>
                      <a:pPr algn="l">
                        <a:defRPr sz="800">
                          <a:solidFill>
                            <a:srgbClr val="1E293B"/>
                          </a:solidFill>
                          <a:latin typeface="Times New Roman"/>
                        </a:defRPr>
                      </a:pPr>
                      <a:r>
                        <a:t>Full collaboration, cross-domain workflows</a:t>
                      </a:r>
                    </a:p>
                  </a:txBody>
                  <a:tcPr anchor="ctr">
                    <a:solidFill>
                      <a:srgbClr val="F0FDF4"/>
                    </a:solidFill>
                  </a:tcPr>
                </a:tc>
                <a:tc>
                  <a:txBody>
                    <a:bodyPr/>
                    <a:lstStyle/>
                    <a:p>
                      <a:pPr algn="ctr">
                        <a:defRPr sz="800">
                          <a:solidFill>
                            <a:srgbClr val="1E293B"/>
                          </a:solidFill>
                          <a:latin typeface="Times New Roman"/>
                        </a:defRPr>
                      </a:pPr>
                      <a:r>
                        <a:t>100 req/min</a:t>
                      </a:r>
                    </a:p>
                  </a:txBody>
                  <a:tcPr anchor="ctr">
                    <a:solidFill>
                      <a:srgbClr val="F0FDF4"/>
                    </a:solidFill>
                  </a:tcPr>
                </a:tc>
                <a:tc>
                  <a:txBody>
                    <a:bodyPr/>
                    <a:lstStyle/>
                    <a:p>
                      <a:pPr algn="ctr">
                        <a:defRPr sz="800">
                          <a:solidFill>
                            <a:srgbClr val="1E293B"/>
                          </a:solidFill>
                          <a:latin typeface="Times New Roman"/>
                        </a:defRPr>
                      </a:pPr>
                      <a:r>
                        <a:t>Standard (60s)</a:t>
                      </a:r>
                    </a:p>
                  </a:txBody>
                  <a:tcPr anchor="ctr">
                    <a:solidFill>
                      <a:srgbClr val="F0FDF4"/>
                    </a:solidFill>
                  </a:tcPr>
                </a:tc>
                <a:tc>
                  <a:txBody>
                    <a:bodyPr/>
                    <a:lstStyle/>
                    <a:p>
                      <a:pPr algn="l">
                        <a:defRPr sz="800">
                          <a:solidFill>
                            <a:srgbClr val="1E293B"/>
                          </a:solidFill>
                          <a:latin typeface="Times New Roman"/>
                        </a:defRPr>
                      </a:pPr>
                      <a:r>
                        <a:t>Unrestricted autonomous execution</a:t>
                      </a:r>
                    </a:p>
                  </a:txBody>
                  <a:tcPr anchor="ctr">
                    <a:solidFill>
                      <a:srgbClr val="F0FDF4"/>
                    </a:solidFill>
                  </a:tcPr>
                </a:tc>
              </a:tr>
              <a:tr h="338328">
                <a:tc>
                  <a:txBody>
                    <a:bodyPr/>
                    <a:lstStyle/>
                    <a:p>
                      <a:pPr algn="ctr">
                        <a:defRPr sz="800" b="1">
                          <a:solidFill>
                            <a:srgbClr val="D97706"/>
                          </a:solidFill>
                          <a:latin typeface="Times New Roman"/>
                        </a:defRPr>
                      </a:pPr>
                      <a:r>
                        <a:t>SUSPICIOUS</a:t>
                      </a:r>
                    </a:p>
                  </a:txBody>
                  <a:tcPr anchor="ctr">
                    <a:solidFill>
                      <a:srgbClr val="FEF3C7"/>
                    </a:solidFill>
                  </a:tcPr>
                </a:tc>
                <a:tc>
                  <a:txBody>
                    <a:bodyPr/>
                    <a:lstStyle/>
                    <a:p>
                      <a:pPr algn="ctr">
                        <a:defRPr sz="800">
                          <a:solidFill>
                            <a:srgbClr val="1E293B"/>
                          </a:solidFill>
                          <a:latin typeface="Times New Roman"/>
                        </a:defRPr>
                      </a:pPr>
                      <a:r>
                        <a:t>0.50 &lt;= T &lt; 0.80</a:t>
                      </a:r>
                    </a:p>
                  </a:txBody>
                  <a:tcPr anchor="ctr">
                    <a:solidFill>
                      <a:srgbClr val="FEF3C7"/>
                    </a:solidFill>
                  </a:tcPr>
                </a:tc>
                <a:tc>
                  <a:txBody>
                    <a:bodyPr/>
                    <a:lstStyle/>
                    <a:p>
                      <a:pPr algn="l">
                        <a:defRPr sz="800">
                          <a:solidFill>
                            <a:srgbClr val="1E293B"/>
                          </a:solidFill>
                          <a:latin typeface="Times New Roman"/>
                        </a:defRPr>
                      </a:pPr>
                      <a:r>
                        <a:t>Low-risk &amp; read-only tasks; no privileged ops</a:t>
                      </a:r>
                    </a:p>
                  </a:txBody>
                  <a:tcPr anchor="ctr">
                    <a:solidFill>
                      <a:srgbClr val="FEF3C7"/>
                    </a:solidFill>
                  </a:tcPr>
                </a:tc>
                <a:tc>
                  <a:txBody>
                    <a:bodyPr/>
                    <a:lstStyle/>
                    <a:p>
                      <a:pPr algn="ctr">
                        <a:defRPr sz="800">
                          <a:solidFill>
                            <a:srgbClr val="1E293B"/>
                          </a:solidFill>
                          <a:latin typeface="Times New Roman"/>
                        </a:defRPr>
                      </a:pPr>
                      <a:r>
                        <a:t>20 req/min</a:t>
                      </a:r>
                    </a:p>
                  </a:txBody>
                  <a:tcPr anchor="ctr">
                    <a:solidFill>
                      <a:srgbClr val="FEF3C7"/>
                    </a:solidFill>
                  </a:tcPr>
                </a:tc>
                <a:tc>
                  <a:txBody>
                    <a:bodyPr/>
                    <a:lstStyle/>
                    <a:p>
                      <a:pPr algn="ctr">
                        <a:defRPr sz="800">
                          <a:solidFill>
                            <a:srgbClr val="1E293B"/>
                          </a:solidFill>
                          <a:latin typeface="Times New Roman"/>
                        </a:defRPr>
                      </a:pPr>
                      <a:r>
                        <a:t>High-Freq (10s)</a:t>
                      </a:r>
                    </a:p>
                  </a:txBody>
                  <a:tcPr anchor="ctr">
                    <a:solidFill>
                      <a:srgbClr val="FEF3C7"/>
                    </a:solidFill>
                  </a:tcPr>
                </a:tc>
                <a:tc>
                  <a:txBody>
                    <a:bodyPr/>
                    <a:lstStyle/>
                    <a:p>
                      <a:pPr algn="l">
                        <a:defRPr sz="800">
                          <a:solidFill>
                            <a:srgbClr val="1E293B"/>
                          </a:solidFill>
                          <a:latin typeface="Times New Roman"/>
                        </a:defRPr>
                      </a:pPr>
                      <a:r>
                        <a:t>Heightened scrutiny, warning alerts logged</a:t>
                      </a:r>
                    </a:p>
                  </a:txBody>
                  <a:tcPr anchor="ctr">
                    <a:solidFill>
                      <a:srgbClr val="FEF3C7"/>
                    </a:solidFill>
                  </a:tcPr>
                </a:tc>
              </a:tr>
              <a:tr h="338328">
                <a:tc>
                  <a:txBody>
                    <a:bodyPr/>
                    <a:lstStyle/>
                    <a:p>
                      <a:pPr algn="ctr">
                        <a:defRPr sz="800" b="1">
                          <a:solidFill>
                            <a:srgbClr val="DC2626"/>
                          </a:solidFill>
                          <a:latin typeface="Times New Roman"/>
                        </a:defRPr>
                      </a:pPr>
                      <a:r>
                        <a:t>QUARANTINED</a:t>
                      </a:r>
                    </a:p>
                  </a:txBody>
                  <a:tcPr anchor="ctr">
                    <a:solidFill>
                      <a:srgbClr val="FEF2F2"/>
                    </a:solidFill>
                  </a:tcPr>
                </a:tc>
                <a:tc>
                  <a:txBody>
                    <a:bodyPr/>
                    <a:lstStyle/>
                    <a:p>
                      <a:pPr algn="ctr">
                        <a:defRPr sz="800">
                          <a:solidFill>
                            <a:srgbClr val="1E293B"/>
                          </a:solidFill>
                          <a:latin typeface="Times New Roman"/>
                        </a:defRPr>
                      </a:pPr>
                      <a:r>
                        <a:t>T &lt; 0.50</a:t>
                      </a:r>
                    </a:p>
                  </a:txBody>
                  <a:tcPr anchor="ctr">
                    <a:solidFill>
                      <a:srgbClr val="FEF2F2"/>
                    </a:solidFill>
                  </a:tcPr>
                </a:tc>
                <a:tc>
                  <a:txBody>
                    <a:bodyPr/>
                    <a:lstStyle/>
                    <a:p>
                      <a:pPr algn="l">
                        <a:defRPr sz="800">
                          <a:solidFill>
                            <a:srgbClr val="1E293B"/>
                          </a:solidFill>
                          <a:latin typeface="Times New Roman"/>
                        </a:defRPr>
                      </a:pPr>
                      <a:r>
                        <a:t>Zero execution; sandbox isolation only</a:t>
                      </a:r>
                    </a:p>
                  </a:txBody>
                  <a:tcPr anchor="ctr">
                    <a:solidFill>
                      <a:srgbClr val="FEF2F2"/>
                    </a:solidFill>
                  </a:tcPr>
                </a:tc>
                <a:tc>
                  <a:txBody>
                    <a:bodyPr/>
                    <a:lstStyle/>
                    <a:p>
                      <a:pPr algn="ctr">
                        <a:defRPr sz="800">
                          <a:solidFill>
                            <a:srgbClr val="1E293B"/>
                          </a:solidFill>
                          <a:latin typeface="Times New Roman"/>
                        </a:defRPr>
                      </a:pPr>
                      <a:r>
                        <a:t>0 req/min (blocked)</a:t>
                      </a:r>
                    </a:p>
                  </a:txBody>
                  <a:tcPr anchor="ctr">
                    <a:solidFill>
                      <a:srgbClr val="FEF2F2"/>
                    </a:solidFill>
                  </a:tcPr>
                </a:tc>
                <a:tc>
                  <a:txBody>
                    <a:bodyPr/>
                    <a:lstStyle/>
                    <a:p>
                      <a:pPr algn="ctr">
                        <a:defRPr sz="800">
                          <a:solidFill>
                            <a:srgbClr val="1E293B"/>
                          </a:solidFill>
                          <a:latin typeface="Times New Roman"/>
                        </a:defRPr>
                      </a:pPr>
                      <a:r>
                        <a:t>Continuous probe</a:t>
                      </a:r>
                    </a:p>
                  </a:txBody>
                  <a:tcPr anchor="ctr">
                    <a:solidFill>
                      <a:srgbClr val="FEF2F2"/>
                    </a:solidFill>
                  </a:tcPr>
                </a:tc>
                <a:tc>
                  <a:txBody>
                    <a:bodyPr/>
                    <a:lstStyle/>
                    <a:p>
                      <a:pPr algn="l">
                        <a:defRPr sz="800">
                          <a:solidFill>
                            <a:srgbClr val="1E293B"/>
                          </a:solidFill>
                          <a:latin typeface="Times New Roman"/>
                        </a:defRPr>
                      </a:pPr>
                      <a:r>
                        <a:t>Immediate session termination &amp; alert</a:t>
                      </a:r>
                    </a:p>
                  </a:txBody>
                  <a:tcPr anchor="ctr">
                    <a:solidFill>
                      <a:srgbClr val="FEF2F2"/>
                    </a:solidFill>
                  </a:tcPr>
                </a:tc>
              </a:tr>
              <a:tr h="338328">
                <a:tc>
                  <a:txBody>
                    <a:bodyPr/>
                    <a:lstStyle/>
                    <a:p>
                      <a:pPr algn="ctr">
                        <a:defRPr sz="800" b="1">
                          <a:solidFill>
                            <a:srgbClr val="475569"/>
                          </a:solidFill>
                          <a:latin typeface="Times New Roman"/>
                        </a:defRPr>
                      </a:pPr>
                      <a:r>
                        <a:t>REVOKED</a:t>
                      </a:r>
                    </a:p>
                  </a:txBody>
                  <a:tcPr anchor="ctr">
                    <a:solidFill>
                      <a:srgbClr val="F1F5F9"/>
                    </a:solidFill>
                  </a:tcPr>
                </a:tc>
                <a:tc>
                  <a:txBody>
                    <a:bodyPr/>
                    <a:lstStyle/>
                    <a:p>
                      <a:pPr algn="ctr">
                        <a:defRPr sz="800">
                          <a:solidFill>
                            <a:srgbClr val="1E293B"/>
                          </a:solidFill>
                          <a:latin typeface="Times New Roman"/>
                        </a:defRPr>
                      </a:pPr>
                      <a:r>
                        <a:t>Manual Override</a:t>
                      </a:r>
                    </a:p>
                  </a:txBody>
                  <a:tcPr anchor="ctr">
                    <a:solidFill>
                      <a:srgbClr val="F1F5F9"/>
                    </a:solidFill>
                  </a:tcPr>
                </a:tc>
                <a:tc>
                  <a:txBody>
                    <a:bodyPr/>
                    <a:lstStyle/>
                    <a:p>
                      <a:pPr algn="l">
                        <a:defRPr sz="800">
                          <a:solidFill>
                            <a:srgbClr val="1E293B"/>
                          </a:solidFill>
                          <a:latin typeface="Times New Roman"/>
                        </a:defRPr>
                      </a:pPr>
                      <a:r>
                        <a:t>Complete access termination &amp; blacklist</a:t>
                      </a:r>
                    </a:p>
                  </a:txBody>
                  <a:tcPr anchor="ctr">
                    <a:solidFill>
                      <a:srgbClr val="F1F5F9"/>
                    </a:solidFill>
                  </a:tcPr>
                </a:tc>
                <a:tc>
                  <a:txBody>
                    <a:bodyPr/>
                    <a:lstStyle/>
                    <a:p>
                      <a:pPr algn="ctr">
                        <a:defRPr sz="800">
                          <a:solidFill>
                            <a:srgbClr val="1E293B"/>
                          </a:solidFill>
                          <a:latin typeface="Times New Roman"/>
                        </a:defRPr>
                      </a:pPr>
                      <a:r>
                        <a:t>0 req/min (blocked)</a:t>
                      </a:r>
                    </a:p>
                  </a:txBody>
                  <a:tcPr anchor="ctr">
                    <a:solidFill>
                      <a:srgbClr val="F1F5F9"/>
                    </a:solidFill>
                  </a:tcPr>
                </a:tc>
                <a:tc>
                  <a:txBody>
                    <a:bodyPr/>
                    <a:lstStyle/>
                    <a:p>
                      <a:pPr algn="ctr">
                        <a:defRPr sz="800">
                          <a:solidFill>
                            <a:srgbClr val="1E293B"/>
                          </a:solidFill>
                          <a:latin typeface="Times New Roman"/>
                        </a:defRPr>
                      </a:pPr>
                      <a:r>
                        <a:t>Blacklisted</a:t>
                      </a:r>
                    </a:p>
                  </a:txBody>
                  <a:tcPr anchor="ctr">
                    <a:solidFill>
                      <a:srgbClr val="F1F5F9"/>
                    </a:solidFill>
                  </a:tcPr>
                </a:tc>
                <a:tc>
                  <a:txBody>
                    <a:bodyPr/>
                    <a:lstStyle/>
                    <a:p>
                      <a:pPr algn="l">
                        <a:defRPr sz="800">
                          <a:solidFill>
                            <a:srgbClr val="1E293B"/>
                          </a:solidFill>
                          <a:latin typeface="Times New Roman"/>
                        </a:defRPr>
                      </a:pPr>
                      <a:r>
                        <a:t>Permanent credential revocation &amp; block</a:t>
                      </a:r>
                    </a:p>
                  </a:txBody>
                  <a:tcPr anchor="ctr">
                    <a:solidFill>
                      <a:srgbClr val="F1F5F9"/>
                    </a:solidFill>
                  </a:tcPr>
                </a:tc>
              </a:tr>
            </a:tbl>
          </a:graphicData>
        </a:graphic>
      </p:graphicFrame>
      <p:sp>
        <p:nvSpPr>
          <p:cNvPr id="8" name="Rounded Rectangle 7"/>
          <p:cNvSpPr/>
          <p:nvPr/>
        </p:nvSpPr>
        <p:spPr>
          <a:xfrm>
            <a:off x="457200" y="4535424"/>
            <a:ext cx="4005072" cy="1719072"/>
          </a:xfrm>
          <a:prstGeom prst="roundRect">
            <a:avLst/>
          </a:prstGeom>
          <a:solidFill>
            <a:srgbClr val="F8FAFC"/>
          </a:solidFill>
          <a:ln w="15240">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spcAft>
                <a:spcPts val="200"/>
              </a:spcAft>
              <a:defRPr sz="1000" b="1">
                <a:solidFill>
                  <a:srgbClr val="1F497D"/>
                </a:solidFill>
                <a:latin typeface="Times New Roman"/>
              </a:defRPr>
            </a:pPr>
            <a:r>
              <a:t>3. Verified Test Suite Breakdown (80 / 80 Passed)</a:t>
            </a:r>
          </a:p>
          <a:p>
            <a:pPr>
              <a:spcAft>
                <a:spcPts val="100"/>
              </a:spcAft>
              <a:defRPr sz="740">
                <a:solidFill>
                  <a:srgbClr val="1E293B"/>
                </a:solidFill>
                <a:latin typeface="Times New Roman"/>
              </a:defRPr>
            </a:pPr>
            <a:r>
              <a:t>• Cryptographic Identity (DID &amp; Ed25519): 11 tests passed (keypair, multicodec).</a:t>
            </a:r>
          </a:p>
          <a:p>
            <a:pPr>
              <a:spcAft>
                <a:spcPts val="100"/>
              </a:spcAft>
              <a:defRPr sz="740">
                <a:solidFill>
                  <a:srgbClr val="1E293B"/>
                </a:solidFill>
                <a:latin typeface="Times New Roman"/>
              </a:defRPr>
            </a:pPr>
            <a:r>
              <a:t>• Verifiable Credentials (VC issuance &amp; verification): 12 tests passed (SHA-256).</a:t>
            </a:r>
          </a:p>
          <a:p>
            <a:pPr>
              <a:spcAft>
                <a:spcPts val="100"/>
              </a:spcAft>
              <a:defRPr sz="740">
                <a:solidFill>
                  <a:srgbClr val="1E293B"/>
                </a:solidFill>
                <a:latin typeface="Times New Roman"/>
              </a:defRPr>
            </a:pPr>
            <a:r>
              <a:t>• Trust Intelligence Engine &amp; EMA transitions: 18 tests passed (numerical bounds).</a:t>
            </a:r>
          </a:p>
          <a:p>
            <a:pPr>
              <a:spcAft>
                <a:spcPts val="100"/>
              </a:spcAft>
              <a:defRPr sz="740">
                <a:solidFill>
                  <a:srgbClr val="1E293B"/>
                </a:solidFill>
                <a:latin typeface="Times New Roman"/>
              </a:defRPr>
            </a:pPr>
            <a:r>
              <a:t>• Adaptive Policy Gateway &amp; Lockouts: 14 tests passed (rate limits, 423 error).</a:t>
            </a:r>
          </a:p>
          <a:p>
            <a:pPr>
              <a:spcAft>
                <a:spcPts val="100"/>
              </a:spcAft>
              <a:defRPr sz="740">
                <a:solidFill>
                  <a:srgbClr val="1E293B"/>
                </a:solidFill>
                <a:latin typeface="Times New Roman"/>
              </a:defRPr>
            </a:pPr>
            <a:r>
              <a:t>• Discovery &amp; Explainable Matching: 11 tests passed (MatchScore formulas).</a:t>
            </a:r>
          </a:p>
          <a:p>
            <a:pPr>
              <a:spcAft>
                <a:spcPts val="100"/>
              </a:spcAft>
              <a:defRPr sz="740">
                <a:solidFill>
                  <a:srgbClr val="1E293B"/>
                </a:solidFill>
                <a:latin typeface="Times New Roman"/>
              </a:defRPr>
            </a:pPr>
            <a:r>
              <a:t>• Collaboration Sessions &amp; Workflows: 8 tests passed (lifecycle &amp; telemetry aborts).</a:t>
            </a:r>
          </a:p>
          <a:p>
            <a:pPr>
              <a:spcAft>
                <a:spcPts val="100"/>
              </a:spcAft>
              <a:defRPr sz="740">
                <a:solidFill>
                  <a:srgbClr val="1E293B"/>
                </a:solidFill>
                <a:latin typeface="Times New Roman"/>
              </a:defRPr>
            </a:pPr>
            <a:r>
              <a:t>• Human RBAC &amp; JWT Security: 6 tests passed (Argon2id, refresh rotation).</a:t>
            </a:r>
          </a:p>
        </p:txBody>
      </p:sp>
      <p:sp>
        <p:nvSpPr>
          <p:cNvPr id="9" name="Rounded Rectangle 8"/>
          <p:cNvSpPr/>
          <p:nvPr/>
        </p:nvSpPr>
        <p:spPr>
          <a:xfrm>
            <a:off x="4681728" y="4535424"/>
            <a:ext cx="4005072" cy="1719072"/>
          </a:xfrm>
          <a:prstGeom prst="roundRect">
            <a:avLst/>
          </a:prstGeom>
          <a:solidFill>
            <a:srgbClr val="F8FAFC"/>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54864"/>
          <a:lstStyle/>
          <a:p>
            <a:pPr algn="ctr">
              <a:spcAft>
                <a:spcPts val="200"/>
              </a:spcAft>
              <a:defRPr sz="1000" b="1">
                <a:solidFill>
                  <a:srgbClr val="15803D"/>
                </a:solidFill>
                <a:latin typeface="Times New Roman"/>
              </a:defRPr>
            </a:pPr>
            <a:r>
              <a:t>4. Key Analytical Insights &amp; System Observations</a:t>
            </a:r>
          </a:p>
          <a:p>
            <a:pPr>
              <a:spcAft>
                <a:spcPts val="100"/>
              </a:spcAft>
              <a:defRPr sz="740">
                <a:solidFill>
                  <a:srgbClr val="1E293B"/>
                </a:solidFill>
                <a:latin typeface="Times New Roman"/>
              </a:defRPr>
            </a:pPr>
            <a:r>
              <a:t>• Hysteresis Prevents State Flapping: The historical weight (lambda = 0.70) dampens transient network blips, avoiding oscillation between TRUSTED and SUSPICIOUS.</a:t>
            </a:r>
          </a:p>
          <a:p>
            <a:pPr>
              <a:spcAft>
                <a:spcPts val="100"/>
              </a:spcAft>
              <a:defRPr sz="740">
                <a:solidFill>
                  <a:srgbClr val="1E293B"/>
                </a:solidFill>
                <a:latin typeface="Times New Roman"/>
              </a:defRPr>
            </a:pPr>
            <a:r>
              <a:t>• Fail-Closed Quarantine Containment: When Ti(t) drops below 0.50, active multi-agent sessions terminate immediately, preventing lateral traversal of compromised agents.</a:t>
            </a:r>
          </a:p>
          <a:p>
            <a:pPr>
              <a:spcAft>
                <a:spcPts val="100"/>
              </a:spcAft>
              <a:defRPr sz="740">
                <a:solidFill>
                  <a:srgbClr val="1E293B"/>
                </a:solidFill>
                <a:latin typeface="Times New Roman"/>
              </a:defRPr>
            </a:pPr>
            <a:r>
              <a:t>• Explainable Governance Over Black Boxes: Providing granular exclusion rationales in discovery and matching prevents opaque silent delegation failures.</a:t>
            </a:r>
          </a:p>
          <a:p>
            <a:pPr>
              <a:spcAft>
                <a:spcPts val="100"/>
              </a:spcAft>
              <a:defRPr sz="740">
                <a:solidFill>
                  <a:srgbClr val="1E293B"/>
                </a:solidFill>
                <a:latin typeface="Times New Roman"/>
              </a:defRPr>
            </a:pPr>
            <a:r>
              <a:t>• Lightweight Determinism: Zero-trust enforcement adds negligible computational overhead (&lt;15ms per invocation in local SQLite WAL testing).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02920"/>
          </a:xfrm>
          <a:prstGeom prst="rect">
            <a:avLst/>
          </a:prstGeom>
          <a:noFill/>
        </p:spPr>
        <p:txBody>
          <a:bodyPr wrap="square" lIns="0" tIns="0" rIns="0" bIns="0">
            <a:spAutoFit/>
          </a:bodyPr>
          <a:lstStyle/>
          <a:p>
            <a:pPr>
              <a:defRPr sz="2200" b="1">
                <a:solidFill>
                  <a:srgbClr val="1F497D"/>
                </a:solidFill>
                <a:latin typeface="Times New Roman"/>
              </a:defRPr>
            </a:pPr>
            <a:r>
              <a:t>Project Outcomes &amp; Conclusion</a:t>
            </a:r>
          </a:p>
        </p:txBody>
      </p:sp>
      <p:sp>
        <p:nvSpPr>
          <p:cNvPr id="3" name="TextBox 2"/>
          <p:cNvSpPr txBox="1"/>
          <p:nvPr/>
        </p:nvSpPr>
        <p:spPr>
          <a:xfrm>
            <a:off x="457200" y="804672"/>
            <a:ext cx="8229600" cy="256032"/>
          </a:xfrm>
          <a:prstGeom prst="rect">
            <a:avLst/>
          </a:prstGeom>
          <a:noFill/>
        </p:spPr>
        <p:txBody>
          <a:bodyPr wrap="square" lIns="0" tIns="0" rIns="0" bIns="0">
            <a:spAutoFit/>
          </a:bodyPr>
          <a:lstStyle/>
          <a:p>
            <a:pPr>
              <a:defRPr sz="1000" i="1">
                <a:solidFill>
                  <a:srgbClr val="64748B"/>
                </a:solidFill>
                <a:latin typeface="Times New Roman"/>
              </a:defRPr>
            </a:pPr>
            <a:r>
              <a:t>Capstone Deliverables • Research Contributions • Limitations &amp; Future Horizons</a:t>
            </a:r>
          </a:p>
        </p:txBody>
      </p:sp>
      <p:sp>
        <p:nvSpPr>
          <p:cNvPr id="4" name="TextBox 3"/>
          <p:cNvSpPr txBox="1"/>
          <p:nvPr/>
        </p:nvSpPr>
        <p:spPr>
          <a:xfrm>
            <a:off x="6547104" y="6355080"/>
            <a:ext cx="2130552" cy="320040"/>
          </a:xfrm>
          <a:prstGeom prst="rect">
            <a:avLst/>
          </a:prstGeom>
          <a:noFill/>
        </p:spPr>
        <p:txBody>
          <a:bodyPr wrap="none" lIns="0" tIns="0" rIns="0" bIns="0">
            <a:spAutoFit/>
          </a:bodyPr>
          <a:lstStyle/>
          <a:p>
            <a:pPr algn="r">
              <a:defRPr sz="1200">
                <a:solidFill>
                  <a:srgbClr val="64748B"/>
                </a:solidFill>
                <a:latin typeface="Times New Roman"/>
              </a:defRPr>
            </a:pPr>
            <a:r>
              <a:t>28</a:t>
            </a:r>
          </a:p>
        </p:txBody>
      </p:sp>
      <p:sp>
        <p:nvSpPr>
          <p:cNvPr id="5" name="Rounded Rectangle 4"/>
          <p:cNvSpPr/>
          <p:nvPr/>
        </p:nvSpPr>
        <p:spPr>
          <a:xfrm>
            <a:off x="457200" y="1115568"/>
            <a:ext cx="4005072" cy="1965960"/>
          </a:xfrm>
          <a:prstGeom prst="roundRect">
            <a:avLst/>
          </a:prstGeom>
          <a:solidFill>
            <a:srgbClr val="F8FAFC"/>
          </a:solidFill>
          <a:ln w="15240">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91440"/>
          <a:lstStyle/>
          <a:p>
            <a:pPr algn="ctr">
              <a:spcAft>
                <a:spcPts val="400"/>
              </a:spcAft>
              <a:defRPr sz="1100" b="1">
                <a:solidFill>
                  <a:srgbClr val="1F497D"/>
                </a:solidFill>
                <a:latin typeface="Times New Roman"/>
              </a:defRPr>
            </a:pPr>
            <a:r>
              <a:t>A. Key Implemented Outcomes</a:t>
            </a:r>
          </a:p>
          <a:p>
            <a:pPr>
              <a:spcAft>
                <a:spcPts val="300"/>
              </a:spcAft>
              <a:defRPr sz="850">
                <a:latin typeface="Times New Roman"/>
              </a:defRPr>
            </a:pPr>
            <a:r>
              <a:rPr b="1">
                <a:solidFill>
                  <a:srgbClr val="1F497D"/>
                </a:solidFill>
              </a:rPr>
              <a:t>• </a:t>
            </a:r>
            <a:r>
              <a:rPr b="1">
                <a:solidFill>
                  <a:srgbClr val="1E293B"/>
                </a:solidFill>
              </a:rPr>
              <a:t>Cryptographic Zero-Trust Identity: </a:t>
            </a:r>
            <a:r>
              <a:rPr>
                <a:solidFill>
                  <a:srgbClr val="1E293B"/>
                </a:solidFill>
              </a:rPr>
              <a:t>Eliminated static API keys using W3C DID (did:key) and Ed25519 asymmetric signatures.</a:t>
            </a:r>
          </a:p>
          <a:p>
            <a:pPr>
              <a:spcAft>
                <a:spcPts val="300"/>
              </a:spcAft>
              <a:defRPr sz="850">
                <a:latin typeface="Times New Roman"/>
              </a:defRPr>
            </a:pPr>
            <a:r>
              <a:rPr b="1">
                <a:solidFill>
                  <a:srgbClr val="1F497D"/>
                </a:solidFill>
              </a:rPr>
              <a:t>• </a:t>
            </a:r>
            <a:r>
              <a:rPr b="1">
                <a:solidFill>
                  <a:srgbClr val="1E293B"/>
                </a:solidFill>
              </a:rPr>
              <a:t>Dynamic Behavioral Intelligence: </a:t>
            </a:r>
            <a:r>
              <a:rPr>
                <a:solidFill>
                  <a:srgbClr val="1E293B"/>
                </a:solidFill>
              </a:rPr>
              <a:t>Continuous multi-metric telemetry (Si, Ci, Li) dynamically modulating trust score via EMA.</a:t>
            </a:r>
          </a:p>
          <a:p>
            <a:pPr>
              <a:spcAft>
                <a:spcPts val="300"/>
              </a:spcAft>
              <a:defRPr sz="850">
                <a:latin typeface="Times New Roman"/>
              </a:defRPr>
            </a:pPr>
            <a:r>
              <a:rPr b="1">
                <a:solidFill>
                  <a:srgbClr val="1F497D"/>
                </a:solidFill>
              </a:rPr>
              <a:t>• </a:t>
            </a:r>
            <a:r>
              <a:rPr b="1">
                <a:solidFill>
                  <a:srgbClr val="1E293B"/>
                </a:solidFill>
              </a:rPr>
              <a:t>Graduated Adaptive Enforcement: </a:t>
            </a:r>
            <a:r>
              <a:rPr>
                <a:solidFill>
                  <a:srgbClr val="1E293B"/>
                </a:solidFill>
              </a:rPr>
              <a:t>Real-time policy gateway enforcing proportional access restrictions based on trust states.</a:t>
            </a:r>
          </a:p>
          <a:p>
            <a:pPr>
              <a:spcAft>
                <a:spcPts val="300"/>
              </a:spcAft>
              <a:defRPr sz="850">
                <a:latin typeface="Times New Roman"/>
              </a:defRPr>
            </a:pPr>
            <a:r>
              <a:rPr b="1">
                <a:solidFill>
                  <a:srgbClr val="1F497D"/>
                </a:solidFill>
              </a:rPr>
              <a:t>• </a:t>
            </a:r>
            <a:r>
              <a:rPr b="1">
                <a:solidFill>
                  <a:srgbClr val="1E293B"/>
                </a:solidFill>
              </a:rPr>
              <a:t>Explainable Discovery &amp; Matching: </a:t>
            </a:r>
            <a:r>
              <a:rPr>
                <a:solidFill>
                  <a:srgbClr val="1E293B"/>
                </a:solidFill>
              </a:rPr>
              <a:t>Two-phase pipeline with clear exclusion rationale and multi-objective ranking.</a:t>
            </a:r>
          </a:p>
          <a:p>
            <a:pPr>
              <a:spcAft>
                <a:spcPts val="300"/>
              </a:spcAft>
              <a:defRPr sz="850">
                <a:latin typeface="Times New Roman"/>
              </a:defRPr>
            </a:pPr>
            <a:r>
              <a:rPr b="1">
                <a:solidFill>
                  <a:srgbClr val="1F497D"/>
                </a:solidFill>
              </a:rPr>
              <a:t>• </a:t>
            </a:r>
            <a:r>
              <a:rPr b="1">
                <a:solidFill>
                  <a:srgbClr val="1E293B"/>
                </a:solidFill>
              </a:rPr>
              <a:t>Full SOC Visibility: </a:t>
            </a:r>
            <a:r>
              <a:rPr>
                <a:solidFill>
                  <a:srgbClr val="1E293B"/>
                </a:solidFill>
              </a:rPr>
              <a:t>Operational React/Vite dashboard with 13-table SQLite WAL audit ledger.</a:t>
            </a:r>
          </a:p>
        </p:txBody>
      </p:sp>
      <p:sp>
        <p:nvSpPr>
          <p:cNvPr id="6" name="Rounded Rectangle 5"/>
          <p:cNvSpPr/>
          <p:nvPr/>
        </p:nvSpPr>
        <p:spPr>
          <a:xfrm>
            <a:off x="4681728" y="1115568"/>
            <a:ext cx="4005072" cy="1965960"/>
          </a:xfrm>
          <a:prstGeom prst="roundRect">
            <a:avLst/>
          </a:prstGeom>
          <a:solidFill>
            <a:srgbClr val="EFF6FF"/>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91440"/>
          <a:lstStyle/>
          <a:p>
            <a:pPr algn="ctr">
              <a:spcAft>
                <a:spcPts val="400"/>
              </a:spcAft>
              <a:defRPr sz="1100" b="1">
                <a:solidFill>
                  <a:srgbClr val="1F497D"/>
                </a:solidFill>
                <a:latin typeface="Times New Roman"/>
              </a:defRPr>
            </a:pPr>
            <a:r>
              <a:t>B. Research &amp; Technical Contributions</a:t>
            </a:r>
          </a:p>
          <a:p>
            <a:pPr>
              <a:spcAft>
                <a:spcPts val="300"/>
              </a:spcAft>
              <a:defRPr sz="850">
                <a:latin typeface="Times New Roman"/>
              </a:defRPr>
            </a:pPr>
            <a:r>
              <a:rPr b="1">
                <a:solidFill>
                  <a:srgbClr val="1F497D"/>
                </a:solidFill>
              </a:rPr>
              <a:t>• </a:t>
            </a:r>
            <a:r>
              <a:rPr b="1">
                <a:solidFill>
                  <a:srgbClr val="1E293B"/>
                </a:solidFill>
              </a:rPr>
              <a:t>Beyond Static Authentication: </a:t>
            </a:r>
            <a:r>
              <a:rPr>
                <a:solidFill>
                  <a:srgbClr val="1E293B"/>
                </a:solidFill>
              </a:rPr>
              <a:t>Extended traditional SSI by coupling identity verification with continuous runtime behavioral evaluation.</a:t>
            </a:r>
          </a:p>
          <a:p>
            <a:pPr>
              <a:spcAft>
                <a:spcPts val="300"/>
              </a:spcAft>
              <a:defRPr sz="850">
                <a:latin typeface="Times New Roman"/>
              </a:defRPr>
            </a:pPr>
            <a:r>
              <a:rPr b="1">
                <a:solidFill>
                  <a:srgbClr val="1F497D"/>
                </a:solidFill>
              </a:rPr>
              <a:t>• </a:t>
            </a:r>
            <a:r>
              <a:rPr b="1">
                <a:solidFill>
                  <a:srgbClr val="1E293B"/>
                </a:solidFill>
              </a:rPr>
              <a:t>Deterministic Multi-Agent Security: </a:t>
            </a:r>
            <a:r>
              <a:rPr>
                <a:solidFill>
                  <a:srgbClr val="1E293B"/>
                </a:solidFill>
              </a:rPr>
              <a:t>Proved that zero-trust enforcement in autonomous multi-agent networks does not require heavy runtime overhead.</a:t>
            </a:r>
          </a:p>
          <a:p>
            <a:pPr>
              <a:spcAft>
                <a:spcPts val="300"/>
              </a:spcAft>
              <a:defRPr sz="850">
                <a:latin typeface="Times New Roman"/>
              </a:defRPr>
            </a:pPr>
            <a:r>
              <a:rPr b="1">
                <a:solidFill>
                  <a:srgbClr val="1F497D"/>
                </a:solidFill>
              </a:rPr>
              <a:t>• </a:t>
            </a:r>
            <a:r>
              <a:rPr b="1">
                <a:solidFill>
                  <a:srgbClr val="1E293B"/>
                </a:solidFill>
              </a:rPr>
              <a:t>Unified Forensic Auditability: </a:t>
            </a:r>
            <a:r>
              <a:rPr>
                <a:solidFill>
                  <a:srgbClr val="1E293B"/>
                </a:solidFill>
              </a:rPr>
              <a:t>Bridged human RBAC (Argon2id/JWT) with autonomous agent credentials in a single tamper-evident VDR schema.</a:t>
            </a:r>
          </a:p>
          <a:p>
            <a:pPr>
              <a:spcAft>
                <a:spcPts val="300"/>
              </a:spcAft>
              <a:defRPr sz="850">
                <a:latin typeface="Times New Roman"/>
              </a:defRPr>
            </a:pPr>
            <a:r>
              <a:rPr b="1">
                <a:solidFill>
                  <a:srgbClr val="1F497D"/>
                </a:solidFill>
              </a:rPr>
              <a:t>• </a:t>
            </a:r>
            <a:r>
              <a:rPr b="1">
                <a:solidFill>
                  <a:srgbClr val="1E293B"/>
                </a:solidFill>
              </a:rPr>
              <a:t>Empirical Defense Viability: </a:t>
            </a:r>
            <a:r>
              <a:rPr>
                <a:solidFill>
                  <a:srgbClr val="1E293B"/>
                </a:solidFill>
              </a:rPr>
              <a:t>Demonstrated that dynamic reputation dampening halts rogue agent escalation before cascading workflow contamination.</a:t>
            </a:r>
          </a:p>
        </p:txBody>
      </p:sp>
      <p:sp>
        <p:nvSpPr>
          <p:cNvPr id="7" name="Rounded Rectangle 6"/>
          <p:cNvSpPr/>
          <p:nvPr/>
        </p:nvSpPr>
        <p:spPr>
          <a:xfrm>
            <a:off x="457200" y="3182112"/>
            <a:ext cx="4005072" cy="1965960"/>
          </a:xfrm>
          <a:prstGeom prst="roundRect">
            <a:avLst/>
          </a:prstGeom>
          <a:solidFill>
            <a:srgbClr val="FEF2F2"/>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91440"/>
          <a:lstStyle/>
          <a:p>
            <a:pPr algn="ctr">
              <a:spcAft>
                <a:spcPts val="400"/>
              </a:spcAft>
              <a:defRPr sz="1100" b="1">
                <a:solidFill>
                  <a:srgbClr val="B91C1C"/>
                </a:solidFill>
                <a:latin typeface="Times New Roman"/>
              </a:defRPr>
            </a:pPr>
            <a:r>
              <a:t>C. Honest Architectural Limitations</a:t>
            </a:r>
          </a:p>
          <a:p>
            <a:pPr>
              <a:spcAft>
                <a:spcPts val="300"/>
              </a:spcAft>
              <a:defRPr sz="850">
                <a:latin typeface="Times New Roman"/>
              </a:defRPr>
            </a:pPr>
            <a:r>
              <a:rPr b="1">
                <a:solidFill>
                  <a:srgbClr val="B91C1C"/>
                </a:solidFill>
              </a:rPr>
              <a:t>• </a:t>
            </a:r>
            <a:r>
              <a:rPr b="1">
                <a:solidFill>
                  <a:srgbClr val="1E293B"/>
                </a:solidFill>
              </a:rPr>
              <a:t>Local SQLite VDR: </a:t>
            </a:r>
            <a:r>
              <a:rPr>
                <a:solidFill>
                  <a:srgbClr val="1E293B"/>
                </a:solidFill>
              </a:rPr>
              <a:t>Currently utilizes SQLite 3 in WAL mode rather than a distributed Byzantine-fault-tolerant blockchain (Fabric/Ethereum).</a:t>
            </a:r>
          </a:p>
          <a:p>
            <a:pPr>
              <a:spcAft>
                <a:spcPts val="300"/>
              </a:spcAft>
              <a:defRPr sz="850">
                <a:latin typeface="Times New Roman"/>
              </a:defRPr>
            </a:pPr>
            <a:r>
              <a:rPr b="1">
                <a:solidFill>
                  <a:srgbClr val="B91C1C"/>
                </a:solidFill>
              </a:rPr>
              <a:t>• </a:t>
            </a:r>
            <a:r>
              <a:rPr b="1">
                <a:solidFill>
                  <a:srgbClr val="1E293B"/>
                </a:solidFill>
              </a:rPr>
              <a:t>Workflow Execution: </a:t>
            </a:r>
            <a:r>
              <a:rPr>
                <a:solidFill>
                  <a:srgbClr val="1E293B"/>
                </a:solidFill>
              </a:rPr>
              <a:t>Multi-agent collaboration executes deterministic stateful pipeline orchestrations rather than distributed live LLM instances.</a:t>
            </a:r>
          </a:p>
          <a:p>
            <a:pPr>
              <a:spcAft>
                <a:spcPts val="300"/>
              </a:spcAft>
              <a:defRPr sz="850">
                <a:latin typeface="Times New Roman"/>
              </a:defRPr>
            </a:pPr>
            <a:r>
              <a:rPr b="1">
                <a:solidFill>
                  <a:srgbClr val="B91C1C"/>
                </a:solidFill>
              </a:rPr>
              <a:t>• </a:t>
            </a:r>
            <a:r>
              <a:rPr b="1">
                <a:solidFill>
                  <a:srgbClr val="1E293B"/>
                </a:solidFill>
              </a:rPr>
              <a:t>Single-Domain Scope: </a:t>
            </a:r>
            <a:r>
              <a:rPr>
                <a:solidFill>
                  <a:srgbClr val="1E293B"/>
                </a:solidFill>
              </a:rPr>
              <a:t>Validated on a centralized enterprise boundary without cross-organization trust federation.</a:t>
            </a:r>
          </a:p>
          <a:p>
            <a:pPr>
              <a:spcAft>
                <a:spcPts val="300"/>
              </a:spcAft>
              <a:defRPr sz="850">
                <a:latin typeface="Times New Roman"/>
              </a:defRPr>
            </a:pPr>
            <a:r>
              <a:rPr b="1">
                <a:solidFill>
                  <a:srgbClr val="B91C1C"/>
                </a:solidFill>
              </a:rPr>
              <a:t>• </a:t>
            </a:r>
            <a:r>
              <a:rPr b="1">
                <a:solidFill>
                  <a:srgbClr val="1E293B"/>
                </a:solidFill>
              </a:rPr>
              <a:t>Simulated Telemetry: </a:t>
            </a:r>
            <a:r>
              <a:rPr>
                <a:solidFill>
                  <a:srgbClr val="1E293B"/>
                </a:solidFill>
              </a:rPr>
              <a:t>Runtime tests execute deterministic workload simulations rather than adversarial black-box pen-testing.</a:t>
            </a:r>
          </a:p>
        </p:txBody>
      </p:sp>
      <p:sp>
        <p:nvSpPr>
          <p:cNvPr id="8" name="Rounded Rectangle 7"/>
          <p:cNvSpPr/>
          <p:nvPr/>
        </p:nvSpPr>
        <p:spPr>
          <a:xfrm>
            <a:off x="4681728" y="3182112"/>
            <a:ext cx="4005072" cy="1965960"/>
          </a:xfrm>
          <a:prstGeom prst="roundRect">
            <a:avLst/>
          </a:prstGeom>
          <a:solidFill>
            <a:srgbClr val="F0FDF4"/>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91440"/>
          <a:lstStyle/>
          <a:p>
            <a:pPr algn="ctr">
              <a:spcAft>
                <a:spcPts val="400"/>
              </a:spcAft>
              <a:defRPr sz="1100" b="1">
                <a:solidFill>
                  <a:srgbClr val="15803D"/>
                </a:solidFill>
                <a:latin typeface="Times New Roman"/>
              </a:defRPr>
            </a:pPr>
            <a:r>
              <a:t>D. Future Scope &amp; Roadmap</a:t>
            </a:r>
          </a:p>
          <a:p>
            <a:pPr>
              <a:spcAft>
                <a:spcPts val="300"/>
              </a:spcAft>
              <a:defRPr sz="850">
                <a:latin typeface="Times New Roman"/>
              </a:defRPr>
            </a:pPr>
            <a:r>
              <a:rPr b="1">
                <a:solidFill>
                  <a:srgbClr val="15803D"/>
                </a:solidFill>
              </a:rPr>
              <a:t>• </a:t>
            </a:r>
            <a:r>
              <a:rPr b="1">
                <a:solidFill>
                  <a:srgbClr val="1E293B"/>
                </a:solidFill>
              </a:rPr>
              <a:t>Decentralized Blockchain VDR: </a:t>
            </a:r>
            <a:r>
              <a:rPr>
                <a:solidFill>
                  <a:srgbClr val="1E293B"/>
                </a:solidFill>
              </a:rPr>
              <a:t>Migrating from SQLite WAL to Hyperledger Fabric / Ethereum L2 rollup for multi-tenant immutability.</a:t>
            </a:r>
          </a:p>
          <a:p>
            <a:pPr>
              <a:spcAft>
                <a:spcPts val="300"/>
              </a:spcAft>
              <a:defRPr sz="850">
                <a:latin typeface="Times New Roman"/>
              </a:defRPr>
            </a:pPr>
            <a:r>
              <a:rPr b="1">
                <a:solidFill>
                  <a:srgbClr val="15803D"/>
                </a:solidFill>
              </a:rPr>
              <a:t>• </a:t>
            </a:r>
            <a:r>
              <a:rPr b="1">
                <a:solidFill>
                  <a:srgbClr val="1E293B"/>
                </a:solidFill>
              </a:rPr>
              <a:t>Zero-Knowledge Proofs (ZKP): </a:t>
            </a:r>
            <a:r>
              <a:rPr>
                <a:solidFill>
                  <a:srgbClr val="1E293B"/>
                </a:solidFill>
              </a:rPr>
              <a:t>Integrating zk-SNARKs for selective credential disclosure without revealing proprietary agent weights.</a:t>
            </a:r>
          </a:p>
          <a:p>
            <a:pPr>
              <a:spcAft>
                <a:spcPts val="300"/>
              </a:spcAft>
              <a:defRPr sz="850">
                <a:latin typeface="Times New Roman"/>
              </a:defRPr>
            </a:pPr>
            <a:r>
              <a:rPr b="1">
                <a:solidFill>
                  <a:srgbClr val="15803D"/>
                </a:solidFill>
              </a:rPr>
              <a:t>• </a:t>
            </a:r>
            <a:r>
              <a:rPr b="1">
                <a:solidFill>
                  <a:srgbClr val="1E293B"/>
                </a:solidFill>
              </a:rPr>
              <a:t>Live LLM Integration: </a:t>
            </a:r>
            <a:r>
              <a:rPr>
                <a:solidFill>
                  <a:srgbClr val="1E293B"/>
                </a:solidFill>
              </a:rPr>
              <a:t>Embedding runtime inference agents (e.g. LangChain/AutoGPT) with live semantic anomaly detection.</a:t>
            </a:r>
          </a:p>
          <a:p>
            <a:pPr>
              <a:spcAft>
                <a:spcPts val="300"/>
              </a:spcAft>
              <a:defRPr sz="850">
                <a:latin typeface="Times New Roman"/>
              </a:defRPr>
            </a:pPr>
            <a:r>
              <a:rPr b="1">
                <a:solidFill>
                  <a:srgbClr val="15803D"/>
                </a:solidFill>
              </a:rPr>
              <a:t>• </a:t>
            </a:r>
            <a:r>
              <a:rPr b="1">
                <a:solidFill>
                  <a:srgbClr val="1E293B"/>
                </a:solidFill>
              </a:rPr>
              <a:t>Cross-Domain Federation: </a:t>
            </a:r>
            <a:r>
              <a:rPr>
                <a:solidFill>
                  <a:srgbClr val="1E293B"/>
                </a:solidFill>
              </a:rPr>
              <a:t>Establishing inter-organizational trust relay protocols across heterogeneous enterprise boundaries.</a:t>
            </a:r>
          </a:p>
        </p:txBody>
      </p:sp>
      <p:sp>
        <p:nvSpPr>
          <p:cNvPr id="9" name="Rectangle 8"/>
          <p:cNvSpPr/>
          <p:nvPr/>
        </p:nvSpPr>
        <p:spPr>
          <a:xfrm>
            <a:off x="457200" y="5230368"/>
            <a:ext cx="8229600" cy="1024128"/>
          </a:xfrm>
          <a:prstGeom prst="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73152" lIns="182880" rIns="182880"/>
          <a:lstStyle/>
          <a:p>
            <a:pPr algn="ctr">
              <a:spcAft>
                <a:spcPts val="300"/>
              </a:spcAft>
              <a:defRPr sz="1100" b="1">
                <a:solidFill>
                  <a:srgbClr val="38BDF8"/>
                </a:solidFill>
                <a:latin typeface="Times New Roman"/>
              </a:defRPr>
            </a:pPr>
            <a:r>
              <a:t>FINAL CAPSTONE DEFENSE CONCLUSION</a:t>
            </a:r>
          </a:p>
          <a:p>
            <a:pPr algn="ctr">
              <a:defRPr sz="950" i="1">
                <a:solidFill>
                  <a:srgbClr val="FFFFFF"/>
                </a:solidFill>
                <a:latin typeface="Times New Roman"/>
              </a:defRPr>
            </a:pPr>
            <a:r>
              <a:t>"TrustChain-AI demonstrates that secure autonomous multi-agent collaboration requires moving beyond one-time static authentication—establishing continuous, verifiable behavioral telemetry and adaptive authorization as foundational security primitives for next-generation AI ecosystems."</a:t>
            </a:r>
          </a:p>
        </p:txBody>
      </p:sp>
    </p:spTree>
  </p:cSld>
  <p:clrMapOvr>
    <a:masterClrMapping/>
  </p:clrMapOvr>
</p:sld>
</file>

<file path=ppt/theme/theme1.xml><?xml version="1.0" encoding="utf-8"?>
<a:theme xmlns:a="http://schemas.openxmlformats.org/drawingml/2006/main" name="nmims_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nmims_theme" id="{58A3D327-3F08-4A5C-A196-0BC1F0A58C4B}" vid="{E445658B-32F3-49D9-9F01-D0CF0C0E09C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nmims_theme</Template>
  <TotalTime>1718</TotalTime>
  <Words>2373</Words>
  <Application>Microsoft Office PowerPoint</Application>
  <PresentationFormat>On-screen Show (4:3)</PresentationFormat>
  <Paragraphs>256</Paragraphs>
  <Slides>27</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Noto Sans Symbols</vt:lpstr>
      <vt:lpstr>Times New Roman</vt:lpstr>
      <vt:lpstr>nmims_theme</vt:lpstr>
      <vt:lpstr>A  Presentation on “TrustChain-AI: A Decentralized Trust Intelligence Framework for Secure Autonomous AI Agent Collaboration” By  MANISH PATIL (E260) DURGESH AGRAWAL (E262) YASH GEHLOT(E237)  Under the Guidance of Dr. Suraj Patil</vt:lpstr>
      <vt:lpstr>Outline</vt:lpstr>
      <vt:lpstr>Progress Since Phase II</vt:lpstr>
      <vt:lpstr>PowerPoint Presentation</vt:lpstr>
      <vt:lpstr>PowerPoint Presentation</vt:lpstr>
      <vt:lpstr>PowerPoint Presentation</vt:lpstr>
      <vt:lpstr>PowerPoint Presentation</vt:lpstr>
      <vt:lpstr>PowerPoint Presentation</vt:lpstr>
      <vt:lpstr> System Architecture</vt:lpstr>
      <vt:lpstr>PowerPoint Presentation</vt:lpstr>
      <vt:lpstr>Decentralized Identity and Credential Lifecycle</vt:lpstr>
      <vt:lpstr>Core Algorithms</vt:lpstr>
      <vt:lpstr>Trust-State Transition Diagram</vt:lpstr>
      <vt:lpstr>Numerical Trust Calculation Example</vt:lpstr>
      <vt:lpstr>Adaptive Policy Enforcement and Access Control </vt:lpstr>
      <vt:lpstr>Agent Discovery</vt:lpstr>
      <vt:lpstr>Task-Driven Matching</vt:lpstr>
      <vt:lpstr>Multi-Agent Collaboration</vt:lpstr>
      <vt:lpstr>Verifiable Data Registry and Audit Trails </vt:lpstr>
      <vt:lpstr>SOC Portal and Investigation Drawer</vt:lpstr>
      <vt:lpstr>Implementation Status</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Presentation on “TITLE OF PROJECT”  By NAME OF STUDENT    Under the Guidance of NAME OF GUIDE</dc:title>
  <dc:creator>kunal</dc:creator>
  <cp:lastModifiedBy>Manish Patil</cp:lastModifiedBy>
  <cp:revision>59</cp:revision>
  <cp:lastPrinted>2026-10-30T12:45:24Z</cp:lastPrinted>
  <dcterms:created xsi:type="dcterms:W3CDTF">2006-08-16T00:00:00Z</dcterms:created>
  <dcterms:modified xsi:type="dcterms:W3CDTF">2026-10-30T12:46:39Z</dcterms:modified>
</cp:coreProperties>
</file>